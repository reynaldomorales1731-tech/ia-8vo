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63" r:id="rId9"/>
    <p:sldId id="264" r:id="rId10"/>
    <p:sldId id="265"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66" r:id="rId2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78B719-D9AD-6215-056B-B7CFBF156CF9}" v="22" dt="2026-03-26T18:42:45.2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26/03/2026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26/03/2026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26/03/2026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26/03/2026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dirty="0">
                <a:latin typeface="Arial"/>
                <a:cs typeface="Segoe UI"/>
              </a:rPr>
              <a:t>EJERCICIOS</a:t>
            </a:r>
          </a:p>
          <a:p>
            <a:pPr algn="ctr"/>
            <a:endParaRPr lang="en-US" sz="1400">
              <a:latin typeface="Arial"/>
              <a:cs typeface="Segoe UI"/>
            </a:endParaRPr>
          </a:p>
          <a:p>
            <a:pPr algn="ctr"/>
            <a:r>
              <a:rPr lang="es-ES" sz="1400" dirty="0">
                <a:latin typeface="Arial"/>
                <a:cs typeface="Segoe UI"/>
              </a:rPr>
              <a:t>INTELIGENCIA ARTIFICIAL</a:t>
            </a: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19 de marzo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49E78B0-4B54-2E5F-B083-9B9D68E386DC}"/>
              </a:ext>
            </a:extLst>
          </p:cNvPr>
          <p:cNvSpPr>
            <a:spLocks noGrp="1"/>
          </p:cNvSpPr>
          <p:nvPr>
            <p:ph type="title"/>
          </p:nvPr>
        </p:nvSpPr>
        <p:spPr>
          <a:xfrm>
            <a:off x="1156851" y="637762"/>
            <a:ext cx="9888496" cy="900131"/>
          </a:xfrm>
        </p:spPr>
        <p:txBody>
          <a:bodyPr anchor="t">
            <a:normAutofit/>
          </a:bodyPr>
          <a:lstStyle/>
          <a:p>
            <a:r>
              <a:rPr lang="es-ES" sz="4000">
                <a:solidFill>
                  <a:schemeClr val="bg1"/>
                </a:solidFill>
              </a:rPr>
              <a:t>INTRODUCCIÓN</a:t>
            </a:r>
          </a:p>
        </p:txBody>
      </p:sp>
      <p:sp>
        <p:nvSpPr>
          <p:cNvPr id="23" name="Rectangle 2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D3867C0-5B84-1D0D-59AC-2F50167D2578}"/>
              </a:ext>
            </a:extLst>
          </p:cNvPr>
          <p:cNvSpPr>
            <a:spLocks noGrp="1"/>
          </p:cNvSpPr>
          <p:nvPr>
            <p:ph idx="1"/>
          </p:nvPr>
        </p:nvSpPr>
        <p:spPr>
          <a:xfrm>
            <a:off x="1155548" y="2217343"/>
            <a:ext cx="9880893" cy="3959619"/>
          </a:xfrm>
        </p:spPr>
        <p:txBody>
          <a:bodyPr vert="horz" lIns="91440" tIns="45720" rIns="91440" bIns="45720" rtlCol="0" anchor="t">
            <a:normAutofit/>
          </a:bodyPr>
          <a:lstStyle/>
          <a:p>
            <a:pPr algn="just">
              <a:buNone/>
            </a:pPr>
            <a:r>
              <a:rPr lang="es-ES" sz="2000" dirty="0">
                <a:ea typeface="+mn-lt"/>
                <a:cs typeface="+mn-lt"/>
              </a:rPr>
              <a:t>La Inteligencia Artificial (IA) abarca una amplia variedad de algoritmos diseñados para resolver problemas complejos mediante el análisis de datos, la toma de decisiones y el aprendizaje automático. En esta práctica se desarrollaron e implementaron diferentes tipos de algoritmos, incluyendo modelos de clasificación como la regresión logística, técnicas de agrupamiento como K-</a:t>
            </a:r>
            <a:r>
              <a:rPr lang="es-ES" sz="2000" dirty="0" err="1">
                <a:ea typeface="+mn-lt"/>
                <a:cs typeface="+mn-lt"/>
              </a:rPr>
              <a:t>Means</a:t>
            </a:r>
            <a:r>
              <a:rPr lang="es-ES" sz="2000" dirty="0">
                <a:ea typeface="+mn-lt"/>
                <a:cs typeface="+mn-lt"/>
              </a:rPr>
              <a:t> y DBSCAN, métodos de aprendizaje por refuerzo como Q-</a:t>
            </a:r>
            <a:r>
              <a:rPr lang="es-ES" sz="2000" dirty="0" err="1">
                <a:ea typeface="+mn-lt"/>
                <a:cs typeface="+mn-lt"/>
              </a:rPr>
              <a:t>Learning</a:t>
            </a:r>
            <a:r>
              <a:rPr lang="es-ES" sz="2000" dirty="0">
                <a:ea typeface="+mn-lt"/>
                <a:cs typeface="+mn-lt"/>
              </a:rPr>
              <a:t> y SARSA, redes neuronales convolucionales (CNN) para el procesamiento de datos tipo imagen, así como algoritmos </a:t>
            </a:r>
            <a:r>
              <a:rPr lang="es-ES" sz="2000" dirty="0" err="1">
                <a:ea typeface="+mn-lt"/>
                <a:cs typeface="+mn-lt"/>
              </a:rPr>
              <a:t>bioinspirados</a:t>
            </a:r>
            <a:r>
              <a:rPr lang="es-ES" sz="2000" dirty="0">
                <a:ea typeface="+mn-lt"/>
                <a:cs typeface="+mn-lt"/>
              </a:rPr>
              <a:t> como la colonia de hormigas (ACO) y el enjambre de partículas (PSO).</a:t>
            </a:r>
            <a:endParaRPr lang="es-ES" dirty="0"/>
          </a:p>
          <a:p>
            <a:pPr algn="just">
              <a:buNone/>
            </a:pPr>
            <a:r>
              <a:rPr lang="es-ES" sz="2000" dirty="0">
                <a:ea typeface="+mn-lt"/>
                <a:cs typeface="+mn-lt"/>
              </a:rPr>
              <a:t>Estos algoritmos fueron programados en Python utilizando Visual Studio </a:t>
            </a:r>
            <a:r>
              <a:rPr lang="es-ES" sz="2000" dirty="0" err="1">
                <a:ea typeface="+mn-lt"/>
                <a:cs typeface="+mn-lt"/>
              </a:rPr>
              <a:t>Code</a:t>
            </a:r>
            <a:r>
              <a:rPr lang="es-ES" sz="2000" dirty="0">
                <a:ea typeface="+mn-lt"/>
                <a:cs typeface="+mn-lt"/>
              </a:rPr>
              <a:t>, lo que permitió comprender de manera práctica su funcionamiento, estructura y aplicación en distintos problemas del mundo real.</a:t>
            </a:r>
            <a:endParaRPr lang="es-ES" dirty="0"/>
          </a:p>
          <a:p>
            <a:pPr algn="just">
              <a:buNone/>
            </a:pPr>
            <a:endParaRPr lang="es-ES" sz="2000" dirty="0"/>
          </a:p>
          <a:p>
            <a:pPr marL="0" indent="0">
              <a:buNone/>
            </a:pPr>
            <a:endParaRPr lang="es-ES" sz="2000"/>
          </a:p>
        </p:txBody>
      </p:sp>
    </p:spTree>
    <p:extLst>
      <p:ext uri="{BB962C8B-B14F-4D97-AF65-F5344CB8AC3E}">
        <p14:creationId xmlns:p14="http://schemas.microsoft.com/office/powerpoint/2010/main" val="1706575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42F215-896E-067A-B038-CC89C22E632E}"/>
              </a:ext>
            </a:extLst>
          </p:cNvPr>
          <p:cNvSpPr>
            <a:spLocks noGrp="1"/>
          </p:cNvSpPr>
          <p:nvPr>
            <p:ph type="title"/>
          </p:nvPr>
        </p:nvSpPr>
        <p:spPr>
          <a:xfrm>
            <a:off x="1156851" y="637762"/>
            <a:ext cx="9888496" cy="900131"/>
          </a:xfrm>
        </p:spPr>
        <p:txBody>
          <a:bodyPr anchor="t">
            <a:normAutofit/>
          </a:bodyPr>
          <a:lstStyle/>
          <a:p>
            <a:r>
              <a:rPr lang="es-ES" sz="4000">
                <a:solidFill>
                  <a:schemeClr val="bg1"/>
                </a:solidFill>
              </a:rPr>
              <a:t>JUSTIFICACIÓN</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66BB7B1-BAFD-D07A-4146-6D075B16D082}"/>
              </a:ext>
            </a:extLst>
          </p:cNvPr>
          <p:cNvSpPr>
            <a:spLocks noGrp="1"/>
          </p:cNvSpPr>
          <p:nvPr>
            <p:ph idx="1"/>
          </p:nvPr>
        </p:nvSpPr>
        <p:spPr>
          <a:xfrm>
            <a:off x="1155548" y="2217343"/>
            <a:ext cx="9880893" cy="3959619"/>
          </a:xfrm>
        </p:spPr>
        <p:txBody>
          <a:bodyPr vert="horz" lIns="91440" tIns="45720" rIns="91440" bIns="45720" rtlCol="0" anchor="t">
            <a:normAutofit/>
          </a:bodyPr>
          <a:lstStyle/>
          <a:p>
            <a:pPr algn="just">
              <a:buNone/>
            </a:pPr>
            <a:r>
              <a:rPr lang="es-ES" sz="2200" dirty="0">
                <a:ea typeface="+mn-lt"/>
                <a:cs typeface="+mn-lt"/>
              </a:rPr>
              <a:t>El estudio y la implementación de estos algoritmos es fundamental en la formación académica y profesional dentro del área de tecnologías de la información, ya que representan herramientas clave en el desarrollo de sistemas inteligentes. Actualmente, estos modelos son utilizados en múltiples áreas como la predicción de datos, análisis de comportamiento, automatización de procesos, reconocimiento de imágenes y optimización de recursos.</a:t>
            </a:r>
            <a:endParaRPr lang="es-ES" dirty="0">
              <a:ea typeface="+mn-lt"/>
              <a:cs typeface="+mn-lt"/>
            </a:endParaRPr>
          </a:p>
          <a:p>
            <a:pPr algn="just">
              <a:buNone/>
            </a:pPr>
            <a:r>
              <a:rPr lang="es-ES" sz="2200">
                <a:ea typeface="+mn-lt"/>
                <a:cs typeface="+mn-lt"/>
              </a:rPr>
              <a:t>La realización de estos ejercicios permite fortalecer habilidades en programación, lógica computacional y comprensión de modelos de IA, además de fomentar el pensamiento analítico al observar cómo cada algoritmo resuelve problemas de manera distinta.</a:t>
            </a:r>
            <a:endParaRPr lang="es-ES"/>
          </a:p>
          <a:p>
            <a:pPr algn="just">
              <a:buNone/>
            </a:pPr>
            <a:endParaRPr lang="es-ES" sz="2200" dirty="0"/>
          </a:p>
          <a:p>
            <a:pPr>
              <a:buNone/>
            </a:pPr>
            <a:endParaRPr lang="es-ES" sz="2200"/>
          </a:p>
          <a:p>
            <a:pPr marL="0" indent="0">
              <a:buNone/>
            </a:pPr>
            <a:endParaRPr lang="es-ES" sz="2200"/>
          </a:p>
          <a:p>
            <a:pPr marL="0" indent="0">
              <a:buNone/>
            </a:pPr>
            <a:endParaRPr lang="es-ES" sz="2200"/>
          </a:p>
        </p:txBody>
      </p:sp>
    </p:spTree>
    <p:extLst>
      <p:ext uri="{BB962C8B-B14F-4D97-AF65-F5344CB8AC3E}">
        <p14:creationId xmlns:p14="http://schemas.microsoft.com/office/powerpoint/2010/main" val="3646819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31DCC06-BF8A-129A-60B9-DA81683572E8}"/>
              </a:ext>
            </a:extLst>
          </p:cNvPr>
          <p:cNvSpPr>
            <a:spLocks noGrp="1"/>
          </p:cNvSpPr>
          <p:nvPr>
            <p:ph type="title"/>
          </p:nvPr>
        </p:nvSpPr>
        <p:spPr>
          <a:xfrm>
            <a:off x="1156851" y="637762"/>
            <a:ext cx="9888496" cy="900131"/>
          </a:xfrm>
        </p:spPr>
        <p:txBody>
          <a:bodyPr anchor="t">
            <a:normAutofit/>
          </a:bodyPr>
          <a:lstStyle/>
          <a:p>
            <a:r>
              <a:rPr lang="es-ES" sz="4000">
                <a:solidFill>
                  <a:schemeClr val="bg1"/>
                </a:solidFill>
              </a:rPr>
              <a:t>ALGORITMOS DE BÚSQUEDA</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0634D8D-17D9-CC56-5A14-3D0A9EFEB51D}"/>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lgn="just">
              <a:buNone/>
            </a:pPr>
            <a:r>
              <a:rPr lang="es-ES" sz="2000">
                <a:ea typeface="+mn-lt"/>
                <a:cs typeface="+mn-lt"/>
              </a:rPr>
              <a:t>Los algoritmos de búsqueda en Inteligencia Artificial permiten encontrar un objetivo dentro de una estructura de datos, generalmente representada como un grafo o árbol.</a:t>
            </a:r>
            <a:endParaRPr lang="es-ES"/>
          </a:p>
          <a:p>
            <a:pPr marL="0" indent="0" algn="just">
              <a:buNone/>
            </a:pPr>
            <a:r>
              <a:rPr lang="es-ES" sz="2000"/>
              <a:t>A continuación, mostrare los siguientes algoritmos de búsqueda en IA dentro del lenguaje de programación en </a:t>
            </a:r>
            <a:r>
              <a:rPr lang="es-ES" sz="2000" err="1"/>
              <a:t>python</a:t>
            </a:r>
            <a:r>
              <a:rPr lang="es-ES" sz="2000"/>
              <a:t>:</a:t>
            </a:r>
          </a:p>
          <a:p>
            <a:pPr algn="just"/>
            <a:r>
              <a:rPr lang="es-ES" sz="2000">
                <a:ea typeface="+mn-lt"/>
                <a:cs typeface="+mn-lt"/>
              </a:rPr>
              <a:t>BFS (</a:t>
            </a:r>
            <a:r>
              <a:rPr lang="es-ES" sz="2000" err="1">
                <a:ea typeface="+mn-lt"/>
                <a:cs typeface="+mn-lt"/>
              </a:rPr>
              <a:t>Breadth-First</a:t>
            </a:r>
            <a:r>
              <a:rPr lang="es-ES" sz="2000">
                <a:ea typeface="+mn-lt"/>
                <a:cs typeface="+mn-lt"/>
              </a:rPr>
              <a:t> </a:t>
            </a:r>
            <a:r>
              <a:rPr lang="es-ES" sz="2000" err="1">
                <a:ea typeface="+mn-lt"/>
                <a:cs typeface="+mn-lt"/>
              </a:rPr>
              <a:t>Search</a:t>
            </a:r>
            <a:r>
              <a:rPr lang="es-ES" sz="2000">
                <a:ea typeface="+mn-lt"/>
                <a:cs typeface="+mn-lt"/>
              </a:rPr>
              <a:t>)</a:t>
            </a:r>
          </a:p>
          <a:p>
            <a:pPr algn="just"/>
            <a:r>
              <a:rPr lang="es-ES" sz="2000">
                <a:ea typeface="+mn-lt"/>
                <a:cs typeface="+mn-lt"/>
              </a:rPr>
              <a:t>DFS (Depth-</a:t>
            </a:r>
            <a:r>
              <a:rPr lang="es-ES" sz="2000" err="1">
                <a:ea typeface="+mn-lt"/>
                <a:cs typeface="+mn-lt"/>
              </a:rPr>
              <a:t>First</a:t>
            </a:r>
            <a:r>
              <a:rPr lang="es-ES" sz="2000">
                <a:ea typeface="+mn-lt"/>
                <a:cs typeface="+mn-lt"/>
              </a:rPr>
              <a:t> </a:t>
            </a:r>
            <a:r>
              <a:rPr lang="es-ES" sz="2000" err="1">
                <a:ea typeface="+mn-lt"/>
                <a:cs typeface="+mn-lt"/>
              </a:rPr>
              <a:t>Search</a:t>
            </a:r>
            <a:r>
              <a:rPr lang="es-ES" sz="2000">
                <a:ea typeface="+mn-lt"/>
                <a:cs typeface="+mn-lt"/>
              </a:rPr>
              <a:t>)</a:t>
            </a:r>
          </a:p>
          <a:p>
            <a:pPr algn="just"/>
            <a:r>
              <a:rPr lang="es-ES" sz="2000">
                <a:ea typeface="+mn-lt"/>
                <a:cs typeface="+mn-lt"/>
              </a:rPr>
              <a:t>A (A Estrella)*</a:t>
            </a:r>
          </a:p>
          <a:p>
            <a:pPr algn="just"/>
            <a:r>
              <a:rPr lang="es-ES" sz="2000"/>
              <a:t>UCS (</a:t>
            </a:r>
            <a:r>
              <a:rPr lang="es-ES" sz="2000" err="1"/>
              <a:t>Uniform</a:t>
            </a:r>
            <a:r>
              <a:rPr lang="es-ES" sz="2000"/>
              <a:t> </a:t>
            </a:r>
            <a:r>
              <a:rPr lang="es-ES" sz="2000" err="1"/>
              <a:t>Cost</a:t>
            </a:r>
            <a:r>
              <a:rPr lang="es-ES" sz="2000"/>
              <a:t> </a:t>
            </a:r>
            <a:r>
              <a:rPr lang="es-ES" sz="2000" err="1"/>
              <a:t>Search</a:t>
            </a:r>
            <a:r>
              <a:rPr lang="es-ES" sz="2000"/>
              <a:t>)</a:t>
            </a:r>
          </a:p>
          <a:p>
            <a:pPr algn="just"/>
            <a:r>
              <a:rPr lang="es-ES" sz="2000" err="1">
                <a:ea typeface="+mn-lt"/>
                <a:cs typeface="+mn-lt"/>
              </a:rPr>
              <a:t>Greedy</a:t>
            </a:r>
            <a:r>
              <a:rPr lang="es-ES" sz="2000">
                <a:ea typeface="+mn-lt"/>
                <a:cs typeface="+mn-lt"/>
              </a:rPr>
              <a:t> </a:t>
            </a:r>
            <a:r>
              <a:rPr lang="es-ES" sz="2000" err="1">
                <a:ea typeface="+mn-lt"/>
                <a:cs typeface="+mn-lt"/>
              </a:rPr>
              <a:t>Best</a:t>
            </a:r>
            <a:r>
              <a:rPr lang="es-ES" sz="2000">
                <a:ea typeface="+mn-lt"/>
                <a:cs typeface="+mn-lt"/>
              </a:rPr>
              <a:t> </a:t>
            </a:r>
            <a:r>
              <a:rPr lang="es-ES" sz="2000" err="1">
                <a:ea typeface="+mn-lt"/>
                <a:cs typeface="+mn-lt"/>
              </a:rPr>
              <a:t>First</a:t>
            </a:r>
            <a:r>
              <a:rPr lang="es-ES" sz="2000">
                <a:ea typeface="+mn-lt"/>
                <a:cs typeface="+mn-lt"/>
              </a:rPr>
              <a:t> </a:t>
            </a:r>
            <a:r>
              <a:rPr lang="es-ES" sz="2000" err="1">
                <a:ea typeface="+mn-lt"/>
                <a:cs typeface="+mn-lt"/>
              </a:rPr>
              <a:t>Search</a:t>
            </a:r>
          </a:p>
          <a:p>
            <a:pPr algn="just"/>
            <a:r>
              <a:rPr lang="es-ES" sz="2000">
                <a:ea typeface="+mn-lt"/>
                <a:cs typeface="+mn-lt"/>
              </a:rPr>
              <a:t>Búsqueda Iterativa (Iterative </a:t>
            </a:r>
            <a:r>
              <a:rPr lang="es-ES" sz="2000" err="1">
                <a:ea typeface="+mn-lt"/>
                <a:cs typeface="+mn-lt"/>
              </a:rPr>
              <a:t>Deepening</a:t>
            </a:r>
            <a:r>
              <a:rPr lang="es-ES" sz="2000">
                <a:ea typeface="+mn-lt"/>
                <a:cs typeface="+mn-lt"/>
              </a:rPr>
              <a:t> </a:t>
            </a:r>
            <a:r>
              <a:rPr lang="es-ES" sz="2000" err="1">
                <a:ea typeface="+mn-lt"/>
                <a:cs typeface="+mn-lt"/>
              </a:rPr>
              <a:t>Search</a:t>
            </a:r>
            <a:r>
              <a:rPr lang="es-ES" sz="2000">
                <a:ea typeface="+mn-lt"/>
                <a:cs typeface="+mn-lt"/>
              </a:rPr>
              <a:t> - IDS)</a:t>
            </a:r>
            <a:endParaRPr lang="es-ES" sz="2000"/>
          </a:p>
        </p:txBody>
      </p:sp>
    </p:spTree>
    <p:extLst>
      <p:ext uri="{BB962C8B-B14F-4D97-AF65-F5344CB8AC3E}">
        <p14:creationId xmlns:p14="http://schemas.microsoft.com/office/powerpoint/2010/main" val="48704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0615D37-CCDE-5B57-1967-0C7F7A9D8C73}"/>
              </a:ext>
            </a:extLst>
          </p:cNvPr>
          <p:cNvSpPr>
            <a:spLocks noGrp="1"/>
          </p:cNvSpPr>
          <p:nvPr>
            <p:ph type="title"/>
          </p:nvPr>
        </p:nvSpPr>
        <p:spPr>
          <a:xfrm>
            <a:off x="4797501" y="329184"/>
            <a:ext cx="6755626" cy="1783080"/>
          </a:xfrm>
        </p:spPr>
        <p:txBody>
          <a:bodyPr anchor="b">
            <a:normAutofit/>
          </a:bodyPr>
          <a:lstStyle/>
          <a:p>
            <a:r>
              <a:rPr lang="es-ES" sz="4600">
                <a:ea typeface="+mj-lt"/>
                <a:cs typeface="+mj-lt"/>
              </a:rPr>
              <a:t>BFS (Breadth-First Search) – Búsqueda en Anchura</a:t>
            </a:r>
            <a:endParaRPr lang="es-ES" sz="4600"/>
          </a:p>
        </p:txBody>
      </p:sp>
      <p:pic>
        <p:nvPicPr>
          <p:cNvPr id="4" name="Imagen 3" descr="Texto&#10;&#10;El contenido generado por IA puede ser incorrecto.">
            <a:extLst>
              <a:ext uri="{FF2B5EF4-FFF2-40B4-BE49-F238E27FC236}">
                <a16:creationId xmlns:a16="http://schemas.microsoft.com/office/drawing/2014/main" id="{EA28F26F-1DA9-29FF-3B2C-0290E8E7E0C8}"/>
              </a:ext>
            </a:extLst>
          </p:cNvPr>
          <p:cNvPicPr>
            <a:picLocks noChangeAspect="1"/>
          </p:cNvPicPr>
          <p:nvPr/>
        </p:nvPicPr>
        <p:blipFill>
          <a:blip r:embed="rId2"/>
          <a:stretch>
            <a:fillRect/>
          </a:stretch>
        </p:blipFill>
        <p:spPr>
          <a:xfrm>
            <a:off x="637999" y="0"/>
            <a:ext cx="3378298" cy="3907536"/>
          </a:xfrm>
          <a:prstGeom prst="rect">
            <a:avLst/>
          </a:prstGeom>
        </p:spPr>
      </p:pic>
      <p:sp>
        <p:nvSpPr>
          <p:cNvPr id="12"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Texto&#10;&#10;El contenido generado por IA puede ser incorrecto.">
            <a:extLst>
              <a:ext uri="{FF2B5EF4-FFF2-40B4-BE49-F238E27FC236}">
                <a16:creationId xmlns:a16="http://schemas.microsoft.com/office/drawing/2014/main" id="{F582A128-E49B-D8B1-33B8-20027B5C9E6F}"/>
              </a:ext>
            </a:extLst>
          </p:cNvPr>
          <p:cNvPicPr>
            <a:picLocks noChangeAspect="1"/>
          </p:cNvPicPr>
          <p:nvPr/>
        </p:nvPicPr>
        <p:blipFill>
          <a:blip r:embed="rId3"/>
          <a:stretch>
            <a:fillRect/>
          </a:stretch>
        </p:blipFill>
        <p:spPr>
          <a:xfrm>
            <a:off x="320040" y="4181985"/>
            <a:ext cx="3995928" cy="2034027"/>
          </a:xfrm>
          <a:prstGeom prst="rect">
            <a:avLst/>
          </a:prstGeom>
        </p:spPr>
      </p:pic>
      <p:sp>
        <p:nvSpPr>
          <p:cNvPr id="3" name="Marcador de contenido 2">
            <a:extLst>
              <a:ext uri="{FF2B5EF4-FFF2-40B4-BE49-F238E27FC236}">
                <a16:creationId xmlns:a16="http://schemas.microsoft.com/office/drawing/2014/main" id="{DA4C9E48-FECB-7B79-0EA4-C0A61AB60F0A}"/>
              </a:ext>
            </a:extLst>
          </p:cNvPr>
          <p:cNvSpPr>
            <a:spLocks noGrp="1"/>
          </p:cNvSpPr>
          <p:nvPr>
            <p:ph idx="1"/>
          </p:nvPr>
        </p:nvSpPr>
        <p:spPr>
          <a:xfrm>
            <a:off x="4797494" y="2706624"/>
            <a:ext cx="6755626" cy="3483864"/>
          </a:xfrm>
        </p:spPr>
        <p:txBody>
          <a:bodyPr vert="horz" lIns="91440" tIns="45720" rIns="91440" bIns="45720" rtlCol="0">
            <a:normAutofit/>
          </a:bodyPr>
          <a:lstStyle/>
          <a:p>
            <a:pPr marL="0" indent="0">
              <a:buNone/>
            </a:pPr>
            <a:r>
              <a:rPr lang="es-ES" sz="2200">
                <a:ea typeface="+mn-lt"/>
                <a:cs typeface="+mn-lt"/>
              </a:rPr>
              <a:t>Explora los nodos nivel por nivel usando una cola. A continuación, les dejo un ejercicio realizado dentro de visual studio code:</a:t>
            </a:r>
          </a:p>
          <a:p>
            <a:pPr marL="0" indent="0">
              <a:buNone/>
            </a:pPr>
            <a:endParaRPr lang="es-ES" sz="2200"/>
          </a:p>
        </p:txBody>
      </p:sp>
    </p:spTree>
    <p:extLst>
      <p:ext uri="{BB962C8B-B14F-4D97-AF65-F5344CB8AC3E}">
        <p14:creationId xmlns:p14="http://schemas.microsoft.com/office/powerpoint/2010/main" val="3978417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D8DE44D-0E88-D469-5F2B-FD4BAF6D1C49}"/>
              </a:ext>
            </a:extLst>
          </p:cNvPr>
          <p:cNvSpPr>
            <a:spLocks noGrp="1"/>
          </p:cNvSpPr>
          <p:nvPr>
            <p:ph type="title"/>
          </p:nvPr>
        </p:nvSpPr>
        <p:spPr>
          <a:xfrm>
            <a:off x="640080" y="329184"/>
            <a:ext cx="6894576" cy="1783080"/>
          </a:xfrm>
        </p:spPr>
        <p:txBody>
          <a:bodyPr anchor="b">
            <a:normAutofit/>
          </a:bodyPr>
          <a:lstStyle/>
          <a:p>
            <a:r>
              <a:rPr lang="es-ES" sz="4600">
                <a:ea typeface="+mj-lt"/>
                <a:cs typeface="+mj-lt"/>
              </a:rPr>
              <a:t>DFS (Depth-First Search) – Búsqueda en Profundidad</a:t>
            </a:r>
            <a:endParaRPr lang="es-ES" sz="460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A85ABBC-6220-794F-FA8F-397D4E91828E}"/>
              </a:ext>
            </a:extLst>
          </p:cNvPr>
          <p:cNvSpPr>
            <a:spLocks noGrp="1"/>
          </p:cNvSpPr>
          <p:nvPr>
            <p:ph idx="1"/>
          </p:nvPr>
        </p:nvSpPr>
        <p:spPr>
          <a:xfrm>
            <a:off x="640080" y="2706624"/>
            <a:ext cx="6894576" cy="3483864"/>
          </a:xfrm>
        </p:spPr>
        <p:txBody>
          <a:bodyPr vert="horz" lIns="91440" tIns="45720" rIns="91440" bIns="45720" rtlCol="0">
            <a:normAutofit/>
          </a:bodyPr>
          <a:lstStyle/>
          <a:p>
            <a:pPr>
              <a:buNone/>
            </a:pPr>
            <a:r>
              <a:rPr lang="es-ES" sz="2200">
                <a:ea typeface="+mn-lt"/>
                <a:cs typeface="+mn-lt"/>
              </a:rPr>
              <a:t>Este algoritmo explora primero lo más profundo posible antes de</a:t>
            </a:r>
          </a:p>
          <a:p>
            <a:pPr>
              <a:buNone/>
            </a:pPr>
            <a:r>
              <a:rPr lang="es-ES" sz="2200">
                <a:ea typeface="+mn-lt"/>
                <a:cs typeface="+mn-lt"/>
              </a:rPr>
              <a:t>Regresar. A continuación, queda de la siguiente manera un ejercicio:</a:t>
            </a:r>
          </a:p>
          <a:p>
            <a:pPr>
              <a:buNone/>
            </a:pPr>
            <a:endParaRPr lang="es-ES" sz="2200"/>
          </a:p>
          <a:p>
            <a:pPr marL="0" indent="0">
              <a:buNone/>
            </a:pPr>
            <a:endParaRPr lang="es-ES" sz="2200"/>
          </a:p>
        </p:txBody>
      </p:sp>
      <p:pic>
        <p:nvPicPr>
          <p:cNvPr id="4" name="Imagen 3" descr="Texto&#10;&#10;El contenido generado por IA puede ser incorrecto.">
            <a:extLst>
              <a:ext uri="{FF2B5EF4-FFF2-40B4-BE49-F238E27FC236}">
                <a16:creationId xmlns:a16="http://schemas.microsoft.com/office/drawing/2014/main" id="{810D372E-E570-B96C-165B-A29938D804D2}"/>
              </a:ext>
            </a:extLst>
          </p:cNvPr>
          <p:cNvPicPr>
            <a:picLocks noChangeAspect="1"/>
          </p:cNvPicPr>
          <p:nvPr/>
        </p:nvPicPr>
        <p:blipFill>
          <a:blip r:embed="rId2"/>
          <a:stretch>
            <a:fillRect/>
          </a:stretch>
        </p:blipFill>
        <p:spPr>
          <a:xfrm>
            <a:off x="8125247" y="329183"/>
            <a:ext cx="3491401" cy="3429969"/>
          </a:xfrm>
          <a:prstGeom prst="rect">
            <a:avLst/>
          </a:prstGeom>
        </p:spPr>
      </p:pic>
      <p:pic>
        <p:nvPicPr>
          <p:cNvPr id="5" name="Imagen 4" descr="Texto&#10;&#10;El contenido generado por IA puede ser incorrecto.">
            <a:extLst>
              <a:ext uri="{FF2B5EF4-FFF2-40B4-BE49-F238E27FC236}">
                <a16:creationId xmlns:a16="http://schemas.microsoft.com/office/drawing/2014/main" id="{43366D8F-545D-1C47-9AD1-6170D2641D14}"/>
              </a:ext>
            </a:extLst>
          </p:cNvPr>
          <p:cNvPicPr>
            <a:picLocks noChangeAspect="1"/>
          </p:cNvPicPr>
          <p:nvPr/>
        </p:nvPicPr>
        <p:blipFill>
          <a:blip r:embed="rId3"/>
          <a:stretch>
            <a:fillRect/>
          </a:stretch>
        </p:blipFill>
        <p:spPr>
          <a:xfrm>
            <a:off x="7863840" y="4138303"/>
            <a:ext cx="3995928" cy="2058052"/>
          </a:xfrm>
          <a:prstGeom prst="rect">
            <a:avLst/>
          </a:prstGeom>
        </p:spPr>
      </p:pic>
    </p:spTree>
    <p:extLst>
      <p:ext uri="{BB962C8B-B14F-4D97-AF65-F5344CB8AC3E}">
        <p14:creationId xmlns:p14="http://schemas.microsoft.com/office/powerpoint/2010/main" val="1999229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5BDF715-D0EF-37AE-496E-F919B4F12ABC}"/>
              </a:ext>
            </a:extLst>
          </p:cNvPr>
          <p:cNvSpPr>
            <a:spLocks noGrp="1"/>
          </p:cNvSpPr>
          <p:nvPr>
            <p:ph type="title"/>
          </p:nvPr>
        </p:nvSpPr>
        <p:spPr>
          <a:xfrm>
            <a:off x="640080" y="329184"/>
            <a:ext cx="6894576" cy="1783080"/>
          </a:xfrm>
        </p:spPr>
        <p:txBody>
          <a:bodyPr anchor="b">
            <a:normAutofit/>
          </a:bodyPr>
          <a:lstStyle/>
          <a:p>
            <a:r>
              <a:rPr lang="es-ES" sz="5400">
                <a:ea typeface="+mj-lt"/>
                <a:cs typeface="+mj-lt"/>
              </a:rPr>
              <a:t>A* (A Estrella)</a:t>
            </a:r>
            <a:endParaRPr lang="es-ES" sz="540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D2128FF-9764-CBCC-58B2-7EAB407DA448}"/>
              </a:ext>
            </a:extLst>
          </p:cNvPr>
          <p:cNvSpPr>
            <a:spLocks noGrp="1"/>
          </p:cNvSpPr>
          <p:nvPr>
            <p:ph idx="1"/>
          </p:nvPr>
        </p:nvSpPr>
        <p:spPr>
          <a:xfrm>
            <a:off x="640080" y="2706624"/>
            <a:ext cx="6894576" cy="3483864"/>
          </a:xfrm>
        </p:spPr>
        <p:txBody>
          <a:bodyPr vert="horz" lIns="91440" tIns="45720" rIns="91440" bIns="45720" rtlCol="0">
            <a:normAutofit/>
          </a:bodyPr>
          <a:lstStyle/>
          <a:p>
            <a:pPr marL="0" indent="0">
              <a:buNone/>
            </a:pPr>
            <a:r>
              <a:rPr lang="es-ES" sz="2200">
                <a:ea typeface="+mn-lt"/>
                <a:cs typeface="+mn-lt"/>
              </a:rPr>
              <a:t>De igual manera que las anteriores este algoritmo Busca el camino más corto usando heurística. Quedando de la siguiente manera un ejemplo dentro de visual studio code:</a:t>
            </a:r>
          </a:p>
          <a:p>
            <a:pPr marL="0" indent="0">
              <a:buNone/>
            </a:pPr>
            <a:endParaRPr lang="es-ES" sz="2200"/>
          </a:p>
        </p:txBody>
      </p:sp>
      <p:pic>
        <p:nvPicPr>
          <p:cNvPr id="4" name="Imagen 3" descr="Texto&#10;&#10;El contenido generado por IA puede ser incorrecto.">
            <a:extLst>
              <a:ext uri="{FF2B5EF4-FFF2-40B4-BE49-F238E27FC236}">
                <a16:creationId xmlns:a16="http://schemas.microsoft.com/office/drawing/2014/main" id="{73C84533-8250-2C34-5D4C-653A05DFD10A}"/>
              </a:ext>
            </a:extLst>
          </p:cNvPr>
          <p:cNvPicPr>
            <a:picLocks noChangeAspect="1"/>
          </p:cNvPicPr>
          <p:nvPr/>
        </p:nvPicPr>
        <p:blipFill>
          <a:blip r:embed="rId2"/>
          <a:stretch>
            <a:fillRect/>
          </a:stretch>
        </p:blipFill>
        <p:spPr>
          <a:xfrm>
            <a:off x="8007621" y="329183"/>
            <a:ext cx="3726654" cy="3429969"/>
          </a:xfrm>
          <a:prstGeom prst="rect">
            <a:avLst/>
          </a:prstGeom>
        </p:spPr>
      </p:pic>
      <p:pic>
        <p:nvPicPr>
          <p:cNvPr id="5" name="Imagen 4" descr="Texto&#10;&#10;El contenido generado por IA puede ser incorrecto.">
            <a:extLst>
              <a:ext uri="{FF2B5EF4-FFF2-40B4-BE49-F238E27FC236}">
                <a16:creationId xmlns:a16="http://schemas.microsoft.com/office/drawing/2014/main" id="{E6B8AD25-ADB8-AB43-331B-AB1AE1E3E9DF}"/>
              </a:ext>
            </a:extLst>
          </p:cNvPr>
          <p:cNvPicPr>
            <a:picLocks noChangeAspect="1"/>
          </p:cNvPicPr>
          <p:nvPr/>
        </p:nvPicPr>
        <p:blipFill>
          <a:blip r:embed="rId3"/>
          <a:stretch>
            <a:fillRect/>
          </a:stretch>
        </p:blipFill>
        <p:spPr>
          <a:xfrm>
            <a:off x="7863840" y="4527693"/>
            <a:ext cx="3995928" cy="1279271"/>
          </a:xfrm>
          <a:prstGeom prst="rect">
            <a:avLst/>
          </a:prstGeom>
        </p:spPr>
      </p:pic>
    </p:spTree>
    <p:extLst>
      <p:ext uri="{BB962C8B-B14F-4D97-AF65-F5344CB8AC3E}">
        <p14:creationId xmlns:p14="http://schemas.microsoft.com/office/powerpoint/2010/main" val="2215145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9">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566E7EF-F8E6-5D85-4B7F-DDBCC54FC074}"/>
              </a:ext>
            </a:extLst>
          </p:cNvPr>
          <p:cNvSpPr>
            <a:spLocks noGrp="1"/>
          </p:cNvSpPr>
          <p:nvPr>
            <p:ph type="title"/>
          </p:nvPr>
        </p:nvSpPr>
        <p:spPr>
          <a:xfrm>
            <a:off x="4797501" y="329184"/>
            <a:ext cx="6755626" cy="1783080"/>
          </a:xfrm>
        </p:spPr>
        <p:txBody>
          <a:bodyPr anchor="b">
            <a:normAutofit/>
          </a:bodyPr>
          <a:lstStyle/>
          <a:p>
            <a:r>
              <a:rPr lang="es-ES" sz="5400">
                <a:ea typeface="+mj-lt"/>
                <a:cs typeface="+mj-lt"/>
              </a:rPr>
              <a:t>UCS (Uniform Cost Search)</a:t>
            </a:r>
          </a:p>
        </p:txBody>
      </p:sp>
      <p:pic>
        <p:nvPicPr>
          <p:cNvPr id="4" name="Imagen 3" descr="Texto&#10;&#10;El contenido generado por IA puede ser incorrecto.">
            <a:extLst>
              <a:ext uri="{FF2B5EF4-FFF2-40B4-BE49-F238E27FC236}">
                <a16:creationId xmlns:a16="http://schemas.microsoft.com/office/drawing/2014/main" id="{7BD956B8-7A69-0757-A9E7-6F968517816E}"/>
              </a:ext>
            </a:extLst>
          </p:cNvPr>
          <p:cNvPicPr>
            <a:picLocks noChangeAspect="1"/>
          </p:cNvPicPr>
          <p:nvPr/>
        </p:nvPicPr>
        <p:blipFill>
          <a:blip r:embed="rId2"/>
          <a:stretch>
            <a:fillRect/>
          </a:stretch>
        </p:blipFill>
        <p:spPr>
          <a:xfrm>
            <a:off x="320040" y="141847"/>
            <a:ext cx="4014216" cy="3623842"/>
          </a:xfrm>
          <a:prstGeom prst="rect">
            <a:avLst/>
          </a:prstGeom>
        </p:spPr>
      </p:pic>
      <p:sp>
        <p:nvSpPr>
          <p:cNvPr id="26"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Texto&#10;&#10;El contenido generado por IA puede ser incorrecto.">
            <a:extLst>
              <a:ext uri="{FF2B5EF4-FFF2-40B4-BE49-F238E27FC236}">
                <a16:creationId xmlns:a16="http://schemas.microsoft.com/office/drawing/2014/main" id="{F09AE1F8-7278-FCAA-1E37-4F6B6E4BCECB}"/>
              </a:ext>
            </a:extLst>
          </p:cNvPr>
          <p:cNvPicPr>
            <a:picLocks noChangeAspect="1"/>
          </p:cNvPicPr>
          <p:nvPr/>
        </p:nvPicPr>
        <p:blipFill>
          <a:blip r:embed="rId3"/>
          <a:stretch>
            <a:fillRect/>
          </a:stretch>
        </p:blipFill>
        <p:spPr>
          <a:xfrm>
            <a:off x="410002" y="4149598"/>
            <a:ext cx="3816004" cy="2098802"/>
          </a:xfrm>
          <a:prstGeom prst="rect">
            <a:avLst/>
          </a:prstGeom>
        </p:spPr>
      </p:pic>
      <p:sp>
        <p:nvSpPr>
          <p:cNvPr id="3" name="Marcador de contenido 2">
            <a:extLst>
              <a:ext uri="{FF2B5EF4-FFF2-40B4-BE49-F238E27FC236}">
                <a16:creationId xmlns:a16="http://schemas.microsoft.com/office/drawing/2014/main" id="{2DCC8F1D-6402-442A-2B3D-386F661CC211}"/>
              </a:ext>
            </a:extLst>
          </p:cNvPr>
          <p:cNvSpPr>
            <a:spLocks noGrp="1"/>
          </p:cNvSpPr>
          <p:nvPr>
            <p:ph idx="1"/>
          </p:nvPr>
        </p:nvSpPr>
        <p:spPr>
          <a:xfrm>
            <a:off x="4797494" y="2706624"/>
            <a:ext cx="6755626" cy="3483864"/>
          </a:xfrm>
        </p:spPr>
        <p:txBody>
          <a:bodyPr vert="horz" lIns="91440" tIns="45720" rIns="91440" bIns="45720" rtlCol="0">
            <a:normAutofit/>
          </a:bodyPr>
          <a:lstStyle/>
          <a:p>
            <a:pPr marL="0" indent="0">
              <a:buNone/>
            </a:pPr>
            <a:r>
              <a:rPr lang="es-ES" sz="2200">
                <a:ea typeface="+mn-lt"/>
                <a:cs typeface="+mn-lt"/>
              </a:rPr>
              <a:t>Este algoritmo busca el camino con menor costo acumulado. Quedando un ejemplo de la siguiente manera:</a:t>
            </a:r>
          </a:p>
          <a:p>
            <a:pPr marL="0" indent="0">
              <a:buNone/>
            </a:pPr>
            <a:endParaRPr lang="es-ES" sz="2200"/>
          </a:p>
        </p:txBody>
      </p:sp>
    </p:spTree>
    <p:extLst>
      <p:ext uri="{BB962C8B-B14F-4D97-AF65-F5344CB8AC3E}">
        <p14:creationId xmlns:p14="http://schemas.microsoft.com/office/powerpoint/2010/main" val="4146002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B51D6F-B3D4-E707-8751-967AA11579F7}"/>
              </a:ext>
            </a:extLst>
          </p:cNvPr>
          <p:cNvSpPr>
            <a:spLocks noGrp="1"/>
          </p:cNvSpPr>
          <p:nvPr>
            <p:ph type="title"/>
          </p:nvPr>
        </p:nvSpPr>
        <p:spPr>
          <a:xfrm>
            <a:off x="640080" y="329184"/>
            <a:ext cx="6894576" cy="1783080"/>
          </a:xfrm>
        </p:spPr>
        <p:txBody>
          <a:bodyPr anchor="b">
            <a:normAutofit/>
          </a:bodyPr>
          <a:lstStyle/>
          <a:p>
            <a:r>
              <a:rPr lang="es-ES" sz="5400">
                <a:ea typeface="+mj-lt"/>
                <a:cs typeface="+mj-lt"/>
              </a:rPr>
              <a:t>Greedy Best First Search</a:t>
            </a:r>
            <a:endParaRPr lang="es-ES" sz="540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D526F01-44D1-5578-F697-A5BA81AD69A3}"/>
              </a:ext>
            </a:extLst>
          </p:cNvPr>
          <p:cNvSpPr>
            <a:spLocks noGrp="1"/>
          </p:cNvSpPr>
          <p:nvPr>
            <p:ph idx="1"/>
          </p:nvPr>
        </p:nvSpPr>
        <p:spPr>
          <a:xfrm>
            <a:off x="640080" y="2706624"/>
            <a:ext cx="6894576" cy="3483864"/>
          </a:xfrm>
        </p:spPr>
        <p:txBody>
          <a:bodyPr vert="horz" lIns="91440" tIns="45720" rIns="91440" bIns="45720" rtlCol="0">
            <a:normAutofit/>
          </a:bodyPr>
          <a:lstStyle/>
          <a:p>
            <a:pPr marL="0" indent="0">
              <a:buNone/>
            </a:pPr>
            <a:r>
              <a:rPr lang="es-ES" sz="2200">
                <a:ea typeface="+mn-lt"/>
                <a:cs typeface="+mn-lt"/>
              </a:rPr>
              <a:t>Este algoritmo selecciona el nodo que parece más cercano al objetivo según una heurística. Quedando de la siguiente manera que las demás dentro de visual studio code:</a:t>
            </a:r>
          </a:p>
          <a:p>
            <a:pPr marL="0" indent="0">
              <a:buNone/>
            </a:pPr>
            <a:endParaRPr lang="es-ES" sz="2200"/>
          </a:p>
        </p:txBody>
      </p:sp>
      <p:pic>
        <p:nvPicPr>
          <p:cNvPr id="4" name="Imagen 3" descr="Texto&#10;&#10;El contenido generado por IA puede ser incorrecto.">
            <a:extLst>
              <a:ext uri="{FF2B5EF4-FFF2-40B4-BE49-F238E27FC236}">
                <a16:creationId xmlns:a16="http://schemas.microsoft.com/office/drawing/2014/main" id="{9DEA24E0-B3E1-06CD-8C74-12142438FF6D}"/>
              </a:ext>
            </a:extLst>
          </p:cNvPr>
          <p:cNvPicPr>
            <a:picLocks noChangeAspect="1"/>
          </p:cNvPicPr>
          <p:nvPr/>
        </p:nvPicPr>
        <p:blipFill>
          <a:blip r:embed="rId2"/>
          <a:stretch>
            <a:fillRect/>
          </a:stretch>
        </p:blipFill>
        <p:spPr>
          <a:xfrm>
            <a:off x="8263150" y="329183"/>
            <a:ext cx="3215596" cy="3429969"/>
          </a:xfrm>
          <a:prstGeom prst="rect">
            <a:avLst/>
          </a:prstGeom>
        </p:spPr>
      </p:pic>
      <p:pic>
        <p:nvPicPr>
          <p:cNvPr id="5" name="Imagen 4" descr="Texto&#10;&#10;El contenido generado por IA puede ser incorrecto.">
            <a:extLst>
              <a:ext uri="{FF2B5EF4-FFF2-40B4-BE49-F238E27FC236}">
                <a16:creationId xmlns:a16="http://schemas.microsoft.com/office/drawing/2014/main" id="{FBAEDA28-F5CB-714C-B9A3-358A2830D37F}"/>
              </a:ext>
            </a:extLst>
          </p:cNvPr>
          <p:cNvPicPr>
            <a:picLocks noChangeAspect="1"/>
          </p:cNvPicPr>
          <p:nvPr/>
        </p:nvPicPr>
        <p:blipFill>
          <a:blip r:embed="rId3"/>
          <a:stretch>
            <a:fillRect/>
          </a:stretch>
        </p:blipFill>
        <p:spPr>
          <a:xfrm>
            <a:off x="7863840" y="4345681"/>
            <a:ext cx="3995928" cy="1643296"/>
          </a:xfrm>
          <a:prstGeom prst="rect">
            <a:avLst/>
          </a:prstGeom>
        </p:spPr>
      </p:pic>
    </p:spTree>
    <p:extLst>
      <p:ext uri="{BB962C8B-B14F-4D97-AF65-F5344CB8AC3E}">
        <p14:creationId xmlns:p14="http://schemas.microsoft.com/office/powerpoint/2010/main" val="38502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ight Triangle 1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11687E-092C-8CFB-1D8A-172873241BD9}"/>
              </a:ext>
            </a:extLst>
          </p:cNvPr>
          <p:cNvSpPr>
            <a:spLocks noGrp="1"/>
          </p:cNvSpPr>
          <p:nvPr>
            <p:ph type="title"/>
          </p:nvPr>
        </p:nvSpPr>
        <p:spPr>
          <a:xfrm>
            <a:off x="5780700" y="1188637"/>
            <a:ext cx="5327272" cy="1642850"/>
          </a:xfrm>
        </p:spPr>
        <p:txBody>
          <a:bodyPr>
            <a:normAutofit/>
          </a:bodyPr>
          <a:lstStyle/>
          <a:p>
            <a:r>
              <a:rPr lang="es-ES" sz="5000">
                <a:ea typeface="+mj-lt"/>
                <a:cs typeface="+mj-lt"/>
              </a:rPr>
              <a:t>IDS (Iterative Deepening Search)</a:t>
            </a:r>
            <a:endParaRPr lang="es-ES" sz="5000"/>
          </a:p>
        </p:txBody>
      </p:sp>
      <p:pic>
        <p:nvPicPr>
          <p:cNvPr id="4" name="Imagen 3" descr="Texto&#10;&#10;El contenido generado por IA puede ser incorrecto.">
            <a:extLst>
              <a:ext uri="{FF2B5EF4-FFF2-40B4-BE49-F238E27FC236}">
                <a16:creationId xmlns:a16="http://schemas.microsoft.com/office/drawing/2014/main" id="{D7FCC502-6C96-9D09-2E61-27953617A4D9}"/>
              </a:ext>
            </a:extLst>
          </p:cNvPr>
          <p:cNvPicPr>
            <a:picLocks noChangeAspect="1"/>
          </p:cNvPicPr>
          <p:nvPr/>
        </p:nvPicPr>
        <p:blipFill>
          <a:blip r:embed="rId2"/>
          <a:stretch>
            <a:fillRect/>
          </a:stretch>
        </p:blipFill>
        <p:spPr>
          <a:xfrm>
            <a:off x="654860" y="619762"/>
            <a:ext cx="4525794" cy="4440766"/>
          </a:xfrm>
          <a:prstGeom prst="rect">
            <a:avLst/>
          </a:prstGeom>
        </p:spPr>
      </p:pic>
      <p:pic>
        <p:nvPicPr>
          <p:cNvPr id="5" name="Imagen 4" descr="Texto&#10;&#10;El contenido generado por IA puede ser incorrecto.">
            <a:extLst>
              <a:ext uri="{FF2B5EF4-FFF2-40B4-BE49-F238E27FC236}">
                <a16:creationId xmlns:a16="http://schemas.microsoft.com/office/drawing/2014/main" id="{5981A00E-1F8B-9ECB-AA1E-017A1EDADAC9}"/>
              </a:ext>
            </a:extLst>
          </p:cNvPr>
          <p:cNvPicPr>
            <a:picLocks noChangeAspect="1"/>
          </p:cNvPicPr>
          <p:nvPr/>
        </p:nvPicPr>
        <p:blipFill>
          <a:blip r:embed="rId3"/>
          <a:stretch>
            <a:fillRect/>
          </a:stretch>
        </p:blipFill>
        <p:spPr>
          <a:xfrm>
            <a:off x="1012070" y="5255290"/>
            <a:ext cx="3523827" cy="788548"/>
          </a:xfrm>
          <a:prstGeom prst="rect">
            <a:avLst/>
          </a:prstGeom>
        </p:spPr>
      </p:pic>
      <p:sp>
        <p:nvSpPr>
          <p:cNvPr id="3" name="Marcador de contenido 2">
            <a:extLst>
              <a:ext uri="{FF2B5EF4-FFF2-40B4-BE49-F238E27FC236}">
                <a16:creationId xmlns:a16="http://schemas.microsoft.com/office/drawing/2014/main" id="{BE038622-4AC3-B25B-6EAF-FF9BA4BA971D}"/>
              </a:ext>
            </a:extLst>
          </p:cNvPr>
          <p:cNvSpPr>
            <a:spLocks noGrp="1"/>
          </p:cNvSpPr>
          <p:nvPr>
            <p:ph idx="1"/>
          </p:nvPr>
        </p:nvSpPr>
        <p:spPr>
          <a:xfrm>
            <a:off x="5780700" y="3086514"/>
            <a:ext cx="4470533" cy="1852490"/>
          </a:xfrm>
        </p:spPr>
        <p:txBody>
          <a:bodyPr vert="horz" lIns="91440" tIns="45720" rIns="91440" bIns="45720" rtlCol="0" anchor="t">
            <a:normAutofit/>
          </a:bodyPr>
          <a:lstStyle/>
          <a:p>
            <a:pPr marL="0" indent="0">
              <a:buNone/>
            </a:pPr>
            <a:r>
              <a:rPr lang="es-ES" sz="2000">
                <a:ea typeface="+mn-lt"/>
                <a:cs typeface="+mn-lt"/>
              </a:rPr>
              <a:t>Como los algoritmos anteriores esta combina DFS con límites de profundidad. Quedando de la siguiente manera:</a:t>
            </a:r>
          </a:p>
          <a:p>
            <a:pPr marL="0" indent="0">
              <a:buNone/>
            </a:pPr>
            <a:endParaRPr lang="es-ES" sz="2000"/>
          </a:p>
        </p:txBody>
      </p:sp>
    </p:spTree>
    <p:extLst>
      <p:ext uri="{BB962C8B-B14F-4D97-AF65-F5344CB8AC3E}">
        <p14:creationId xmlns:p14="http://schemas.microsoft.com/office/powerpoint/2010/main" val="2731312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460E8-9A79-5B3B-00A0-C9FF6B6ACC62}"/>
              </a:ext>
            </a:extLst>
          </p:cNvPr>
          <p:cNvSpPr>
            <a:spLocks noGrp="1"/>
          </p:cNvSpPr>
          <p:nvPr>
            <p:ph type="title"/>
          </p:nvPr>
        </p:nvSpPr>
        <p:spPr/>
        <p:txBody>
          <a:bodyPr/>
          <a:lstStyle/>
          <a:p>
            <a:r>
              <a:rPr lang="es-ES"/>
              <a:t>ALGORITMOS DE APRENDIZAJE AUTOMATICO</a:t>
            </a:r>
          </a:p>
        </p:txBody>
      </p:sp>
      <p:sp>
        <p:nvSpPr>
          <p:cNvPr id="3" name="Marcador de contenido 2">
            <a:extLst>
              <a:ext uri="{FF2B5EF4-FFF2-40B4-BE49-F238E27FC236}">
                <a16:creationId xmlns:a16="http://schemas.microsoft.com/office/drawing/2014/main" id="{E1C9CDDB-DD3E-13F7-620F-1F4799CFACFE}"/>
              </a:ext>
            </a:extLst>
          </p:cNvPr>
          <p:cNvSpPr>
            <a:spLocks noGrp="1"/>
          </p:cNvSpPr>
          <p:nvPr>
            <p:ph idx="1"/>
          </p:nvPr>
        </p:nvSpPr>
        <p:spPr/>
        <p:txBody>
          <a:bodyPr vert="horz" lIns="91440" tIns="45720" rIns="91440" bIns="45720" rtlCol="0" anchor="t">
            <a:normAutofit/>
          </a:bodyPr>
          <a:lstStyle/>
          <a:p>
            <a:pPr marL="0" indent="0">
              <a:buNone/>
            </a:pPr>
            <a:r>
              <a:rPr lang="es-ES" dirty="0"/>
              <a:t>Estos algoritmos se dividen en 3 los cuales son aprendizaje supervisado, no supervisado y por refuerzo. A continuación, daré dos ejercicios los cuales son los </a:t>
            </a:r>
            <a:r>
              <a:rPr lang="es-ES"/>
              <a:t>más</a:t>
            </a:r>
            <a:r>
              <a:rPr lang="es-ES" dirty="0"/>
              <a:t> importantes dentro de cada punto tomando en cuenta que cada uno de estos ejercicios fueron realizados dentro de visual </a:t>
            </a:r>
            <a:r>
              <a:rPr lang="es-ES" dirty="0" err="1"/>
              <a:t>studio</a:t>
            </a:r>
            <a:r>
              <a:rPr lang="es-ES" dirty="0"/>
              <a:t> </a:t>
            </a:r>
            <a:r>
              <a:rPr lang="es-ES" dirty="0" err="1"/>
              <a:t>code</a:t>
            </a:r>
            <a:r>
              <a:rPr lang="es-ES" dirty="0"/>
              <a:t> quedando de la siguiente manera:</a:t>
            </a:r>
          </a:p>
        </p:txBody>
      </p:sp>
    </p:spTree>
    <p:extLst>
      <p:ext uri="{BB962C8B-B14F-4D97-AF65-F5344CB8AC3E}">
        <p14:creationId xmlns:p14="http://schemas.microsoft.com/office/powerpoint/2010/main" val="2236591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1">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13" name="Freeform: Shape 12">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Freeform: Shape 13">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Freeform: Shape 14">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9" name="Freeform: Shape 15">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1" name="Group 17">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19" name="Freeform: Shape 18">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4178E2F0-5A99-00BB-05AE-4CA90C6C63B3}"/>
              </a:ext>
            </a:extLst>
          </p:cNvPr>
          <p:cNvSpPr>
            <a:spLocks noGrp="1"/>
          </p:cNvSpPr>
          <p:nvPr>
            <p:ph type="title"/>
          </p:nvPr>
        </p:nvSpPr>
        <p:spPr>
          <a:xfrm>
            <a:off x="804672" y="802955"/>
            <a:ext cx="5145024" cy="1454051"/>
          </a:xfrm>
        </p:spPr>
        <p:txBody>
          <a:bodyPr anchor="b">
            <a:normAutofit/>
          </a:bodyPr>
          <a:lstStyle/>
          <a:p>
            <a:r>
              <a:rPr lang="es-ES" sz="3600">
                <a:solidFill>
                  <a:schemeClr val="tx2"/>
                </a:solidFill>
              </a:rPr>
              <a:t>APRENDIZAJE SUPERVISADO</a:t>
            </a:r>
          </a:p>
        </p:txBody>
      </p:sp>
      <p:pic>
        <p:nvPicPr>
          <p:cNvPr id="5" name="Imagen 4">
            <a:extLst>
              <a:ext uri="{FF2B5EF4-FFF2-40B4-BE49-F238E27FC236}">
                <a16:creationId xmlns:a16="http://schemas.microsoft.com/office/drawing/2014/main" id="{50AC29BF-6410-95FE-5E49-2B56F6D02BCE}"/>
              </a:ext>
            </a:extLst>
          </p:cNvPr>
          <p:cNvPicPr>
            <a:picLocks noChangeAspect="1"/>
          </p:cNvPicPr>
          <p:nvPr/>
        </p:nvPicPr>
        <p:blipFill>
          <a:blip r:embed="rId2"/>
          <a:stretch>
            <a:fillRect/>
          </a:stretch>
        </p:blipFill>
        <p:spPr>
          <a:xfrm>
            <a:off x="6112589" y="809119"/>
            <a:ext cx="5461711" cy="1102521"/>
          </a:xfrm>
          <a:prstGeom prst="rect">
            <a:avLst/>
          </a:prstGeom>
        </p:spPr>
      </p:pic>
      <p:sp>
        <p:nvSpPr>
          <p:cNvPr id="3" name="Marcador de contenido 2">
            <a:extLst>
              <a:ext uri="{FF2B5EF4-FFF2-40B4-BE49-F238E27FC236}">
                <a16:creationId xmlns:a16="http://schemas.microsoft.com/office/drawing/2014/main" id="{173F325C-E80A-C3AB-74DA-A73080268381}"/>
              </a:ext>
            </a:extLst>
          </p:cNvPr>
          <p:cNvSpPr>
            <a:spLocks noGrp="1"/>
          </p:cNvSpPr>
          <p:nvPr>
            <p:ph idx="1"/>
          </p:nvPr>
        </p:nvSpPr>
        <p:spPr>
          <a:xfrm>
            <a:off x="804672" y="2421682"/>
            <a:ext cx="4553909" cy="3639289"/>
          </a:xfrm>
        </p:spPr>
        <p:txBody>
          <a:bodyPr vert="horz" lIns="91440" tIns="45720" rIns="91440" bIns="45720" rtlCol="0" anchor="ctr">
            <a:normAutofit/>
          </a:bodyPr>
          <a:lstStyle/>
          <a:p>
            <a:pPr marL="0" indent="0">
              <a:buNone/>
            </a:pPr>
            <a:r>
              <a:rPr lang="es-ES" sz="1800">
                <a:solidFill>
                  <a:schemeClr val="tx2"/>
                </a:solidFill>
              </a:rPr>
              <a:t>EJERCICIO REGRESION LINEAL: </a:t>
            </a:r>
            <a:r>
              <a:rPr lang="es-ES" sz="1800">
                <a:solidFill>
                  <a:schemeClr val="tx2"/>
                </a:solidFill>
                <a:ea typeface="+mn-lt"/>
                <a:cs typeface="+mn-lt"/>
              </a:rPr>
              <a:t>Predice el valor para 4 (resultado esperado cercano a 8).</a:t>
            </a:r>
          </a:p>
          <a:p>
            <a:pPr marL="0" indent="0">
              <a:buNone/>
            </a:pPr>
            <a:endParaRPr lang="es-ES" sz="1800">
              <a:solidFill>
                <a:schemeClr val="tx2"/>
              </a:solidFill>
            </a:endParaRPr>
          </a:p>
        </p:txBody>
      </p:sp>
      <p:pic>
        <p:nvPicPr>
          <p:cNvPr id="4" name="Imagen 3" descr="Texto&#10;&#10;El contenido generado por IA puede ser incorrecto.">
            <a:extLst>
              <a:ext uri="{FF2B5EF4-FFF2-40B4-BE49-F238E27FC236}">
                <a16:creationId xmlns:a16="http://schemas.microsoft.com/office/drawing/2014/main" id="{4E60E047-766F-383D-1DC6-25F6D20B97BC}"/>
              </a:ext>
            </a:extLst>
          </p:cNvPr>
          <p:cNvPicPr>
            <a:picLocks noChangeAspect="1"/>
          </p:cNvPicPr>
          <p:nvPr/>
        </p:nvPicPr>
        <p:blipFill>
          <a:blip r:embed="rId3"/>
          <a:stretch>
            <a:fillRect/>
          </a:stretch>
        </p:blipFill>
        <p:spPr>
          <a:xfrm>
            <a:off x="6090448" y="3226191"/>
            <a:ext cx="5244167" cy="2623338"/>
          </a:xfrm>
          <a:prstGeom prst="rect">
            <a:avLst/>
          </a:prstGeom>
        </p:spPr>
      </p:pic>
    </p:spTree>
    <p:extLst>
      <p:ext uri="{BB962C8B-B14F-4D97-AF65-F5344CB8AC3E}">
        <p14:creationId xmlns:p14="http://schemas.microsoft.com/office/powerpoint/2010/main" val="2739086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13" name="Freeform: Shape 12">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Freeform: Shape 13">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Freeform: Shape 14">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Freeform: Shape 15">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8" name="Group 17">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19" name="Freeform: Shape 18">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descr="Texto&#10;&#10;El contenido generado por IA puede ser incorrecto.">
            <a:extLst>
              <a:ext uri="{FF2B5EF4-FFF2-40B4-BE49-F238E27FC236}">
                <a16:creationId xmlns:a16="http://schemas.microsoft.com/office/drawing/2014/main" id="{7BD6787E-F46F-82BB-97FA-AE857DA3A2D7}"/>
              </a:ext>
            </a:extLst>
          </p:cNvPr>
          <p:cNvPicPr>
            <a:picLocks noChangeAspect="1"/>
          </p:cNvPicPr>
          <p:nvPr/>
        </p:nvPicPr>
        <p:blipFill>
          <a:blip r:embed="rId2"/>
          <a:stretch>
            <a:fillRect/>
          </a:stretch>
        </p:blipFill>
        <p:spPr>
          <a:xfrm>
            <a:off x="5249948" y="856667"/>
            <a:ext cx="4527183" cy="863652"/>
          </a:xfrm>
          <a:prstGeom prst="rect">
            <a:avLst/>
          </a:prstGeom>
        </p:spPr>
      </p:pic>
      <p:sp>
        <p:nvSpPr>
          <p:cNvPr id="3" name="Marcador de contenido 2">
            <a:extLst>
              <a:ext uri="{FF2B5EF4-FFF2-40B4-BE49-F238E27FC236}">
                <a16:creationId xmlns:a16="http://schemas.microsoft.com/office/drawing/2014/main" id="{37A29EDF-8A37-C774-E441-6F22921D7240}"/>
              </a:ext>
            </a:extLst>
          </p:cNvPr>
          <p:cNvSpPr>
            <a:spLocks noGrp="1"/>
          </p:cNvSpPr>
          <p:nvPr>
            <p:ph idx="1"/>
          </p:nvPr>
        </p:nvSpPr>
        <p:spPr>
          <a:xfrm>
            <a:off x="560257" y="1832210"/>
            <a:ext cx="4553909" cy="3639289"/>
          </a:xfrm>
        </p:spPr>
        <p:txBody>
          <a:bodyPr vert="horz" lIns="91440" tIns="45720" rIns="91440" bIns="45720" rtlCol="0" anchor="ctr">
            <a:normAutofit/>
          </a:bodyPr>
          <a:lstStyle/>
          <a:p>
            <a:pPr marL="0" indent="0">
              <a:buNone/>
            </a:pPr>
            <a:r>
              <a:rPr lang="es-ES" sz="1800">
                <a:solidFill>
                  <a:schemeClr val="tx2"/>
                </a:solidFill>
              </a:rPr>
              <a:t>EJERCICIO REGRESION LOGISTICA: </a:t>
            </a:r>
            <a:r>
              <a:rPr lang="es-ES" sz="1800">
                <a:solidFill>
                  <a:schemeClr val="tx2"/>
                </a:solidFill>
                <a:ea typeface="+mn-lt"/>
                <a:cs typeface="+mn-lt"/>
              </a:rPr>
              <a:t>Clasifica un valor (1.5) en una categoría (0 o 1). Es un modelo de clasificación, no de predicción continua.</a:t>
            </a:r>
          </a:p>
          <a:p>
            <a:pPr marL="0" indent="0">
              <a:buNone/>
            </a:pPr>
            <a:endParaRPr lang="es-ES" sz="1800">
              <a:solidFill>
                <a:schemeClr val="tx2"/>
              </a:solidFill>
            </a:endParaRPr>
          </a:p>
        </p:txBody>
      </p:sp>
      <p:pic>
        <p:nvPicPr>
          <p:cNvPr id="4" name="Imagen 3" descr="Texto&#10;&#10;El contenido generado por IA puede ser incorrecto.">
            <a:extLst>
              <a:ext uri="{FF2B5EF4-FFF2-40B4-BE49-F238E27FC236}">
                <a16:creationId xmlns:a16="http://schemas.microsoft.com/office/drawing/2014/main" id="{AE70C558-7F9E-3AFA-C10A-D17BE793A173}"/>
              </a:ext>
            </a:extLst>
          </p:cNvPr>
          <p:cNvPicPr>
            <a:picLocks noChangeAspect="1"/>
          </p:cNvPicPr>
          <p:nvPr/>
        </p:nvPicPr>
        <p:blipFill>
          <a:blip r:embed="rId3"/>
          <a:stretch>
            <a:fillRect/>
          </a:stretch>
        </p:blipFill>
        <p:spPr>
          <a:xfrm>
            <a:off x="5285314" y="2970809"/>
            <a:ext cx="5157905" cy="2257083"/>
          </a:xfrm>
          <a:prstGeom prst="rect">
            <a:avLst/>
          </a:prstGeom>
        </p:spPr>
      </p:pic>
    </p:spTree>
    <p:extLst>
      <p:ext uri="{BB962C8B-B14F-4D97-AF65-F5344CB8AC3E}">
        <p14:creationId xmlns:p14="http://schemas.microsoft.com/office/powerpoint/2010/main" val="194125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7B4FF8-DA01-556D-C80F-6B3538021B51}"/>
              </a:ext>
            </a:extLst>
          </p:cNvPr>
          <p:cNvSpPr>
            <a:spLocks noGrp="1"/>
          </p:cNvSpPr>
          <p:nvPr>
            <p:ph type="title"/>
          </p:nvPr>
        </p:nvSpPr>
        <p:spPr>
          <a:xfrm>
            <a:off x="762000" y="4954157"/>
            <a:ext cx="3810000" cy="1509703"/>
          </a:xfrm>
        </p:spPr>
        <p:txBody>
          <a:bodyPr anchor="t">
            <a:normAutofit/>
          </a:bodyPr>
          <a:lstStyle/>
          <a:p>
            <a:r>
              <a:rPr lang="es-ES" sz="3200"/>
              <a:t>APRENDIZAJE NO SUPERVISADO</a:t>
            </a:r>
          </a:p>
        </p:txBody>
      </p:sp>
      <p:pic>
        <p:nvPicPr>
          <p:cNvPr id="4" name="Imagen 3">
            <a:extLst>
              <a:ext uri="{FF2B5EF4-FFF2-40B4-BE49-F238E27FC236}">
                <a16:creationId xmlns:a16="http://schemas.microsoft.com/office/drawing/2014/main" id="{9423B9B6-AF75-C71F-FF2E-9B4B36CFA089}"/>
              </a:ext>
            </a:extLst>
          </p:cNvPr>
          <p:cNvPicPr>
            <a:picLocks noChangeAspect="1"/>
          </p:cNvPicPr>
          <p:nvPr/>
        </p:nvPicPr>
        <p:blipFill>
          <a:blip r:embed="rId2"/>
          <a:stretch>
            <a:fillRect/>
          </a:stretch>
        </p:blipFill>
        <p:spPr>
          <a:xfrm>
            <a:off x="755838" y="231723"/>
            <a:ext cx="5221426" cy="2317858"/>
          </a:xfrm>
          <a:prstGeom prst="rect">
            <a:avLst/>
          </a:prstGeom>
        </p:spPr>
      </p:pic>
      <p:pic>
        <p:nvPicPr>
          <p:cNvPr id="5" name="Imagen 4" descr="Interfaz de usuario gráfica, Texto&#10;&#10;El contenido generado por IA puede ser incorrecto.">
            <a:extLst>
              <a:ext uri="{FF2B5EF4-FFF2-40B4-BE49-F238E27FC236}">
                <a16:creationId xmlns:a16="http://schemas.microsoft.com/office/drawing/2014/main" id="{7E059FE5-566F-E2A2-8AA2-1A175655B72C}"/>
              </a:ext>
            </a:extLst>
          </p:cNvPr>
          <p:cNvPicPr>
            <a:picLocks noChangeAspect="1"/>
          </p:cNvPicPr>
          <p:nvPr/>
        </p:nvPicPr>
        <p:blipFill>
          <a:blip r:embed="rId3"/>
          <a:stretch>
            <a:fillRect/>
          </a:stretch>
        </p:blipFill>
        <p:spPr>
          <a:xfrm>
            <a:off x="870858" y="3099321"/>
            <a:ext cx="3309239" cy="719399"/>
          </a:xfrm>
          <a:prstGeom prst="rect">
            <a:avLst/>
          </a:prstGeom>
        </p:spPr>
      </p:pic>
      <p:cxnSp>
        <p:nvCxnSpPr>
          <p:cNvPr id="10" name="Straight Connector 9">
            <a:extLst>
              <a:ext uri="{FF2B5EF4-FFF2-40B4-BE49-F238E27FC236}">
                <a16:creationId xmlns:a16="http://schemas.microsoft.com/office/drawing/2014/main" id="{8C670C15-4E55-021E-79EA-BFCE4A460D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3609" y="468753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6C5746E7-8D9D-E4B3-19EE-1546D70FD3DC}"/>
              </a:ext>
            </a:extLst>
          </p:cNvPr>
          <p:cNvSpPr>
            <a:spLocks noGrp="1"/>
          </p:cNvSpPr>
          <p:nvPr>
            <p:ph idx="1"/>
          </p:nvPr>
        </p:nvSpPr>
        <p:spPr>
          <a:xfrm>
            <a:off x="4825043" y="3097716"/>
            <a:ext cx="6705600" cy="1272676"/>
          </a:xfrm>
        </p:spPr>
        <p:txBody>
          <a:bodyPr vert="horz" lIns="91440" tIns="45720" rIns="91440" bIns="45720" rtlCol="0" anchor="t">
            <a:normAutofit/>
          </a:bodyPr>
          <a:lstStyle/>
          <a:p>
            <a:pPr marL="0" indent="0">
              <a:buNone/>
            </a:pPr>
            <a:r>
              <a:rPr lang="es-ES" sz="2400"/>
              <a:t>EJERCICIO K-MEANS (CLUSTERING): </a:t>
            </a:r>
            <a:r>
              <a:rPr lang="es-ES" sz="2400">
                <a:ea typeface="+mn-lt"/>
                <a:cs typeface="+mn-lt"/>
              </a:rPr>
              <a:t>Agrupa los datos en 2 </a:t>
            </a:r>
            <a:r>
              <a:rPr lang="es-ES" sz="2400" err="1">
                <a:ea typeface="+mn-lt"/>
                <a:cs typeface="+mn-lt"/>
              </a:rPr>
              <a:t>clusters</a:t>
            </a:r>
            <a:r>
              <a:rPr lang="es-ES" sz="2400">
                <a:ea typeface="+mn-lt"/>
                <a:cs typeface="+mn-lt"/>
              </a:rPr>
              <a:t> según su cercanía.</a:t>
            </a:r>
          </a:p>
          <a:p>
            <a:pPr marL="0" indent="0">
              <a:buNone/>
            </a:pPr>
            <a:endParaRPr lang="es-ES" sz="2000"/>
          </a:p>
        </p:txBody>
      </p:sp>
    </p:spTree>
    <p:extLst>
      <p:ext uri="{BB962C8B-B14F-4D97-AF65-F5344CB8AC3E}">
        <p14:creationId xmlns:p14="http://schemas.microsoft.com/office/powerpoint/2010/main" val="4137651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13" name="Freeform: Shape 12">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Freeform: Shape 13">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Freeform: Shape 14">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Freeform: Shape 15">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8" name="Group 17">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19" name="Freeform: Shape 18">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descr="Texto&#10;&#10;El contenido generado por IA puede ser incorrecto.">
            <a:extLst>
              <a:ext uri="{FF2B5EF4-FFF2-40B4-BE49-F238E27FC236}">
                <a16:creationId xmlns:a16="http://schemas.microsoft.com/office/drawing/2014/main" id="{379E5F11-7389-9CF9-3A5D-5DB4D6E8EBCC}"/>
              </a:ext>
            </a:extLst>
          </p:cNvPr>
          <p:cNvPicPr>
            <a:picLocks noChangeAspect="1"/>
          </p:cNvPicPr>
          <p:nvPr/>
        </p:nvPicPr>
        <p:blipFill>
          <a:blip r:embed="rId2"/>
          <a:stretch>
            <a:fillRect/>
          </a:stretch>
        </p:blipFill>
        <p:spPr>
          <a:xfrm>
            <a:off x="5710023" y="665180"/>
            <a:ext cx="3477636" cy="714663"/>
          </a:xfrm>
          <a:prstGeom prst="rect">
            <a:avLst/>
          </a:prstGeom>
        </p:spPr>
      </p:pic>
      <p:sp>
        <p:nvSpPr>
          <p:cNvPr id="3" name="Marcador de contenido 2">
            <a:extLst>
              <a:ext uri="{FF2B5EF4-FFF2-40B4-BE49-F238E27FC236}">
                <a16:creationId xmlns:a16="http://schemas.microsoft.com/office/drawing/2014/main" id="{933FDFB7-0BCF-78D4-16AC-0B3226B85354}"/>
              </a:ext>
            </a:extLst>
          </p:cNvPr>
          <p:cNvSpPr>
            <a:spLocks noGrp="1"/>
          </p:cNvSpPr>
          <p:nvPr>
            <p:ph idx="1"/>
          </p:nvPr>
        </p:nvSpPr>
        <p:spPr>
          <a:xfrm>
            <a:off x="804672" y="2421682"/>
            <a:ext cx="4553909" cy="3639289"/>
          </a:xfrm>
        </p:spPr>
        <p:txBody>
          <a:bodyPr vert="horz" lIns="91440" tIns="45720" rIns="91440" bIns="45720" rtlCol="0" anchor="ctr">
            <a:normAutofit/>
          </a:bodyPr>
          <a:lstStyle/>
          <a:p>
            <a:pPr marL="0" indent="0" algn="just">
              <a:buNone/>
            </a:pPr>
            <a:r>
              <a:rPr lang="es-ES" sz="2000">
                <a:solidFill>
                  <a:schemeClr val="tx2"/>
                </a:solidFill>
              </a:rPr>
              <a:t>EJERCICIO DNSCAN: Este ejercicio hace </a:t>
            </a:r>
            <a:r>
              <a:rPr lang="es-ES" sz="2000">
                <a:solidFill>
                  <a:schemeClr val="tx2"/>
                </a:solidFill>
                <a:ea typeface="+mn-lt"/>
                <a:cs typeface="+mn-lt"/>
              </a:rPr>
              <a:t>agrupar puntos cercanos y detecta ruido (valores atípicos). Quedando de la siguiente menare dentro de visual </a:t>
            </a:r>
            <a:r>
              <a:rPr lang="es-ES" sz="2000" err="1">
                <a:solidFill>
                  <a:schemeClr val="tx2"/>
                </a:solidFill>
                <a:ea typeface="+mn-lt"/>
                <a:cs typeface="+mn-lt"/>
              </a:rPr>
              <a:t>studi</a:t>
            </a:r>
            <a:r>
              <a:rPr lang="es-ES" sz="2000">
                <a:solidFill>
                  <a:schemeClr val="tx2"/>
                </a:solidFill>
                <a:ea typeface="+mn-lt"/>
                <a:cs typeface="+mn-lt"/>
              </a:rPr>
              <a:t>o code:</a:t>
            </a:r>
            <a:endParaRPr lang="es-ES">
              <a:solidFill>
                <a:schemeClr val="tx2"/>
              </a:solidFill>
            </a:endParaRPr>
          </a:p>
          <a:p>
            <a:pPr marL="0" indent="0">
              <a:buNone/>
            </a:pPr>
            <a:endParaRPr lang="es-ES" sz="1800">
              <a:solidFill>
                <a:schemeClr val="tx2"/>
              </a:solidFill>
              <a:ea typeface="+mn-lt"/>
              <a:cs typeface="+mn-lt"/>
            </a:endParaRPr>
          </a:p>
        </p:txBody>
      </p:sp>
      <p:pic>
        <p:nvPicPr>
          <p:cNvPr id="4" name="Imagen 3" descr="Texto&#10;&#10;El contenido generado por IA puede ser incorrecto.">
            <a:extLst>
              <a:ext uri="{FF2B5EF4-FFF2-40B4-BE49-F238E27FC236}">
                <a16:creationId xmlns:a16="http://schemas.microsoft.com/office/drawing/2014/main" id="{0FF664D1-8919-0501-D56D-B42E0323363B}"/>
              </a:ext>
            </a:extLst>
          </p:cNvPr>
          <p:cNvPicPr>
            <a:picLocks noChangeAspect="1"/>
          </p:cNvPicPr>
          <p:nvPr/>
        </p:nvPicPr>
        <p:blipFill>
          <a:blip r:embed="rId3"/>
          <a:stretch>
            <a:fillRect/>
          </a:stretch>
        </p:blipFill>
        <p:spPr>
          <a:xfrm>
            <a:off x="7858861" y="3424131"/>
            <a:ext cx="4208999" cy="2184326"/>
          </a:xfrm>
          <a:prstGeom prst="rect">
            <a:avLst/>
          </a:prstGeom>
        </p:spPr>
      </p:pic>
    </p:spTree>
    <p:extLst>
      <p:ext uri="{BB962C8B-B14F-4D97-AF65-F5344CB8AC3E}">
        <p14:creationId xmlns:p14="http://schemas.microsoft.com/office/powerpoint/2010/main" val="2341447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ítulo 1">
            <a:extLst>
              <a:ext uri="{FF2B5EF4-FFF2-40B4-BE49-F238E27FC236}">
                <a16:creationId xmlns:a16="http://schemas.microsoft.com/office/drawing/2014/main" id="{A0956654-CF10-FFC9-C9EB-232FBA093620}"/>
              </a:ext>
            </a:extLst>
          </p:cNvPr>
          <p:cNvSpPr>
            <a:spLocks noGrp="1"/>
          </p:cNvSpPr>
          <p:nvPr>
            <p:ph type="title"/>
          </p:nvPr>
        </p:nvSpPr>
        <p:spPr>
          <a:xfrm>
            <a:off x="6392584" y="501651"/>
            <a:ext cx="4434720" cy="1716255"/>
          </a:xfrm>
        </p:spPr>
        <p:txBody>
          <a:bodyPr anchor="b">
            <a:normAutofit/>
          </a:bodyPr>
          <a:lstStyle/>
          <a:p>
            <a:r>
              <a:rPr lang="es-ES" sz="4800"/>
              <a:t>APRENDIZAJE POR REFUERZO</a:t>
            </a:r>
          </a:p>
        </p:txBody>
      </p:sp>
      <p:sp>
        <p:nvSpPr>
          <p:cNvPr id="12" name="Rectangle 11">
            <a:extLst>
              <a:ext uri="{FF2B5EF4-FFF2-40B4-BE49-F238E27FC236}">
                <a16:creationId xmlns:a16="http://schemas.microsoft.com/office/drawing/2014/main" id="{B5ABDEAA-B248-4182-B67C-A925338E7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008" y="252743"/>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Imagen 3" descr="Texto&#10;&#10;El contenido generado por IA puede ser incorrecto.">
            <a:extLst>
              <a:ext uri="{FF2B5EF4-FFF2-40B4-BE49-F238E27FC236}">
                <a16:creationId xmlns:a16="http://schemas.microsoft.com/office/drawing/2014/main" id="{6AFA9853-DD4F-CB68-B719-647B7E56FE17}"/>
              </a:ext>
            </a:extLst>
          </p:cNvPr>
          <p:cNvPicPr>
            <a:picLocks noChangeAspect="1"/>
          </p:cNvPicPr>
          <p:nvPr/>
        </p:nvPicPr>
        <p:blipFill>
          <a:blip r:embed="rId2"/>
          <a:stretch>
            <a:fillRect/>
          </a:stretch>
        </p:blipFill>
        <p:spPr>
          <a:xfrm>
            <a:off x="1021232" y="755548"/>
            <a:ext cx="4957550" cy="1893226"/>
          </a:xfrm>
          <a:prstGeom prst="rect">
            <a:avLst/>
          </a:prstGeom>
        </p:spPr>
      </p:pic>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49" y="3548095"/>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Marcador de contenido 2">
            <a:extLst>
              <a:ext uri="{FF2B5EF4-FFF2-40B4-BE49-F238E27FC236}">
                <a16:creationId xmlns:a16="http://schemas.microsoft.com/office/drawing/2014/main" id="{FF5D2232-A48C-33E9-FCE5-276CC3CF9CE3}"/>
              </a:ext>
            </a:extLst>
          </p:cNvPr>
          <p:cNvSpPr>
            <a:spLocks noGrp="1"/>
          </p:cNvSpPr>
          <p:nvPr>
            <p:ph idx="1"/>
          </p:nvPr>
        </p:nvSpPr>
        <p:spPr>
          <a:xfrm>
            <a:off x="6392583" y="2645922"/>
            <a:ext cx="4434721" cy="3710427"/>
          </a:xfrm>
        </p:spPr>
        <p:txBody>
          <a:bodyPr vert="horz" lIns="91440" tIns="45720" rIns="91440" bIns="45720" rtlCol="0" anchor="t">
            <a:normAutofit/>
          </a:bodyPr>
          <a:lstStyle/>
          <a:p>
            <a:pPr marL="0" indent="0">
              <a:buNone/>
            </a:pPr>
            <a:r>
              <a:rPr lang="es-ES" sz="2000"/>
              <a:t>EJERCICIO Q-LEARNING: Este ejercicio realiza lo que es a</a:t>
            </a:r>
            <a:r>
              <a:rPr lang="es-ES" sz="2000">
                <a:ea typeface="+mn-lt"/>
                <a:cs typeface="+mn-lt"/>
              </a:rPr>
              <a:t>prende mediante prueba y error qué acción tomar para llegar a un objetivo. Quedando de la siguiente manera:</a:t>
            </a:r>
          </a:p>
          <a:p>
            <a:pPr marL="0" indent="0">
              <a:buNone/>
            </a:pPr>
            <a:endParaRPr lang="es-ES" sz="2000">
              <a:ea typeface="+mn-lt"/>
              <a:cs typeface="+mn-lt"/>
            </a:endParaRPr>
          </a:p>
        </p:txBody>
      </p:sp>
      <p:pic>
        <p:nvPicPr>
          <p:cNvPr id="5" name="Imagen 4" descr="Texto&#10;&#10;El contenido generado por IA puede ser incorrecto.">
            <a:extLst>
              <a:ext uri="{FF2B5EF4-FFF2-40B4-BE49-F238E27FC236}">
                <a16:creationId xmlns:a16="http://schemas.microsoft.com/office/drawing/2014/main" id="{8292E763-0C7E-576C-232D-6DCE24F12324}"/>
              </a:ext>
            </a:extLst>
          </p:cNvPr>
          <p:cNvPicPr>
            <a:picLocks noChangeAspect="1"/>
          </p:cNvPicPr>
          <p:nvPr/>
        </p:nvPicPr>
        <p:blipFill>
          <a:blip r:embed="rId3"/>
          <a:stretch>
            <a:fillRect/>
          </a:stretch>
        </p:blipFill>
        <p:spPr>
          <a:xfrm>
            <a:off x="654351" y="4484939"/>
            <a:ext cx="4281815" cy="1168922"/>
          </a:xfrm>
          <a:prstGeom prst="rect">
            <a:avLst/>
          </a:prstGeom>
        </p:spPr>
      </p:pic>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965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7A72687-7B73-1FA0-6308-07AD63152663}"/>
              </a:ext>
            </a:extLst>
          </p:cNvPr>
          <p:cNvSpPr>
            <a:spLocks noGrp="1"/>
          </p:cNvSpPr>
          <p:nvPr>
            <p:ph idx="1"/>
          </p:nvPr>
        </p:nvSpPr>
        <p:spPr>
          <a:xfrm>
            <a:off x="366910" y="3051681"/>
            <a:ext cx="6894576" cy="1557298"/>
          </a:xfrm>
        </p:spPr>
        <p:txBody>
          <a:bodyPr vert="horz" lIns="91440" tIns="45720" rIns="91440" bIns="45720" rtlCol="0">
            <a:normAutofit/>
          </a:bodyPr>
          <a:lstStyle/>
          <a:p>
            <a:pPr marL="0" indent="0">
              <a:buNone/>
            </a:pPr>
            <a:r>
              <a:rPr lang="es-ES" sz="2200"/>
              <a:t>EJERCICIO SARSA: Este ejercicio realiza lo que es </a:t>
            </a:r>
            <a:r>
              <a:rPr lang="es-ES" sz="2200">
                <a:ea typeface="+mn-lt"/>
                <a:cs typeface="+mn-lt"/>
              </a:rPr>
              <a:t>similar a Q-Learning, pero aprende considerando la acción que realmente se toma. Quedando de la siguiente manera:</a:t>
            </a:r>
          </a:p>
          <a:p>
            <a:pPr marL="0" indent="0">
              <a:buNone/>
            </a:pPr>
            <a:endParaRPr lang="es-ES" sz="2200"/>
          </a:p>
        </p:txBody>
      </p:sp>
      <p:pic>
        <p:nvPicPr>
          <p:cNvPr id="4" name="Imagen 3" descr="Texto&#10;&#10;El contenido generado por IA puede ser incorrecto.">
            <a:extLst>
              <a:ext uri="{FF2B5EF4-FFF2-40B4-BE49-F238E27FC236}">
                <a16:creationId xmlns:a16="http://schemas.microsoft.com/office/drawing/2014/main" id="{799E1F51-53E5-76A1-119E-00267953E024}"/>
              </a:ext>
            </a:extLst>
          </p:cNvPr>
          <p:cNvPicPr>
            <a:picLocks noChangeAspect="1"/>
          </p:cNvPicPr>
          <p:nvPr/>
        </p:nvPicPr>
        <p:blipFill>
          <a:blip r:embed="rId2"/>
          <a:stretch>
            <a:fillRect/>
          </a:stretch>
        </p:blipFill>
        <p:spPr>
          <a:xfrm>
            <a:off x="6095425" y="286335"/>
            <a:ext cx="5538216" cy="2595513"/>
          </a:xfrm>
          <a:prstGeom prst="rect">
            <a:avLst/>
          </a:prstGeom>
        </p:spPr>
      </p:pic>
      <p:pic>
        <p:nvPicPr>
          <p:cNvPr id="5" name="Imagen 4" descr="Interfaz de usuario gráfica, Texto, Aplicación&#10;&#10;El contenido generado por IA puede ser incorrecto.">
            <a:extLst>
              <a:ext uri="{FF2B5EF4-FFF2-40B4-BE49-F238E27FC236}">
                <a16:creationId xmlns:a16="http://schemas.microsoft.com/office/drawing/2014/main" id="{E8592450-4751-2DC6-0902-3A7EBB965883}"/>
              </a:ext>
            </a:extLst>
          </p:cNvPr>
          <p:cNvPicPr>
            <a:picLocks noChangeAspect="1"/>
          </p:cNvPicPr>
          <p:nvPr/>
        </p:nvPicPr>
        <p:blipFill>
          <a:blip r:embed="rId3"/>
          <a:stretch>
            <a:fillRect/>
          </a:stretch>
        </p:blipFill>
        <p:spPr>
          <a:xfrm>
            <a:off x="6512368" y="4622974"/>
            <a:ext cx="3995928" cy="1088710"/>
          </a:xfrm>
          <a:prstGeom prst="rect">
            <a:avLst/>
          </a:prstGeom>
        </p:spPr>
      </p:pic>
    </p:spTree>
    <p:extLst>
      <p:ext uri="{BB962C8B-B14F-4D97-AF65-F5344CB8AC3E}">
        <p14:creationId xmlns:p14="http://schemas.microsoft.com/office/powerpoint/2010/main" val="1297269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258701-3BC7-1F80-2D8A-45C336DD8528}"/>
              </a:ext>
            </a:extLst>
          </p:cNvPr>
          <p:cNvSpPr>
            <a:spLocks noGrp="1"/>
          </p:cNvSpPr>
          <p:nvPr>
            <p:ph type="title"/>
          </p:nvPr>
        </p:nvSpPr>
        <p:spPr/>
        <p:txBody>
          <a:bodyPr/>
          <a:lstStyle/>
          <a:p>
            <a:r>
              <a:rPr lang="es-ES"/>
              <a:t>REDES NEURONALES ARTIFICIALES</a:t>
            </a:r>
          </a:p>
        </p:txBody>
      </p:sp>
      <p:sp>
        <p:nvSpPr>
          <p:cNvPr id="3" name="Marcador de contenido 2">
            <a:extLst>
              <a:ext uri="{FF2B5EF4-FFF2-40B4-BE49-F238E27FC236}">
                <a16:creationId xmlns:a16="http://schemas.microsoft.com/office/drawing/2014/main" id="{47F0DD57-A24C-1514-5877-A876A1F5B05A}"/>
              </a:ext>
            </a:extLst>
          </p:cNvPr>
          <p:cNvSpPr>
            <a:spLocks noGrp="1"/>
          </p:cNvSpPr>
          <p:nvPr>
            <p:ph idx="1"/>
          </p:nvPr>
        </p:nvSpPr>
        <p:spPr/>
        <p:txBody>
          <a:bodyPr vert="horz" lIns="91440" tIns="45720" rIns="91440" bIns="45720" rtlCol="0" anchor="t">
            <a:normAutofit/>
          </a:bodyPr>
          <a:lstStyle/>
          <a:p>
            <a:pPr marL="0" indent="0">
              <a:buNone/>
            </a:pPr>
            <a:r>
              <a:rPr lang="es-ES" dirty="0"/>
              <a:t>EJERCICIO REDES NEURONALES CONVOLUCIONALES (CNN): Este ejercicio </a:t>
            </a:r>
            <a:r>
              <a:rPr lang="es-ES" dirty="0">
                <a:ea typeface="+mn-lt"/>
                <a:cs typeface="+mn-lt"/>
              </a:rPr>
              <a:t>entrena una red que analiza imágenes pequeñas (matrices) para clasificar. </a:t>
            </a:r>
            <a:r>
              <a:rPr lang="es-ES">
                <a:ea typeface="+mn-lt"/>
                <a:cs typeface="+mn-lt"/>
              </a:rPr>
              <a:t>Quedando</a:t>
            </a:r>
            <a:r>
              <a:rPr lang="es-ES" dirty="0">
                <a:ea typeface="+mn-lt"/>
                <a:cs typeface="+mn-lt"/>
              </a:rPr>
              <a:t> de la siguiente manera:</a:t>
            </a:r>
          </a:p>
          <a:p>
            <a:pPr marL="0" indent="0">
              <a:buNone/>
            </a:pPr>
            <a:endParaRPr lang="es-ES" dirty="0"/>
          </a:p>
        </p:txBody>
      </p:sp>
      <p:pic>
        <p:nvPicPr>
          <p:cNvPr id="4" name="Imagen 3" descr="Texto&#10;&#10;El contenido generado por IA puede ser incorrecto.">
            <a:extLst>
              <a:ext uri="{FF2B5EF4-FFF2-40B4-BE49-F238E27FC236}">
                <a16:creationId xmlns:a16="http://schemas.microsoft.com/office/drawing/2014/main" id="{BEDC2650-445F-5F36-550D-B41470D099E2}"/>
              </a:ext>
            </a:extLst>
          </p:cNvPr>
          <p:cNvPicPr>
            <a:picLocks noChangeAspect="1"/>
          </p:cNvPicPr>
          <p:nvPr/>
        </p:nvPicPr>
        <p:blipFill>
          <a:blip r:embed="rId2"/>
          <a:stretch>
            <a:fillRect/>
          </a:stretch>
        </p:blipFill>
        <p:spPr>
          <a:xfrm>
            <a:off x="5974781" y="3368526"/>
            <a:ext cx="4900702" cy="2809516"/>
          </a:xfrm>
          <a:prstGeom prst="rect">
            <a:avLst/>
          </a:prstGeom>
        </p:spPr>
      </p:pic>
      <p:pic>
        <p:nvPicPr>
          <p:cNvPr id="5" name="Imagen 4">
            <a:extLst>
              <a:ext uri="{FF2B5EF4-FFF2-40B4-BE49-F238E27FC236}">
                <a16:creationId xmlns:a16="http://schemas.microsoft.com/office/drawing/2014/main" id="{F94BA5D5-29B4-3C84-027A-9523A638B1E6}"/>
              </a:ext>
            </a:extLst>
          </p:cNvPr>
          <p:cNvPicPr>
            <a:picLocks noChangeAspect="1"/>
          </p:cNvPicPr>
          <p:nvPr/>
        </p:nvPicPr>
        <p:blipFill>
          <a:blip r:embed="rId3"/>
          <a:stretch>
            <a:fillRect/>
          </a:stretch>
        </p:blipFill>
        <p:spPr>
          <a:xfrm>
            <a:off x="1106158" y="4182733"/>
            <a:ext cx="3883683" cy="591628"/>
          </a:xfrm>
          <a:prstGeom prst="rect">
            <a:avLst/>
          </a:prstGeom>
        </p:spPr>
      </p:pic>
    </p:spTree>
    <p:extLst>
      <p:ext uri="{BB962C8B-B14F-4D97-AF65-F5344CB8AC3E}">
        <p14:creationId xmlns:p14="http://schemas.microsoft.com/office/powerpoint/2010/main" val="3389183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062D90-2D65-4B9F-B28B-C68F817AC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67F19C3-C09C-4B70-8306-E0ACF405B7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01DC4A20-F1FA-4CA9-BCEC-949F9F4A7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7C81C7-8023-46F2-BA0F-B2E785DBEF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agen 3" descr="Texto&#10;&#10;El contenido generado por IA puede ser incorrecto.">
            <a:extLst>
              <a:ext uri="{FF2B5EF4-FFF2-40B4-BE49-F238E27FC236}">
                <a16:creationId xmlns:a16="http://schemas.microsoft.com/office/drawing/2014/main" id="{B22A693C-224D-60A8-AC11-B4B592E3DAFC}"/>
              </a:ext>
            </a:extLst>
          </p:cNvPr>
          <p:cNvPicPr>
            <a:picLocks noChangeAspect="1"/>
          </p:cNvPicPr>
          <p:nvPr/>
        </p:nvPicPr>
        <p:blipFill>
          <a:blip r:embed="rId2"/>
          <a:stretch>
            <a:fillRect/>
          </a:stretch>
        </p:blipFill>
        <p:spPr>
          <a:xfrm>
            <a:off x="291243" y="4480766"/>
            <a:ext cx="5222785" cy="1878197"/>
          </a:xfrm>
          <a:prstGeom prst="rect">
            <a:avLst/>
          </a:prstGeom>
          <a:effectLst>
            <a:outerShdw blurRad="508000" dist="101600" dir="5400000" algn="tl" rotWithShape="0">
              <a:prstClr val="black">
                <a:alpha val="10000"/>
              </a:prstClr>
            </a:outerShdw>
          </a:effectLst>
        </p:spPr>
      </p:pic>
      <p:pic>
        <p:nvPicPr>
          <p:cNvPr id="5" name="Imagen 4">
            <a:extLst>
              <a:ext uri="{FF2B5EF4-FFF2-40B4-BE49-F238E27FC236}">
                <a16:creationId xmlns:a16="http://schemas.microsoft.com/office/drawing/2014/main" id="{EEC66246-7723-FEC9-2C29-8A29DE053854}"/>
              </a:ext>
            </a:extLst>
          </p:cNvPr>
          <p:cNvPicPr>
            <a:picLocks noChangeAspect="1"/>
          </p:cNvPicPr>
          <p:nvPr/>
        </p:nvPicPr>
        <p:blipFill>
          <a:blip r:embed="rId3"/>
          <a:stretch>
            <a:fillRect/>
          </a:stretch>
        </p:blipFill>
        <p:spPr>
          <a:xfrm>
            <a:off x="636299" y="1713706"/>
            <a:ext cx="2952000" cy="705345"/>
          </a:xfrm>
          <a:prstGeom prst="rect">
            <a:avLst/>
          </a:prstGeom>
          <a:effectLst>
            <a:outerShdw blurRad="508000" dist="101600" dir="5400000" algn="tl" rotWithShape="0">
              <a:prstClr val="black">
                <a:alpha val="10000"/>
              </a:prstClr>
            </a:outerShdw>
          </a:effectLst>
        </p:spPr>
      </p:pic>
      <p:sp>
        <p:nvSpPr>
          <p:cNvPr id="3" name="Marcador de contenido 2">
            <a:extLst>
              <a:ext uri="{FF2B5EF4-FFF2-40B4-BE49-F238E27FC236}">
                <a16:creationId xmlns:a16="http://schemas.microsoft.com/office/drawing/2014/main" id="{A17E71F7-3934-CD8F-0E3D-52514F6D3B07}"/>
              </a:ext>
            </a:extLst>
          </p:cNvPr>
          <p:cNvSpPr>
            <a:spLocks noGrp="1"/>
          </p:cNvSpPr>
          <p:nvPr>
            <p:ph idx="1"/>
          </p:nvPr>
        </p:nvSpPr>
        <p:spPr>
          <a:xfrm>
            <a:off x="4619625" y="907143"/>
            <a:ext cx="6734175" cy="4920344"/>
          </a:xfrm>
        </p:spPr>
        <p:txBody>
          <a:bodyPr vert="horz" lIns="91440" tIns="45720" rIns="91440" bIns="45720" rtlCol="0" anchor="t">
            <a:normAutofit/>
          </a:bodyPr>
          <a:lstStyle/>
          <a:p>
            <a:pPr marL="0" indent="0">
              <a:buNone/>
            </a:pPr>
            <a:r>
              <a:rPr lang="es-ES" sz="4000">
                <a:solidFill>
                  <a:schemeClr val="tx1">
                    <a:alpha val="60000"/>
                  </a:schemeClr>
                </a:solidFill>
              </a:rPr>
              <a:t>EJERCICIO PERCEPTRON MULTICAPA (MLP): Este ejercicio </a:t>
            </a:r>
            <a:r>
              <a:rPr lang="es-ES" sz="4000">
                <a:solidFill>
                  <a:schemeClr val="tx1">
                    <a:alpha val="60000"/>
                  </a:schemeClr>
                </a:solidFill>
                <a:ea typeface="+mn-lt"/>
                <a:cs typeface="+mn-lt"/>
              </a:rPr>
              <a:t>aprende el comportamiento tipo XOR. Quedando de la siguiente manera:</a:t>
            </a:r>
          </a:p>
          <a:p>
            <a:pPr marL="0" indent="0">
              <a:buNone/>
            </a:pPr>
            <a:endParaRPr lang="es-ES" sz="4000">
              <a:solidFill>
                <a:schemeClr val="tx1">
                  <a:alpha val="60000"/>
                </a:schemeClr>
              </a:solidFill>
            </a:endParaRPr>
          </a:p>
        </p:txBody>
      </p:sp>
    </p:spTree>
    <p:extLst>
      <p:ext uri="{BB962C8B-B14F-4D97-AF65-F5344CB8AC3E}">
        <p14:creationId xmlns:p14="http://schemas.microsoft.com/office/powerpoint/2010/main" val="3239938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062D90-2D65-4B9F-B28B-C68F817AC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67F19C3-C09C-4B70-8306-E0ACF405B7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01DC4A20-F1FA-4CA9-BCEC-949F9F4A7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7C81C7-8023-46F2-BA0F-B2E785DBEF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0A6D8645-3B9D-2AED-0104-1A8FFD1D4EAC}"/>
              </a:ext>
            </a:extLst>
          </p:cNvPr>
          <p:cNvSpPr>
            <a:spLocks noGrp="1"/>
          </p:cNvSpPr>
          <p:nvPr>
            <p:ph type="title"/>
          </p:nvPr>
        </p:nvSpPr>
        <p:spPr>
          <a:xfrm>
            <a:off x="819031" y="785824"/>
            <a:ext cx="3224332" cy="953796"/>
          </a:xfrm>
        </p:spPr>
        <p:txBody>
          <a:bodyPr anchor="t">
            <a:noAutofit/>
          </a:bodyPr>
          <a:lstStyle/>
          <a:p>
            <a:r>
              <a:rPr lang="es-ES" sz="3600"/>
              <a:t>ALGORITMOS EVOLUTIVOS</a:t>
            </a:r>
          </a:p>
        </p:txBody>
      </p:sp>
      <p:pic>
        <p:nvPicPr>
          <p:cNvPr id="4" name="Imagen 3" descr="Texto&#10;&#10;El contenido generado por IA puede ser incorrecto.">
            <a:extLst>
              <a:ext uri="{FF2B5EF4-FFF2-40B4-BE49-F238E27FC236}">
                <a16:creationId xmlns:a16="http://schemas.microsoft.com/office/drawing/2014/main" id="{D4FF4419-2243-7E8E-DD39-78E7FA04A142}"/>
              </a:ext>
            </a:extLst>
          </p:cNvPr>
          <p:cNvPicPr>
            <a:picLocks noChangeAspect="1"/>
          </p:cNvPicPr>
          <p:nvPr/>
        </p:nvPicPr>
        <p:blipFill>
          <a:blip r:embed="rId2"/>
          <a:stretch>
            <a:fillRect/>
          </a:stretch>
        </p:blipFill>
        <p:spPr>
          <a:xfrm>
            <a:off x="1081997" y="2750179"/>
            <a:ext cx="2951164" cy="1236521"/>
          </a:xfrm>
          <a:prstGeom prst="rect">
            <a:avLst/>
          </a:prstGeom>
          <a:effectLst>
            <a:outerShdw blurRad="508000" dist="101600" dir="5400000" algn="tl" rotWithShape="0">
              <a:prstClr val="black">
                <a:alpha val="10000"/>
              </a:prstClr>
            </a:outerShdw>
          </a:effectLst>
        </p:spPr>
      </p:pic>
      <p:pic>
        <p:nvPicPr>
          <p:cNvPr id="5" name="Imagen 4" descr="Texto&#10;&#10;El contenido generado por IA puede ser incorrecto.">
            <a:extLst>
              <a:ext uri="{FF2B5EF4-FFF2-40B4-BE49-F238E27FC236}">
                <a16:creationId xmlns:a16="http://schemas.microsoft.com/office/drawing/2014/main" id="{D9D95838-D492-9609-CFEB-9222B75FB648}"/>
              </a:ext>
            </a:extLst>
          </p:cNvPr>
          <p:cNvPicPr>
            <a:picLocks noChangeAspect="1"/>
          </p:cNvPicPr>
          <p:nvPr/>
        </p:nvPicPr>
        <p:blipFill>
          <a:blip r:embed="rId3"/>
          <a:stretch>
            <a:fillRect/>
          </a:stretch>
        </p:blipFill>
        <p:spPr>
          <a:xfrm>
            <a:off x="1081997" y="5145156"/>
            <a:ext cx="2952000" cy="623818"/>
          </a:xfrm>
          <a:prstGeom prst="rect">
            <a:avLst/>
          </a:prstGeom>
          <a:effectLst>
            <a:outerShdw blurRad="508000" dist="101600" dir="5400000" algn="tl" rotWithShape="0">
              <a:prstClr val="black">
                <a:alpha val="10000"/>
              </a:prstClr>
            </a:outerShdw>
          </a:effectLst>
        </p:spPr>
      </p:pic>
      <p:sp>
        <p:nvSpPr>
          <p:cNvPr id="3" name="Marcador de contenido 2">
            <a:extLst>
              <a:ext uri="{FF2B5EF4-FFF2-40B4-BE49-F238E27FC236}">
                <a16:creationId xmlns:a16="http://schemas.microsoft.com/office/drawing/2014/main" id="{F2D0C0FE-712F-791D-4590-DCD8797D8CA0}"/>
              </a:ext>
            </a:extLst>
          </p:cNvPr>
          <p:cNvSpPr>
            <a:spLocks noGrp="1"/>
          </p:cNvSpPr>
          <p:nvPr>
            <p:ph idx="1"/>
          </p:nvPr>
        </p:nvSpPr>
        <p:spPr>
          <a:xfrm>
            <a:off x="4705889" y="1870426"/>
            <a:ext cx="6734175" cy="3583250"/>
          </a:xfrm>
        </p:spPr>
        <p:txBody>
          <a:bodyPr vert="horz" lIns="91440" tIns="45720" rIns="91440" bIns="45720" rtlCol="0" anchor="t">
            <a:normAutofit/>
          </a:bodyPr>
          <a:lstStyle/>
          <a:p>
            <a:pPr marL="0" indent="0">
              <a:buNone/>
            </a:pPr>
            <a:r>
              <a:rPr lang="es-ES" sz="3600"/>
              <a:t>EJERCICIO ALGORITMOS DE COLONIA DE HORMIGAS (ACO): Este ejercicio </a:t>
            </a:r>
            <a:r>
              <a:rPr lang="es-ES" sz="3600">
                <a:ea typeface="+mn-lt"/>
                <a:cs typeface="+mn-lt"/>
              </a:rPr>
              <a:t>simula cómo las hormigas refuerzan caminos más usados (optimización). Quedando de la siguiente manera:</a:t>
            </a:r>
            <a:endParaRPr lang="es-ES" sz="3600"/>
          </a:p>
          <a:p>
            <a:pPr marL="0" indent="0">
              <a:buNone/>
            </a:pPr>
            <a:endParaRPr lang="es-ES" sz="4000">
              <a:solidFill>
                <a:schemeClr val="tx1">
                  <a:alpha val="60000"/>
                </a:schemeClr>
              </a:solidFill>
              <a:ea typeface="+mn-lt"/>
              <a:cs typeface="+mn-lt"/>
            </a:endParaRPr>
          </a:p>
        </p:txBody>
      </p:sp>
    </p:spTree>
    <p:extLst>
      <p:ext uri="{BB962C8B-B14F-4D97-AF65-F5344CB8AC3E}">
        <p14:creationId xmlns:p14="http://schemas.microsoft.com/office/powerpoint/2010/main" val="3380243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13" name="Freeform: Shape 12">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Freeform: Shape 13">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Freeform: Shape 14">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Freeform: Shape 15">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8" name="Group 17">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19" name="Freeform: Shape 18">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descr="Texto&#10;&#10;El contenido generado por IA puede ser incorrecto.">
            <a:extLst>
              <a:ext uri="{FF2B5EF4-FFF2-40B4-BE49-F238E27FC236}">
                <a16:creationId xmlns:a16="http://schemas.microsoft.com/office/drawing/2014/main" id="{F4E9442E-E363-C2CC-96EE-4CBE8E1C7BA5}"/>
              </a:ext>
            </a:extLst>
          </p:cNvPr>
          <p:cNvPicPr>
            <a:picLocks noChangeAspect="1"/>
          </p:cNvPicPr>
          <p:nvPr/>
        </p:nvPicPr>
        <p:blipFill>
          <a:blip r:embed="rId2"/>
          <a:stretch>
            <a:fillRect/>
          </a:stretch>
        </p:blipFill>
        <p:spPr>
          <a:xfrm>
            <a:off x="5796287" y="968047"/>
            <a:ext cx="3707673" cy="741534"/>
          </a:xfrm>
          <a:prstGeom prst="rect">
            <a:avLst/>
          </a:prstGeom>
        </p:spPr>
      </p:pic>
      <p:sp>
        <p:nvSpPr>
          <p:cNvPr id="3" name="Marcador de contenido 2">
            <a:extLst>
              <a:ext uri="{FF2B5EF4-FFF2-40B4-BE49-F238E27FC236}">
                <a16:creationId xmlns:a16="http://schemas.microsoft.com/office/drawing/2014/main" id="{54394732-F7A2-6E1E-1025-84B37F9D5762}"/>
              </a:ext>
            </a:extLst>
          </p:cNvPr>
          <p:cNvSpPr>
            <a:spLocks noGrp="1"/>
          </p:cNvSpPr>
          <p:nvPr>
            <p:ph idx="1"/>
          </p:nvPr>
        </p:nvSpPr>
        <p:spPr>
          <a:xfrm>
            <a:off x="804672" y="2421682"/>
            <a:ext cx="4553909" cy="3639289"/>
          </a:xfrm>
        </p:spPr>
        <p:txBody>
          <a:bodyPr vert="horz" lIns="91440" tIns="45720" rIns="91440" bIns="45720" rtlCol="0" anchor="ctr">
            <a:normAutofit/>
          </a:bodyPr>
          <a:lstStyle/>
          <a:p>
            <a:pPr marL="0" indent="0">
              <a:buNone/>
            </a:pPr>
            <a:r>
              <a:rPr lang="es-ES" sz="1800">
                <a:solidFill>
                  <a:schemeClr val="tx2"/>
                </a:solidFill>
              </a:rPr>
              <a:t>EJERCICIO ALGORITMOS DE ENJAMBRE DE PARTICULAS (PSO): Este ejercicio </a:t>
            </a:r>
            <a:r>
              <a:rPr lang="es-ES" sz="1800">
                <a:solidFill>
                  <a:schemeClr val="tx2"/>
                </a:solidFill>
                <a:ea typeface="+mn-lt"/>
                <a:cs typeface="+mn-lt"/>
              </a:rPr>
              <a:t>busca la mejor solución moviendo partículas en el espacio. Quedando de la siguiente manera:</a:t>
            </a:r>
          </a:p>
          <a:p>
            <a:pPr marL="0" indent="0">
              <a:buNone/>
            </a:pPr>
            <a:endParaRPr lang="es-ES" sz="1800">
              <a:solidFill>
                <a:schemeClr val="tx2"/>
              </a:solidFill>
            </a:endParaRPr>
          </a:p>
        </p:txBody>
      </p:sp>
      <p:pic>
        <p:nvPicPr>
          <p:cNvPr id="4" name="Imagen 3" descr="Texto&#10;&#10;El contenido generado por IA puede ser incorrecto.">
            <a:extLst>
              <a:ext uri="{FF2B5EF4-FFF2-40B4-BE49-F238E27FC236}">
                <a16:creationId xmlns:a16="http://schemas.microsoft.com/office/drawing/2014/main" id="{1A763C0C-DEFC-783C-42F1-E19DF863D5D0}"/>
              </a:ext>
            </a:extLst>
          </p:cNvPr>
          <p:cNvPicPr>
            <a:picLocks noChangeAspect="1"/>
          </p:cNvPicPr>
          <p:nvPr/>
        </p:nvPicPr>
        <p:blipFill>
          <a:blip r:embed="rId3"/>
          <a:stretch>
            <a:fillRect/>
          </a:stretch>
        </p:blipFill>
        <p:spPr>
          <a:xfrm>
            <a:off x="7513804" y="3859328"/>
            <a:ext cx="4539678" cy="2047177"/>
          </a:xfrm>
          <a:prstGeom prst="rect">
            <a:avLst/>
          </a:prstGeom>
        </p:spPr>
      </p:pic>
    </p:spTree>
    <p:extLst>
      <p:ext uri="{BB962C8B-B14F-4D97-AF65-F5344CB8AC3E}">
        <p14:creationId xmlns:p14="http://schemas.microsoft.com/office/powerpoint/2010/main" val="2591372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062D90-2D65-4B9F-B28B-C68F817AC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67F19C3-C09C-4B70-8306-E0ACF405B7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01DC4A20-F1FA-4CA9-BCEC-949F9F4A7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7C81C7-8023-46F2-BA0F-B2E785DBEF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agen 3" descr="Texto&#10;&#10;El contenido generado por IA puede ser incorrecto.">
            <a:extLst>
              <a:ext uri="{FF2B5EF4-FFF2-40B4-BE49-F238E27FC236}">
                <a16:creationId xmlns:a16="http://schemas.microsoft.com/office/drawing/2014/main" id="{0FF7024D-409A-220A-D103-736B06878CEB}"/>
              </a:ext>
            </a:extLst>
          </p:cNvPr>
          <p:cNvPicPr>
            <a:picLocks noChangeAspect="1"/>
          </p:cNvPicPr>
          <p:nvPr/>
        </p:nvPicPr>
        <p:blipFill>
          <a:blip r:embed="rId2"/>
          <a:stretch>
            <a:fillRect/>
          </a:stretch>
        </p:blipFill>
        <p:spPr>
          <a:xfrm>
            <a:off x="348751" y="587255"/>
            <a:ext cx="4085429" cy="2781218"/>
          </a:xfrm>
          <a:prstGeom prst="rect">
            <a:avLst/>
          </a:prstGeom>
          <a:effectLst>
            <a:outerShdw blurRad="508000" dist="101600" dir="5400000" algn="tl" rotWithShape="0">
              <a:prstClr val="black">
                <a:alpha val="10000"/>
              </a:prstClr>
            </a:outerShdw>
          </a:effectLst>
        </p:spPr>
      </p:pic>
      <p:pic>
        <p:nvPicPr>
          <p:cNvPr id="5" name="Imagen 4">
            <a:extLst>
              <a:ext uri="{FF2B5EF4-FFF2-40B4-BE49-F238E27FC236}">
                <a16:creationId xmlns:a16="http://schemas.microsoft.com/office/drawing/2014/main" id="{DCDF0130-3DAE-B16E-ABF0-C538155FC716}"/>
              </a:ext>
            </a:extLst>
          </p:cNvPr>
          <p:cNvPicPr>
            <a:picLocks noChangeAspect="1"/>
          </p:cNvPicPr>
          <p:nvPr/>
        </p:nvPicPr>
        <p:blipFill>
          <a:blip r:embed="rId3"/>
          <a:stretch>
            <a:fillRect/>
          </a:stretch>
        </p:blipFill>
        <p:spPr>
          <a:xfrm>
            <a:off x="794450" y="4499307"/>
            <a:ext cx="2952000" cy="622687"/>
          </a:xfrm>
          <a:prstGeom prst="rect">
            <a:avLst/>
          </a:prstGeom>
          <a:effectLst>
            <a:outerShdw blurRad="508000" dist="101600" dir="5400000" algn="tl" rotWithShape="0">
              <a:prstClr val="black">
                <a:alpha val="10000"/>
              </a:prstClr>
            </a:outerShdw>
          </a:effectLst>
        </p:spPr>
      </p:pic>
      <p:sp>
        <p:nvSpPr>
          <p:cNvPr id="3" name="Marcador de contenido 2">
            <a:extLst>
              <a:ext uri="{FF2B5EF4-FFF2-40B4-BE49-F238E27FC236}">
                <a16:creationId xmlns:a16="http://schemas.microsoft.com/office/drawing/2014/main" id="{948D2D53-1AE7-5C6A-CD77-E49F3BFFB68F}"/>
              </a:ext>
            </a:extLst>
          </p:cNvPr>
          <p:cNvSpPr>
            <a:spLocks noGrp="1"/>
          </p:cNvSpPr>
          <p:nvPr>
            <p:ph idx="1"/>
          </p:nvPr>
        </p:nvSpPr>
        <p:spPr>
          <a:xfrm>
            <a:off x="4619625" y="907143"/>
            <a:ext cx="6734175" cy="4920344"/>
          </a:xfrm>
        </p:spPr>
        <p:txBody>
          <a:bodyPr vert="horz" lIns="91440" tIns="45720" rIns="91440" bIns="45720" rtlCol="0" anchor="t">
            <a:normAutofit/>
          </a:bodyPr>
          <a:lstStyle/>
          <a:p>
            <a:pPr marL="0" indent="0">
              <a:buNone/>
            </a:pPr>
            <a:r>
              <a:rPr lang="es-ES" sz="4000">
                <a:solidFill>
                  <a:schemeClr val="tx1">
                    <a:alpha val="60000"/>
                  </a:schemeClr>
                </a:solidFill>
              </a:rPr>
              <a:t>EJERCICIO ALGORITMOS GENETICOS (GA): Este ejercicio realiza </a:t>
            </a:r>
            <a:r>
              <a:rPr lang="es-ES" sz="4000">
                <a:solidFill>
                  <a:schemeClr val="tx1">
                    <a:alpha val="60000"/>
                  </a:schemeClr>
                </a:solidFill>
                <a:ea typeface="+mn-lt"/>
                <a:cs typeface="+mn-lt"/>
              </a:rPr>
              <a:t>buscar el número más alto usando evolución. Quedando de la siguiente manera: </a:t>
            </a:r>
            <a:endParaRPr lang="es-ES" sz="4000">
              <a:solidFill>
                <a:schemeClr val="tx1">
                  <a:alpha val="60000"/>
                </a:schemeClr>
              </a:solidFill>
            </a:endParaRPr>
          </a:p>
          <a:p>
            <a:pPr marL="0" indent="0">
              <a:buNone/>
            </a:pPr>
            <a:endParaRPr lang="es-ES" sz="4000">
              <a:solidFill>
                <a:schemeClr val="tx1">
                  <a:alpha val="60000"/>
                </a:schemeClr>
              </a:solidFill>
            </a:endParaRPr>
          </a:p>
          <a:p>
            <a:pPr marL="0" indent="0">
              <a:buNone/>
            </a:pPr>
            <a:endParaRPr lang="es-ES" sz="4000">
              <a:solidFill>
                <a:schemeClr val="tx1">
                  <a:alpha val="60000"/>
                </a:schemeClr>
              </a:solidFill>
            </a:endParaRPr>
          </a:p>
        </p:txBody>
      </p:sp>
    </p:spTree>
    <p:extLst>
      <p:ext uri="{BB962C8B-B14F-4D97-AF65-F5344CB8AC3E}">
        <p14:creationId xmlns:p14="http://schemas.microsoft.com/office/powerpoint/2010/main" val="547355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1A963D3-8236-752B-E5BA-C6D451E84562}"/>
              </a:ext>
            </a:extLst>
          </p:cNvPr>
          <p:cNvSpPr>
            <a:spLocks noGrp="1"/>
          </p:cNvSpPr>
          <p:nvPr>
            <p:ph type="title"/>
          </p:nvPr>
        </p:nvSpPr>
        <p:spPr>
          <a:xfrm>
            <a:off x="1156851" y="637762"/>
            <a:ext cx="9888496" cy="900131"/>
          </a:xfrm>
        </p:spPr>
        <p:txBody>
          <a:bodyPr anchor="t">
            <a:normAutofit/>
          </a:bodyPr>
          <a:lstStyle/>
          <a:p>
            <a:r>
              <a:rPr lang="es-ES" sz="4000">
                <a:solidFill>
                  <a:schemeClr val="bg1"/>
                </a:solidFill>
              </a:rPr>
              <a:t>CONCLUSIÓN</a:t>
            </a:r>
          </a:p>
        </p:txBody>
      </p:sp>
      <p:sp>
        <p:nvSpPr>
          <p:cNvPr id="27" name="Rectangle 26">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5C478F3-5560-3488-DC6C-1367AE061EA2}"/>
              </a:ext>
            </a:extLst>
          </p:cNvPr>
          <p:cNvSpPr>
            <a:spLocks noGrp="1"/>
          </p:cNvSpPr>
          <p:nvPr>
            <p:ph idx="1"/>
          </p:nvPr>
        </p:nvSpPr>
        <p:spPr>
          <a:xfrm>
            <a:off x="1155548" y="2217343"/>
            <a:ext cx="9880893" cy="3959619"/>
          </a:xfrm>
        </p:spPr>
        <p:txBody>
          <a:bodyPr vert="horz" lIns="91440" tIns="45720" rIns="91440" bIns="45720" rtlCol="0" anchor="t">
            <a:normAutofit/>
          </a:bodyPr>
          <a:lstStyle/>
          <a:p>
            <a:pPr algn="just">
              <a:buNone/>
            </a:pPr>
            <a:r>
              <a:rPr lang="es-ES" sz="2200">
                <a:ea typeface="+mn-lt"/>
                <a:cs typeface="+mn-lt"/>
              </a:rPr>
              <a:t>En esta práctica se logró comprender de manera general el funcionamiento de diversos algoritmos de Inteligencia Artificial y su importancia en la actualidad. Cada uno de los modelos implementados presenta características particulares que los hacen útiles para diferentes tipos de problemas, desde la clasificación y agrupación de datos hasta la optimización y el aprendizaje mediante experiencia. De manera personal, considero que el uso de Python facilita mucho la implementación de estos algoritmos gracias a sus librerías, lo que permite enfocarse más en la lógica que en la complejidad del código. Además, esta práctica me ayudó a entender mejor cómo la IA está presente en muchas aplicaciones cotidianas, lo que refuerza la importancia de seguir aprendiendo sobre este campo.</a:t>
            </a:r>
            <a:endParaRPr lang="es-ES"/>
          </a:p>
          <a:p>
            <a:pPr marL="0" indent="0" algn="just">
              <a:buNone/>
            </a:pPr>
            <a:endParaRPr lang="es-ES" sz="2200" dirty="0"/>
          </a:p>
          <a:p>
            <a:pPr marL="0" indent="0">
              <a:buNone/>
            </a:pPr>
            <a:endParaRPr lang="es-ES" sz="2200"/>
          </a:p>
        </p:txBody>
      </p:sp>
    </p:spTree>
    <p:extLst>
      <p:ext uri="{BB962C8B-B14F-4D97-AF65-F5344CB8AC3E}">
        <p14:creationId xmlns:p14="http://schemas.microsoft.com/office/powerpoint/2010/main" val="15567321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23</Slides>
  <Notes>0</Notes>
  <HiddenSlides>0</HiddenSlides>
  <MMClips>0</MMClips>
  <ScaleCrop>false</ScaleCrop>
  <HeadingPairs>
    <vt:vector size="4" baseType="variant">
      <vt:variant>
        <vt:lpstr>Tema</vt:lpstr>
      </vt:variant>
      <vt:variant>
        <vt:i4>1</vt:i4>
      </vt:variant>
      <vt:variant>
        <vt:lpstr>Títulos de diapositiva</vt:lpstr>
      </vt:variant>
      <vt:variant>
        <vt:i4>23</vt:i4>
      </vt:variant>
    </vt:vector>
  </HeadingPairs>
  <TitlesOfParts>
    <vt:vector size="24" baseType="lpstr">
      <vt:lpstr>Tema de Office</vt:lpstr>
      <vt:lpstr>Presentación de PowerPoint</vt:lpstr>
      <vt:lpstr>INTRODUCCIÓN</vt:lpstr>
      <vt:lpstr>JUSTIFICACIÓN</vt:lpstr>
      <vt:lpstr>ALGORITMOS DE BÚSQUEDA</vt:lpstr>
      <vt:lpstr>BFS (Breadth-First Search) – Búsqueda en Anchura</vt:lpstr>
      <vt:lpstr>DFS (Depth-First Search) – Búsqueda en Profundidad</vt:lpstr>
      <vt:lpstr>A* (A Estrella)</vt:lpstr>
      <vt:lpstr>UCS (Uniform Cost Search)</vt:lpstr>
      <vt:lpstr>Greedy Best First Search</vt:lpstr>
      <vt:lpstr>IDS (Iterative Deepening Search)</vt:lpstr>
      <vt:lpstr>ALGORITMOS DE APRENDIZAJE AUTOMATICO</vt:lpstr>
      <vt:lpstr>APRENDIZAJE SUPERVISADO</vt:lpstr>
      <vt:lpstr>Presentación de PowerPoint</vt:lpstr>
      <vt:lpstr>APRENDIZAJE NO SUPERVISADO</vt:lpstr>
      <vt:lpstr>Presentación de PowerPoint</vt:lpstr>
      <vt:lpstr>APRENDIZAJE POR REFUERZO</vt:lpstr>
      <vt:lpstr>Presentación de PowerPoint</vt:lpstr>
      <vt:lpstr>REDES NEURONALES ARTIFICIALES</vt:lpstr>
      <vt:lpstr>Presentación de PowerPoint</vt:lpstr>
      <vt:lpstr>ALGORITMOS EVOLUTIVOS</vt:lpstr>
      <vt:lpstr>Presentación de PowerPoint</vt:lpstr>
      <vt:lpstr>Presentación de PowerPoint</vt:lpstr>
      <vt:lpstr>CONCLUSIÓN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510</cp:revision>
  <dcterms:created xsi:type="dcterms:W3CDTF">2026-03-14T01:09:40Z</dcterms:created>
  <dcterms:modified xsi:type="dcterms:W3CDTF">2026-03-26T18:42:47Z</dcterms:modified>
</cp:coreProperties>
</file>