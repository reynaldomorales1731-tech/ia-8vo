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3E3FB8-B256-950E-0EBB-3F456E0A9F0A}" v="11" dt="2026-03-26T18:41:39.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26/03/2026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26/03/2026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26/03/2026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26/03/2026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dirty="0">
                <a:latin typeface="Arial"/>
                <a:cs typeface="Segoe UI"/>
              </a:rPr>
              <a:t>REPORTE DE PRACTICA</a:t>
            </a:r>
          </a:p>
          <a:p>
            <a:pPr algn="ctr"/>
            <a:endParaRPr lang="en-US" sz="1400">
              <a:latin typeface="Arial"/>
              <a:cs typeface="Segoe UI"/>
            </a:endParaRPr>
          </a:p>
          <a:p>
            <a:pPr algn="ctr"/>
            <a:r>
              <a:rPr lang="es-ES" sz="1400" dirty="0">
                <a:latin typeface="Arial"/>
                <a:cs typeface="Segoe UI"/>
              </a:rPr>
              <a:t>INTELIGENCIA ARTIFICIAL</a:t>
            </a: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dirty="0">
                <a:latin typeface="Arial"/>
                <a:cs typeface="Segoe UI"/>
              </a:rPr>
              <a:t>Fecha:  09 de </a:t>
            </a:r>
            <a:r>
              <a:rPr lang="es-ES" sz="1400">
                <a:latin typeface="Arial"/>
                <a:cs typeface="Segoe UI"/>
              </a:rPr>
              <a:t>marzo</a:t>
            </a:r>
            <a:r>
              <a:rPr lang="es-ES" sz="1400" dirty="0">
                <a:latin typeface="Arial"/>
                <a:cs typeface="Segoe UI"/>
              </a:rPr>
              <a:t>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9D9A5FE-4138-3752-2DD0-2CA994982D2E}"/>
              </a:ext>
            </a:extLst>
          </p:cNvPr>
          <p:cNvSpPr>
            <a:spLocks noGrp="1"/>
          </p:cNvSpPr>
          <p:nvPr>
            <p:ph type="title"/>
          </p:nvPr>
        </p:nvSpPr>
        <p:spPr>
          <a:xfrm>
            <a:off x="466722" y="586855"/>
            <a:ext cx="3201366" cy="3387497"/>
          </a:xfrm>
        </p:spPr>
        <p:txBody>
          <a:bodyPr anchor="b">
            <a:normAutofit/>
          </a:bodyPr>
          <a:lstStyle/>
          <a:p>
            <a:pPr algn="r"/>
            <a:r>
              <a:rPr lang="es-ES" sz="3400">
                <a:solidFill>
                  <a:srgbClr val="FFFFFF"/>
                </a:solidFill>
              </a:rPr>
              <a:t>INTRODUCCIÓN</a:t>
            </a:r>
          </a:p>
        </p:txBody>
      </p:sp>
      <p:sp>
        <p:nvSpPr>
          <p:cNvPr id="3" name="Marcador de contenido 2">
            <a:extLst>
              <a:ext uri="{FF2B5EF4-FFF2-40B4-BE49-F238E27FC236}">
                <a16:creationId xmlns:a16="http://schemas.microsoft.com/office/drawing/2014/main" id="{1292A341-6356-BF0C-F668-E85AD9BB5AC7}"/>
              </a:ext>
            </a:extLst>
          </p:cNvPr>
          <p:cNvSpPr>
            <a:spLocks noGrp="1"/>
          </p:cNvSpPr>
          <p:nvPr>
            <p:ph idx="1"/>
          </p:nvPr>
        </p:nvSpPr>
        <p:spPr>
          <a:xfrm>
            <a:off x="4810259" y="649480"/>
            <a:ext cx="6555347" cy="5546047"/>
          </a:xfrm>
        </p:spPr>
        <p:txBody>
          <a:bodyPr vert="horz" lIns="91440" tIns="45720" rIns="91440" bIns="45720" rtlCol="0" anchor="ctr">
            <a:normAutofit/>
          </a:bodyPr>
          <a:lstStyle/>
          <a:p>
            <a:pPr algn="just">
              <a:buNone/>
            </a:pPr>
            <a:r>
              <a:rPr lang="es-ES" sz="2000"/>
              <a:t>La Inteligencia Artificial (IA) es una de las áreas más importantes de la informática moderna, ya que permite desarrollar sistemas capaces de tomar decisiones, aprender y adaptarse a diferentes situaciones. Dentro de este campo existen diversos tipos de algoritmos, como los algoritmos de búsqueda, los algoritmos de aprendizaje automático, las redes neuronales artificiales y los algoritmos evolutivos.</a:t>
            </a:r>
            <a:endParaRPr lang="es-ES"/>
          </a:p>
          <a:p>
            <a:pPr algn="just">
              <a:buNone/>
            </a:pPr>
            <a:r>
              <a:rPr lang="es-ES" sz="2000"/>
              <a:t>En esta práctica se implementaron ejemplos básicos de estos algoritmos utilizando el lenguaje de programación Python en el entorno de desarrollo Visual Studio </a:t>
            </a:r>
            <a:r>
              <a:rPr lang="es-ES" sz="2000" err="1"/>
              <a:t>Code</a:t>
            </a:r>
            <a:r>
              <a:rPr lang="es-ES" sz="2000"/>
              <a:t>, con el objetivo de comprender su funcionamiento y aplicación.</a:t>
            </a:r>
          </a:p>
        </p:txBody>
      </p:sp>
    </p:spTree>
    <p:extLst>
      <p:ext uri="{BB962C8B-B14F-4D97-AF65-F5344CB8AC3E}">
        <p14:creationId xmlns:p14="http://schemas.microsoft.com/office/powerpoint/2010/main" val="1063589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594321B-4FE9-D338-8A2C-D2BC85671D42}"/>
              </a:ext>
            </a:extLst>
          </p:cNvPr>
          <p:cNvSpPr>
            <a:spLocks noGrp="1"/>
          </p:cNvSpPr>
          <p:nvPr>
            <p:ph type="title"/>
          </p:nvPr>
        </p:nvSpPr>
        <p:spPr>
          <a:xfrm>
            <a:off x="466722" y="586855"/>
            <a:ext cx="3201366" cy="3387497"/>
          </a:xfrm>
        </p:spPr>
        <p:txBody>
          <a:bodyPr anchor="b">
            <a:normAutofit/>
          </a:bodyPr>
          <a:lstStyle/>
          <a:p>
            <a:pPr algn="r"/>
            <a:r>
              <a:rPr lang="es-ES" sz="3400">
                <a:solidFill>
                  <a:srgbClr val="FFFFFF"/>
                </a:solidFill>
              </a:rPr>
              <a:t>JUSTIFICACIÓN</a:t>
            </a:r>
          </a:p>
        </p:txBody>
      </p:sp>
      <p:sp>
        <p:nvSpPr>
          <p:cNvPr id="3" name="Marcador de contenido 2">
            <a:extLst>
              <a:ext uri="{FF2B5EF4-FFF2-40B4-BE49-F238E27FC236}">
                <a16:creationId xmlns:a16="http://schemas.microsoft.com/office/drawing/2014/main" id="{5309D243-CBFA-850D-E262-F4F683DDE681}"/>
              </a:ext>
            </a:extLst>
          </p:cNvPr>
          <p:cNvSpPr>
            <a:spLocks noGrp="1"/>
          </p:cNvSpPr>
          <p:nvPr>
            <p:ph idx="1"/>
          </p:nvPr>
        </p:nvSpPr>
        <p:spPr>
          <a:xfrm>
            <a:off x="4810259" y="649480"/>
            <a:ext cx="6555347" cy="5546047"/>
          </a:xfrm>
        </p:spPr>
        <p:txBody>
          <a:bodyPr vert="horz" lIns="91440" tIns="45720" rIns="91440" bIns="45720" rtlCol="0" anchor="ctr">
            <a:normAutofit/>
          </a:bodyPr>
          <a:lstStyle/>
          <a:p>
            <a:pPr algn="just">
              <a:buNone/>
            </a:pPr>
            <a:r>
              <a:rPr lang="es-ES" sz="2000">
                <a:ea typeface="+mn-lt"/>
                <a:cs typeface="+mn-lt"/>
              </a:rPr>
              <a:t>El estudio de estos algoritmos es fundamental para la formación en tecnologías actuales, ya que son ampliamente utilizados en áreas como la robótica, análisis de datos, videojuegos y sistemas inteligentes. Esta práctica permite desarrollar habilidades de programación y comprensión de modelos de IA.</a:t>
            </a:r>
            <a:endParaRPr lang="es-ES" sz="2000"/>
          </a:p>
          <a:p>
            <a:pPr marL="0" indent="0">
              <a:buNone/>
            </a:pPr>
            <a:endParaRPr lang="es-ES" sz="2000"/>
          </a:p>
        </p:txBody>
      </p:sp>
    </p:spTree>
    <p:extLst>
      <p:ext uri="{BB962C8B-B14F-4D97-AF65-F5344CB8AC3E}">
        <p14:creationId xmlns:p14="http://schemas.microsoft.com/office/powerpoint/2010/main" val="145392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F739A3C-4536-9D71-0E9F-AC9E23F2ABB8}"/>
              </a:ext>
            </a:extLst>
          </p:cNvPr>
          <p:cNvSpPr>
            <a:spLocks noGrp="1"/>
          </p:cNvSpPr>
          <p:nvPr>
            <p:ph type="title"/>
          </p:nvPr>
        </p:nvSpPr>
        <p:spPr>
          <a:xfrm>
            <a:off x="640080" y="329184"/>
            <a:ext cx="6894576" cy="1783080"/>
          </a:xfrm>
        </p:spPr>
        <p:txBody>
          <a:bodyPr anchor="b">
            <a:normAutofit/>
          </a:bodyPr>
          <a:lstStyle/>
          <a:p>
            <a:r>
              <a:rPr lang="es-ES" sz="5400"/>
              <a:t>ALGORITMOS DE BÚSQUEDA</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4FBC1D9-9DC3-BD99-2199-772F0B0C6A02}"/>
              </a:ext>
            </a:extLst>
          </p:cNvPr>
          <p:cNvSpPr>
            <a:spLocks noGrp="1"/>
          </p:cNvSpPr>
          <p:nvPr>
            <p:ph idx="1"/>
          </p:nvPr>
        </p:nvSpPr>
        <p:spPr>
          <a:xfrm>
            <a:off x="640080" y="2706624"/>
            <a:ext cx="6894576" cy="3483864"/>
          </a:xfrm>
        </p:spPr>
        <p:txBody>
          <a:bodyPr vert="horz" lIns="91440" tIns="45720" rIns="91440" bIns="45720" rtlCol="0">
            <a:normAutofit/>
          </a:bodyPr>
          <a:lstStyle/>
          <a:p>
            <a:pPr marL="0" indent="0">
              <a:buNone/>
            </a:pPr>
            <a:r>
              <a:rPr lang="es-ES" sz="2000">
                <a:ea typeface="+mn-lt"/>
                <a:cs typeface="+mn-lt"/>
              </a:rPr>
              <a:t>Los algoritmos de búsqueda se utilizan para recorrer estructuras de datos como grafos o árboles con el objetivo de encontrar una solución o un camino. A continuación, mostrare un ejemplo implementado dentro de visual studio code definiendo lo siguiente del código:</a:t>
            </a:r>
          </a:p>
          <a:p>
            <a:pPr>
              <a:buFont typeface="Arial"/>
              <a:buChar char="•"/>
            </a:pPr>
            <a:r>
              <a:rPr lang="es-ES" sz="2000">
                <a:ea typeface="+mn-lt"/>
                <a:cs typeface="+mn-lt"/>
              </a:rPr>
              <a:t>Se definió un grafo usando un diccionario.</a:t>
            </a:r>
            <a:endParaRPr lang="es-ES" sz="2000"/>
          </a:p>
          <a:p>
            <a:pPr>
              <a:buFont typeface="Arial"/>
              <a:buChar char="•"/>
            </a:pPr>
            <a:r>
              <a:rPr lang="es-ES" sz="2000">
                <a:ea typeface="+mn-lt"/>
                <a:cs typeface="+mn-lt"/>
              </a:rPr>
              <a:t>Se utilizó una cola (</a:t>
            </a:r>
            <a:r>
              <a:rPr lang="es-ES" sz="2000">
                <a:latin typeface="Consolas"/>
              </a:rPr>
              <a:t>deque</a:t>
            </a:r>
            <a:r>
              <a:rPr lang="es-ES" sz="2000">
                <a:ea typeface="+mn-lt"/>
                <a:cs typeface="+mn-lt"/>
              </a:rPr>
              <a:t>) para recorrer los nodos.</a:t>
            </a:r>
            <a:endParaRPr lang="es-ES" sz="2000"/>
          </a:p>
          <a:p>
            <a:pPr>
              <a:buFont typeface="Arial"/>
              <a:buChar char="•"/>
            </a:pPr>
            <a:r>
              <a:rPr lang="es-ES" sz="2000">
                <a:ea typeface="+mn-lt"/>
                <a:cs typeface="+mn-lt"/>
              </a:rPr>
              <a:t>Se recorren los nodos nivel por nivel.</a:t>
            </a:r>
            <a:endParaRPr lang="es-ES" sz="2000"/>
          </a:p>
          <a:p>
            <a:pPr>
              <a:buFont typeface="Arial"/>
              <a:buChar char="•"/>
            </a:pPr>
            <a:r>
              <a:rPr lang="es-ES" sz="2000">
                <a:ea typeface="+mn-lt"/>
                <a:cs typeface="+mn-lt"/>
              </a:rPr>
              <a:t>Se evita repetir nodos usando una lista de visitados.</a:t>
            </a:r>
            <a:endParaRPr lang="es-ES" sz="2000"/>
          </a:p>
          <a:p>
            <a:pPr marL="0" indent="0">
              <a:buNone/>
            </a:pPr>
            <a:endParaRPr lang="es-ES" sz="2000"/>
          </a:p>
          <a:p>
            <a:pPr marL="0" indent="0">
              <a:buNone/>
            </a:pPr>
            <a:endParaRPr lang="es-ES" sz="2000"/>
          </a:p>
        </p:txBody>
      </p:sp>
      <p:pic>
        <p:nvPicPr>
          <p:cNvPr id="4" name="Imagen 3" descr="Texto&#10;&#10;El contenido generado por IA puede ser incorrecto.">
            <a:extLst>
              <a:ext uri="{FF2B5EF4-FFF2-40B4-BE49-F238E27FC236}">
                <a16:creationId xmlns:a16="http://schemas.microsoft.com/office/drawing/2014/main" id="{7681E897-0F76-076A-FBDF-77722D2DDACA}"/>
              </a:ext>
            </a:extLst>
          </p:cNvPr>
          <p:cNvPicPr>
            <a:picLocks noChangeAspect="1"/>
          </p:cNvPicPr>
          <p:nvPr/>
        </p:nvPicPr>
        <p:blipFill>
          <a:blip r:embed="rId2"/>
          <a:stretch>
            <a:fillRect/>
          </a:stretch>
        </p:blipFill>
        <p:spPr>
          <a:xfrm>
            <a:off x="8395770" y="329183"/>
            <a:ext cx="2950355" cy="3429969"/>
          </a:xfrm>
          <a:prstGeom prst="rect">
            <a:avLst/>
          </a:prstGeom>
        </p:spPr>
      </p:pic>
      <p:pic>
        <p:nvPicPr>
          <p:cNvPr id="5" name="Imagen 4" descr="Texto&#10;&#10;El contenido generado por IA puede ser incorrecto.">
            <a:extLst>
              <a:ext uri="{FF2B5EF4-FFF2-40B4-BE49-F238E27FC236}">
                <a16:creationId xmlns:a16="http://schemas.microsoft.com/office/drawing/2014/main" id="{12C3E416-3868-2D4C-31E5-E9AAC984A44A}"/>
              </a:ext>
            </a:extLst>
          </p:cNvPr>
          <p:cNvPicPr>
            <a:picLocks noChangeAspect="1"/>
          </p:cNvPicPr>
          <p:nvPr/>
        </p:nvPicPr>
        <p:blipFill>
          <a:blip r:embed="rId3"/>
          <a:stretch>
            <a:fillRect/>
          </a:stretch>
        </p:blipFill>
        <p:spPr>
          <a:xfrm>
            <a:off x="7863840" y="4118708"/>
            <a:ext cx="3995928" cy="2097242"/>
          </a:xfrm>
          <a:prstGeom prst="rect">
            <a:avLst/>
          </a:prstGeom>
        </p:spPr>
      </p:pic>
    </p:spTree>
    <p:extLst>
      <p:ext uri="{BB962C8B-B14F-4D97-AF65-F5344CB8AC3E}">
        <p14:creationId xmlns:p14="http://schemas.microsoft.com/office/powerpoint/2010/main" val="4133309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ítulo 1">
            <a:extLst>
              <a:ext uri="{FF2B5EF4-FFF2-40B4-BE49-F238E27FC236}">
                <a16:creationId xmlns:a16="http://schemas.microsoft.com/office/drawing/2014/main" id="{2013876F-7424-18B9-F43D-901CB99F51ED}"/>
              </a:ext>
            </a:extLst>
          </p:cNvPr>
          <p:cNvSpPr>
            <a:spLocks noGrp="1"/>
          </p:cNvSpPr>
          <p:nvPr>
            <p:ph type="title"/>
          </p:nvPr>
        </p:nvSpPr>
        <p:spPr>
          <a:xfrm>
            <a:off x="6392584" y="501651"/>
            <a:ext cx="4434720" cy="1716255"/>
          </a:xfrm>
        </p:spPr>
        <p:txBody>
          <a:bodyPr anchor="b">
            <a:normAutofit/>
          </a:bodyPr>
          <a:lstStyle/>
          <a:p>
            <a:r>
              <a:rPr lang="es-ES" sz="2700"/>
              <a:t>ALGORITMOS DE APRENDIZAJE AUTOMATICO (MACHINE LEARNING)</a:t>
            </a:r>
          </a:p>
        </p:txBody>
      </p:sp>
      <p:sp>
        <p:nvSpPr>
          <p:cNvPr id="12" name="Rectangle 11">
            <a:extLst>
              <a:ext uri="{FF2B5EF4-FFF2-40B4-BE49-F238E27FC236}">
                <a16:creationId xmlns:a16="http://schemas.microsoft.com/office/drawing/2014/main" id="{B5ABDEAA-B248-4182-B67C-A925338E7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008" y="252743"/>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Imagen 3" descr="Texto&#10;&#10;El contenido generado por IA puede ser incorrecto.">
            <a:extLst>
              <a:ext uri="{FF2B5EF4-FFF2-40B4-BE49-F238E27FC236}">
                <a16:creationId xmlns:a16="http://schemas.microsoft.com/office/drawing/2014/main" id="{47C4F590-08B4-ECB4-36E4-69FE115636D3}"/>
              </a:ext>
            </a:extLst>
          </p:cNvPr>
          <p:cNvPicPr>
            <a:picLocks noChangeAspect="1"/>
          </p:cNvPicPr>
          <p:nvPr/>
        </p:nvPicPr>
        <p:blipFill>
          <a:blip r:embed="rId2"/>
          <a:stretch>
            <a:fillRect/>
          </a:stretch>
        </p:blipFill>
        <p:spPr>
          <a:xfrm>
            <a:off x="1417785" y="539762"/>
            <a:ext cx="4150064" cy="2468573"/>
          </a:xfrm>
          <a:prstGeom prst="rect">
            <a:avLst/>
          </a:prstGeom>
        </p:spPr>
      </p:pic>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49" y="3548095"/>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Marcador de contenido 2">
            <a:extLst>
              <a:ext uri="{FF2B5EF4-FFF2-40B4-BE49-F238E27FC236}">
                <a16:creationId xmlns:a16="http://schemas.microsoft.com/office/drawing/2014/main" id="{22CFB45A-3A69-33D8-D947-EE5EF47E56E0}"/>
              </a:ext>
            </a:extLst>
          </p:cNvPr>
          <p:cNvSpPr>
            <a:spLocks noGrp="1"/>
          </p:cNvSpPr>
          <p:nvPr>
            <p:ph idx="1"/>
          </p:nvPr>
        </p:nvSpPr>
        <p:spPr>
          <a:xfrm>
            <a:off x="6392583" y="2645922"/>
            <a:ext cx="4434721" cy="3710427"/>
          </a:xfrm>
        </p:spPr>
        <p:txBody>
          <a:bodyPr vert="horz" lIns="91440" tIns="45720" rIns="91440" bIns="45720" rtlCol="0" anchor="t">
            <a:normAutofit/>
          </a:bodyPr>
          <a:lstStyle/>
          <a:p>
            <a:pPr marL="0" indent="0">
              <a:buNone/>
            </a:pPr>
            <a:r>
              <a:rPr lang="es-ES" sz="1900">
                <a:ea typeface="+mn-lt"/>
                <a:cs typeface="+mn-lt"/>
              </a:rPr>
              <a:t>Estos algoritmos permiten a las computadoras aprender patrones a partir de datos, dejare un ejemplo que se realizo dentro de visual studio code utilizando o definiendo lo siguiente:</a:t>
            </a:r>
          </a:p>
          <a:p>
            <a:pPr>
              <a:buFont typeface="Arial"/>
              <a:buChar char="•"/>
            </a:pPr>
            <a:r>
              <a:rPr lang="es-ES" sz="1900">
                <a:ea typeface="+mn-lt"/>
                <a:cs typeface="+mn-lt"/>
              </a:rPr>
              <a:t>Se importó la librería </a:t>
            </a:r>
            <a:r>
              <a:rPr lang="es-ES" sz="1900">
                <a:latin typeface="Aptos"/>
              </a:rPr>
              <a:t>sklearn</a:t>
            </a:r>
            <a:r>
              <a:rPr lang="es-ES" sz="1900">
                <a:ea typeface="+mn-lt"/>
                <a:cs typeface="+mn-lt"/>
              </a:rPr>
              <a:t>.</a:t>
            </a:r>
            <a:endParaRPr lang="es-ES" sz="1900"/>
          </a:p>
          <a:p>
            <a:pPr>
              <a:buFont typeface="Arial"/>
              <a:buChar char="•"/>
            </a:pPr>
            <a:r>
              <a:rPr lang="es-ES" sz="1900">
                <a:ea typeface="+mn-lt"/>
                <a:cs typeface="+mn-lt"/>
              </a:rPr>
              <a:t>Se definieron datos de entrada (X) y salida (y).</a:t>
            </a:r>
            <a:endParaRPr lang="es-ES" sz="1900"/>
          </a:p>
          <a:p>
            <a:pPr>
              <a:buFont typeface="Arial"/>
              <a:buChar char="•"/>
            </a:pPr>
            <a:r>
              <a:rPr lang="es-ES" sz="1900">
                <a:ea typeface="+mn-lt"/>
                <a:cs typeface="+mn-lt"/>
              </a:rPr>
              <a:t>Se creó el modelo de regresión lineal.</a:t>
            </a:r>
            <a:endParaRPr lang="es-ES" sz="1900"/>
          </a:p>
          <a:p>
            <a:pPr>
              <a:buFont typeface="Arial"/>
              <a:buChar char="•"/>
            </a:pPr>
            <a:r>
              <a:rPr lang="es-ES" sz="1900">
                <a:ea typeface="+mn-lt"/>
                <a:cs typeface="+mn-lt"/>
              </a:rPr>
              <a:t>Se entrenó con </a:t>
            </a:r>
            <a:r>
              <a:rPr lang="es-ES" sz="1900">
                <a:latin typeface="Aptos"/>
              </a:rPr>
              <a:t>.fit()</a:t>
            </a:r>
            <a:r>
              <a:rPr lang="es-ES" sz="1900">
                <a:ea typeface="+mn-lt"/>
                <a:cs typeface="+mn-lt"/>
              </a:rPr>
              <a:t>.</a:t>
            </a:r>
            <a:endParaRPr lang="es-ES" sz="1900"/>
          </a:p>
          <a:p>
            <a:pPr>
              <a:buFont typeface="Arial"/>
              <a:buChar char="•"/>
            </a:pPr>
            <a:r>
              <a:rPr lang="es-ES" sz="1900">
                <a:ea typeface="+mn-lt"/>
                <a:cs typeface="+mn-lt"/>
              </a:rPr>
              <a:t>Se hizo una predicción con </a:t>
            </a:r>
            <a:r>
              <a:rPr lang="es-ES" sz="1900">
                <a:latin typeface="Aptos"/>
              </a:rPr>
              <a:t>.predict()</a:t>
            </a:r>
            <a:r>
              <a:rPr lang="es-ES" sz="1900">
                <a:ea typeface="+mn-lt"/>
                <a:cs typeface="+mn-lt"/>
              </a:rPr>
              <a:t>.</a:t>
            </a:r>
            <a:endParaRPr lang="es-ES" sz="1900"/>
          </a:p>
          <a:p>
            <a:pPr marL="0" indent="0">
              <a:buNone/>
            </a:pPr>
            <a:endParaRPr lang="es-ES" sz="1900"/>
          </a:p>
        </p:txBody>
      </p:sp>
      <p:pic>
        <p:nvPicPr>
          <p:cNvPr id="5" name="Imagen 4" descr="Texto&#10;&#10;El contenido generado por IA puede ser incorrecto.">
            <a:extLst>
              <a:ext uri="{FF2B5EF4-FFF2-40B4-BE49-F238E27FC236}">
                <a16:creationId xmlns:a16="http://schemas.microsoft.com/office/drawing/2014/main" id="{8B499E57-6657-40C3-45D6-0DBF3268DE2F}"/>
              </a:ext>
            </a:extLst>
          </p:cNvPr>
          <p:cNvPicPr>
            <a:picLocks noChangeAspect="1"/>
          </p:cNvPicPr>
          <p:nvPr/>
        </p:nvPicPr>
        <p:blipFill>
          <a:blip r:embed="rId3"/>
          <a:stretch>
            <a:fillRect/>
          </a:stretch>
        </p:blipFill>
        <p:spPr>
          <a:xfrm>
            <a:off x="654351" y="4512362"/>
            <a:ext cx="4281815" cy="1114076"/>
          </a:xfrm>
          <a:prstGeom prst="rect">
            <a:avLst/>
          </a:prstGeom>
        </p:spPr>
      </p:pic>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033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B10E6E7-170B-A509-88D2-D185EB9AFC1D}"/>
              </a:ext>
            </a:extLst>
          </p:cNvPr>
          <p:cNvSpPr>
            <a:spLocks noGrp="1"/>
          </p:cNvSpPr>
          <p:nvPr>
            <p:ph type="title"/>
          </p:nvPr>
        </p:nvSpPr>
        <p:spPr>
          <a:xfrm>
            <a:off x="640080" y="329184"/>
            <a:ext cx="6894576" cy="1783080"/>
          </a:xfrm>
        </p:spPr>
        <p:txBody>
          <a:bodyPr anchor="b">
            <a:normAutofit/>
          </a:bodyPr>
          <a:lstStyle/>
          <a:p>
            <a:r>
              <a:rPr lang="es-ES" sz="5400"/>
              <a:t>REDES NEURONALES ARTIFICIALES</a:t>
            </a:r>
          </a:p>
        </p:txBody>
      </p:sp>
      <p:sp>
        <p:nvSpPr>
          <p:cNvPr id="1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904BC84-C045-B2AB-24B4-F722A16735EB}"/>
              </a:ext>
            </a:extLst>
          </p:cNvPr>
          <p:cNvSpPr>
            <a:spLocks noGrp="1"/>
          </p:cNvSpPr>
          <p:nvPr>
            <p:ph idx="1"/>
          </p:nvPr>
        </p:nvSpPr>
        <p:spPr>
          <a:xfrm>
            <a:off x="640080" y="2706624"/>
            <a:ext cx="6894576" cy="3483864"/>
          </a:xfrm>
        </p:spPr>
        <p:txBody>
          <a:bodyPr vert="horz" lIns="91440" tIns="45720" rIns="91440" bIns="45720" rtlCol="0">
            <a:normAutofit/>
          </a:bodyPr>
          <a:lstStyle/>
          <a:p>
            <a:pPr marL="0" indent="0">
              <a:buNone/>
            </a:pPr>
            <a:r>
              <a:rPr lang="es-ES" sz="2200">
                <a:ea typeface="+mn-lt"/>
                <a:cs typeface="+mn-lt"/>
              </a:rPr>
              <a:t>Son modelos inspirados en el cerebro humano que aprenden mediante capas de neuronas artificiales. Quedando un ejemplo dentro de visual studio code de la siguiente manera igual que los anteriores ejercicios definiendo el código quedando de la siguiente manera:</a:t>
            </a:r>
          </a:p>
          <a:p>
            <a:pPr>
              <a:buFont typeface="Arial"/>
              <a:buChar char="•"/>
            </a:pPr>
            <a:r>
              <a:rPr lang="es-ES" sz="2200">
                <a:ea typeface="+mn-lt"/>
                <a:cs typeface="+mn-lt"/>
              </a:rPr>
              <a:t>Se utilizó </a:t>
            </a:r>
            <a:r>
              <a:rPr lang="es-ES" sz="2200">
                <a:latin typeface="Aptos"/>
                <a:ea typeface="+mn-lt"/>
                <a:cs typeface="+mn-lt"/>
              </a:rPr>
              <a:t>MLPClassifier</a:t>
            </a:r>
            <a:r>
              <a:rPr lang="es-ES" sz="2200">
                <a:ea typeface="+mn-lt"/>
                <a:cs typeface="+mn-lt"/>
              </a:rPr>
              <a:t> (perceptrón multicapa).</a:t>
            </a:r>
            <a:endParaRPr lang="es-ES" sz="2200"/>
          </a:p>
          <a:p>
            <a:pPr>
              <a:buFont typeface="Arial"/>
              <a:buChar char="•"/>
            </a:pPr>
            <a:r>
              <a:rPr lang="es-ES" sz="2200">
                <a:ea typeface="+mn-lt"/>
                <a:cs typeface="+mn-lt"/>
              </a:rPr>
              <a:t>Se definieron datos de entrenamiento.</a:t>
            </a:r>
            <a:endParaRPr lang="es-ES" sz="2200"/>
          </a:p>
          <a:p>
            <a:pPr>
              <a:buFont typeface="Arial"/>
              <a:buChar char="•"/>
            </a:pPr>
            <a:r>
              <a:rPr lang="es-ES" sz="2200">
                <a:ea typeface="+mn-lt"/>
                <a:cs typeface="+mn-lt"/>
              </a:rPr>
              <a:t>Se entrenó el modelo con </a:t>
            </a:r>
            <a:r>
              <a:rPr lang="es-ES" sz="2200">
                <a:latin typeface="Aptos"/>
                <a:ea typeface="+mn-lt"/>
                <a:cs typeface="+mn-lt"/>
              </a:rPr>
              <a:t>.fit()</a:t>
            </a:r>
            <a:r>
              <a:rPr lang="es-ES" sz="2200">
                <a:ea typeface="+mn-lt"/>
                <a:cs typeface="+mn-lt"/>
              </a:rPr>
              <a:t>.</a:t>
            </a:r>
            <a:endParaRPr lang="es-ES" sz="2200"/>
          </a:p>
          <a:p>
            <a:pPr>
              <a:buFont typeface="Arial"/>
              <a:buChar char="•"/>
            </a:pPr>
            <a:r>
              <a:rPr lang="es-ES" sz="2200">
                <a:ea typeface="+mn-lt"/>
                <a:cs typeface="+mn-lt"/>
              </a:rPr>
              <a:t>Se realizó una predicción para evaluar el aprendizaje.</a:t>
            </a:r>
            <a:endParaRPr lang="es-ES" sz="2200"/>
          </a:p>
          <a:p>
            <a:pPr marL="0" indent="0">
              <a:buNone/>
            </a:pPr>
            <a:endParaRPr lang="es-ES" sz="2200">
              <a:ea typeface="+mn-lt"/>
              <a:cs typeface="+mn-lt"/>
            </a:endParaRPr>
          </a:p>
        </p:txBody>
      </p:sp>
      <p:pic>
        <p:nvPicPr>
          <p:cNvPr id="4" name="Imagen 3" descr="Texto&#10;&#10;El contenido generado por IA puede ser incorrecto.">
            <a:extLst>
              <a:ext uri="{FF2B5EF4-FFF2-40B4-BE49-F238E27FC236}">
                <a16:creationId xmlns:a16="http://schemas.microsoft.com/office/drawing/2014/main" id="{3027E946-2AEA-1578-AA9E-53016298381B}"/>
              </a:ext>
            </a:extLst>
          </p:cNvPr>
          <p:cNvPicPr>
            <a:picLocks noChangeAspect="1"/>
          </p:cNvPicPr>
          <p:nvPr/>
        </p:nvPicPr>
        <p:blipFill>
          <a:blip r:embed="rId2"/>
          <a:stretch>
            <a:fillRect/>
          </a:stretch>
        </p:blipFill>
        <p:spPr>
          <a:xfrm>
            <a:off x="7863840" y="884015"/>
            <a:ext cx="4014216" cy="2320305"/>
          </a:xfrm>
          <a:prstGeom prst="rect">
            <a:avLst/>
          </a:prstGeom>
        </p:spPr>
      </p:pic>
      <p:pic>
        <p:nvPicPr>
          <p:cNvPr id="5" name="Imagen 4">
            <a:extLst>
              <a:ext uri="{FF2B5EF4-FFF2-40B4-BE49-F238E27FC236}">
                <a16:creationId xmlns:a16="http://schemas.microsoft.com/office/drawing/2014/main" id="{3B1218B7-1917-C9C3-A41A-08D30E4B39AE}"/>
              </a:ext>
            </a:extLst>
          </p:cNvPr>
          <p:cNvPicPr>
            <a:picLocks noChangeAspect="1"/>
          </p:cNvPicPr>
          <p:nvPr/>
        </p:nvPicPr>
        <p:blipFill>
          <a:blip r:embed="rId3"/>
          <a:stretch>
            <a:fillRect/>
          </a:stretch>
        </p:blipFill>
        <p:spPr>
          <a:xfrm>
            <a:off x="7863840" y="4635025"/>
            <a:ext cx="3995928" cy="1064608"/>
          </a:xfrm>
          <a:prstGeom prst="rect">
            <a:avLst/>
          </a:prstGeom>
        </p:spPr>
      </p:pic>
    </p:spTree>
    <p:extLst>
      <p:ext uri="{BB962C8B-B14F-4D97-AF65-F5344CB8AC3E}">
        <p14:creationId xmlns:p14="http://schemas.microsoft.com/office/powerpoint/2010/main" val="1203585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146512-0102-198C-23AE-4FE98816C900}"/>
              </a:ext>
            </a:extLst>
          </p:cNvPr>
          <p:cNvSpPr>
            <a:spLocks noGrp="1"/>
          </p:cNvSpPr>
          <p:nvPr>
            <p:ph type="title"/>
          </p:nvPr>
        </p:nvSpPr>
        <p:spPr>
          <a:xfrm>
            <a:off x="762000" y="4954157"/>
            <a:ext cx="3810000" cy="1509703"/>
          </a:xfrm>
        </p:spPr>
        <p:txBody>
          <a:bodyPr anchor="t">
            <a:normAutofit/>
          </a:bodyPr>
          <a:lstStyle/>
          <a:p>
            <a:r>
              <a:rPr lang="es-ES" sz="3200"/>
              <a:t>ALGORITMOS EVOLUTIVOS</a:t>
            </a:r>
          </a:p>
        </p:txBody>
      </p:sp>
      <p:pic>
        <p:nvPicPr>
          <p:cNvPr id="4" name="Imagen 3" descr="Texto&#10;&#10;El contenido generado por IA puede ser incorrecto.">
            <a:extLst>
              <a:ext uri="{FF2B5EF4-FFF2-40B4-BE49-F238E27FC236}">
                <a16:creationId xmlns:a16="http://schemas.microsoft.com/office/drawing/2014/main" id="{74727355-8D5C-0550-AEF3-B8925A5DF3DC}"/>
              </a:ext>
            </a:extLst>
          </p:cNvPr>
          <p:cNvPicPr>
            <a:picLocks noChangeAspect="1"/>
          </p:cNvPicPr>
          <p:nvPr/>
        </p:nvPicPr>
        <p:blipFill>
          <a:blip r:embed="rId2"/>
          <a:stretch>
            <a:fillRect/>
          </a:stretch>
        </p:blipFill>
        <p:spPr>
          <a:xfrm>
            <a:off x="468293" y="261666"/>
            <a:ext cx="3930907" cy="3164935"/>
          </a:xfrm>
          <a:prstGeom prst="rect">
            <a:avLst/>
          </a:prstGeom>
        </p:spPr>
      </p:pic>
      <p:pic>
        <p:nvPicPr>
          <p:cNvPr id="5" name="Imagen 4" descr="Texto&#10;&#10;El contenido generado por IA puede ser incorrecto.">
            <a:extLst>
              <a:ext uri="{FF2B5EF4-FFF2-40B4-BE49-F238E27FC236}">
                <a16:creationId xmlns:a16="http://schemas.microsoft.com/office/drawing/2014/main" id="{11130E00-2F5A-034A-86B2-78A7AF544E73}"/>
              </a:ext>
            </a:extLst>
          </p:cNvPr>
          <p:cNvPicPr>
            <a:picLocks noChangeAspect="1"/>
          </p:cNvPicPr>
          <p:nvPr/>
        </p:nvPicPr>
        <p:blipFill>
          <a:blip r:embed="rId3"/>
          <a:stretch>
            <a:fillRect/>
          </a:stretch>
        </p:blipFill>
        <p:spPr>
          <a:xfrm>
            <a:off x="640820" y="3754291"/>
            <a:ext cx="3309239" cy="617157"/>
          </a:xfrm>
          <a:prstGeom prst="rect">
            <a:avLst/>
          </a:prstGeom>
        </p:spPr>
      </p:pic>
      <p:cxnSp>
        <p:nvCxnSpPr>
          <p:cNvPr id="10" name="Straight Connector 9">
            <a:extLst>
              <a:ext uri="{FF2B5EF4-FFF2-40B4-BE49-F238E27FC236}">
                <a16:creationId xmlns:a16="http://schemas.microsoft.com/office/drawing/2014/main" id="{8C670C15-4E55-021E-79EA-BFCE4A460D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3609" y="468753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7DF90098-4C75-949B-F91D-E4320115D59B}"/>
              </a:ext>
            </a:extLst>
          </p:cNvPr>
          <p:cNvSpPr>
            <a:spLocks noGrp="1"/>
          </p:cNvSpPr>
          <p:nvPr>
            <p:ph idx="1"/>
          </p:nvPr>
        </p:nvSpPr>
        <p:spPr>
          <a:xfrm>
            <a:off x="4724401" y="667942"/>
            <a:ext cx="6705600" cy="5499618"/>
          </a:xfrm>
        </p:spPr>
        <p:txBody>
          <a:bodyPr vert="horz" lIns="91440" tIns="45720" rIns="91440" bIns="45720" rtlCol="0">
            <a:normAutofit/>
          </a:bodyPr>
          <a:lstStyle/>
          <a:p>
            <a:pPr marL="0" indent="0">
              <a:buNone/>
            </a:pPr>
            <a:r>
              <a:rPr lang="es-ES" sz="2000">
                <a:ea typeface="+mn-lt"/>
                <a:cs typeface="+mn-lt"/>
              </a:rPr>
              <a:t>Estos algoritmos se basan en la evolución natural (selección, mutación y cruce) para encontrar soluciones óptimas. Tomando en cuenta como se realizaron los ejercicios anteriores de esa misma manera se realizará este tomando en cuenta como se define de la siguiente manera:</a:t>
            </a:r>
          </a:p>
          <a:p>
            <a:pPr>
              <a:buFont typeface="Arial"/>
              <a:buChar char="•"/>
            </a:pPr>
            <a:r>
              <a:rPr lang="es-ES" sz="2000">
                <a:ea typeface="+mn-lt"/>
                <a:cs typeface="+mn-lt"/>
              </a:rPr>
              <a:t>Se definió una función de aptitud (fitness).</a:t>
            </a:r>
            <a:endParaRPr lang="es-ES" sz="2000"/>
          </a:p>
          <a:p>
            <a:pPr>
              <a:buFont typeface="Arial"/>
              <a:buChar char="•"/>
            </a:pPr>
            <a:r>
              <a:rPr lang="es-ES" sz="2000">
                <a:ea typeface="+mn-lt"/>
                <a:cs typeface="+mn-lt"/>
              </a:rPr>
              <a:t>Se generó una población aleatoria.</a:t>
            </a:r>
            <a:endParaRPr lang="es-ES" sz="2000"/>
          </a:p>
          <a:p>
            <a:pPr>
              <a:buFont typeface="Arial"/>
              <a:buChar char="•"/>
            </a:pPr>
            <a:r>
              <a:rPr lang="es-ES" sz="2000">
                <a:ea typeface="+mn-lt"/>
                <a:cs typeface="+mn-lt"/>
              </a:rPr>
              <a:t>Se seleccionaron los mejores individuos.</a:t>
            </a:r>
            <a:endParaRPr lang="es-ES" sz="2000"/>
          </a:p>
          <a:p>
            <a:pPr>
              <a:buFont typeface="Arial"/>
              <a:buChar char="•"/>
            </a:pPr>
            <a:r>
              <a:rPr lang="es-ES" sz="2000">
                <a:ea typeface="+mn-lt"/>
                <a:cs typeface="+mn-lt"/>
              </a:rPr>
              <a:t>Se generaron nuevos mediante mutación.</a:t>
            </a:r>
            <a:endParaRPr lang="es-ES" sz="2000"/>
          </a:p>
          <a:p>
            <a:pPr>
              <a:buFont typeface="Arial"/>
              <a:buChar char="•"/>
            </a:pPr>
            <a:r>
              <a:rPr lang="es-ES" sz="2000">
                <a:ea typeface="+mn-lt"/>
                <a:cs typeface="+mn-lt"/>
              </a:rPr>
              <a:t>Se repitió el proceso para mejorar resultados.</a:t>
            </a:r>
            <a:endParaRPr lang="es-ES" sz="2000"/>
          </a:p>
          <a:p>
            <a:pPr marL="0" indent="0">
              <a:buNone/>
            </a:pPr>
            <a:endParaRPr lang="es-ES" sz="2000"/>
          </a:p>
          <a:p>
            <a:pPr marL="0" indent="0">
              <a:buNone/>
            </a:pPr>
            <a:endParaRPr lang="es-ES" sz="2000"/>
          </a:p>
        </p:txBody>
      </p:sp>
    </p:spTree>
    <p:extLst>
      <p:ext uri="{BB962C8B-B14F-4D97-AF65-F5344CB8AC3E}">
        <p14:creationId xmlns:p14="http://schemas.microsoft.com/office/powerpoint/2010/main" val="2247979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3EA8F7B-1438-465B-47DF-D2BD1DA2EE78}"/>
              </a:ext>
            </a:extLst>
          </p:cNvPr>
          <p:cNvSpPr>
            <a:spLocks noGrp="1"/>
          </p:cNvSpPr>
          <p:nvPr>
            <p:ph type="title"/>
          </p:nvPr>
        </p:nvSpPr>
        <p:spPr>
          <a:xfrm>
            <a:off x="826396" y="586855"/>
            <a:ext cx="4230100" cy="3387497"/>
          </a:xfrm>
        </p:spPr>
        <p:txBody>
          <a:bodyPr anchor="b">
            <a:normAutofit/>
          </a:bodyPr>
          <a:lstStyle/>
          <a:p>
            <a:pPr algn="r"/>
            <a:r>
              <a:rPr lang="es-ES" sz="4000">
                <a:solidFill>
                  <a:srgbClr val="FFFFFF"/>
                </a:solidFill>
              </a:rPr>
              <a:t>CONCLUSIÓN PERSONAL</a:t>
            </a:r>
          </a:p>
        </p:txBody>
      </p:sp>
      <p:sp>
        <p:nvSpPr>
          <p:cNvPr id="3" name="Marcador de contenido 2">
            <a:extLst>
              <a:ext uri="{FF2B5EF4-FFF2-40B4-BE49-F238E27FC236}">
                <a16:creationId xmlns:a16="http://schemas.microsoft.com/office/drawing/2014/main" id="{A342EC24-CED5-8D8A-4789-8162E4ED9C13}"/>
              </a:ext>
            </a:extLst>
          </p:cNvPr>
          <p:cNvSpPr>
            <a:spLocks noGrp="1"/>
          </p:cNvSpPr>
          <p:nvPr>
            <p:ph idx="1"/>
          </p:nvPr>
        </p:nvSpPr>
        <p:spPr>
          <a:xfrm>
            <a:off x="6503158" y="649480"/>
            <a:ext cx="4862447" cy="5546047"/>
          </a:xfrm>
        </p:spPr>
        <p:txBody>
          <a:bodyPr vert="horz" lIns="91440" tIns="45720" rIns="91440" bIns="45720" rtlCol="0" anchor="ctr">
            <a:normAutofit/>
          </a:bodyPr>
          <a:lstStyle/>
          <a:p>
            <a:pPr algn="just">
              <a:buNone/>
            </a:pPr>
            <a:r>
              <a:rPr lang="es-ES" sz="2000">
                <a:ea typeface="+mn-lt"/>
                <a:cs typeface="+mn-lt"/>
              </a:rPr>
              <a:t>En esta práctica se logró comprender el funcionamiento básico de diferentes algoritmos de Inteligencia Artificial. Cada uno tiene aplicaciones específicas: los algoritmos de búsqueda permiten explorar soluciones, el aprendizaje automático permite predecir datos, las redes neuronales simulan el aprendizaje humano y los algoritmos evolutivos optimizan soluciones. El uso de Python facilita la implementación de estos modelos gracias a sus librerías especializadas. Esta práctica es fundamental para el desarrollo de sistemas inteligentes en la actualidad.</a:t>
            </a:r>
            <a:endParaRPr lang="es-ES" sz="2000"/>
          </a:p>
          <a:p>
            <a:pPr marL="0" indent="0">
              <a:buNone/>
            </a:pPr>
            <a:endParaRPr lang="es-ES" sz="2000"/>
          </a:p>
        </p:txBody>
      </p:sp>
    </p:spTree>
    <p:extLst>
      <p:ext uri="{BB962C8B-B14F-4D97-AF65-F5344CB8AC3E}">
        <p14:creationId xmlns:p14="http://schemas.microsoft.com/office/powerpoint/2010/main" val="38234690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8</Slides>
  <Notes>0</Notes>
  <HiddenSlides>0</HiddenSlides>
  <MMClips>0</MMClips>
  <ScaleCrop>false</ScaleCrop>
  <HeadingPairs>
    <vt:vector size="4" baseType="variant">
      <vt:variant>
        <vt:lpstr>Tema</vt:lpstr>
      </vt:variant>
      <vt:variant>
        <vt:i4>1</vt:i4>
      </vt:variant>
      <vt:variant>
        <vt:lpstr>Títulos de diapositiva</vt:lpstr>
      </vt:variant>
      <vt:variant>
        <vt:i4>8</vt:i4>
      </vt:variant>
    </vt:vector>
  </HeadingPairs>
  <TitlesOfParts>
    <vt:vector size="9" baseType="lpstr">
      <vt:lpstr>Tema de Office</vt:lpstr>
      <vt:lpstr>Presentación de PowerPoint</vt:lpstr>
      <vt:lpstr>INTRODUCCIÓN</vt:lpstr>
      <vt:lpstr>JUSTIFICACIÓN</vt:lpstr>
      <vt:lpstr>ALGORITMOS DE BÚSQUEDA</vt:lpstr>
      <vt:lpstr>ALGORITMOS DE APRENDIZAJE AUTOMATICO (MACHINE LEARNING)</vt:lpstr>
      <vt:lpstr>REDES NEURONALES ARTIFICIALES</vt:lpstr>
      <vt:lpstr>ALGORITMOS EVOLUTIVOS</vt:lpstr>
      <vt:lpstr>CONCLUSIÓN PERSONAL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126</cp:revision>
  <dcterms:created xsi:type="dcterms:W3CDTF">2026-03-17T18:16:33Z</dcterms:created>
  <dcterms:modified xsi:type="dcterms:W3CDTF">2026-03-26T18:41:44Z</dcterms:modified>
</cp:coreProperties>
</file>