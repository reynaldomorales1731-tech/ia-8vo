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 id="272" r:id="rId17"/>
    <p:sldId id="273" r:id="rId18"/>
    <p:sldId id="274" r:id="rId19"/>
    <p:sldId id="270" r:id="rId20"/>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E972EA2-7CD2-F599-766C-BF04EB9C1D9C}" v="4" dt="2026-03-16T00:11:25.5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20" autoAdjust="0"/>
    <p:restoredTop sz="94660"/>
  </p:normalViewPr>
  <p:slideViewPr>
    <p:cSldViewPr snapToGrid="0">
      <p:cViewPr varScale="1">
        <p:scale>
          <a:sx n="73" d="100"/>
          <a:sy n="73" d="100"/>
        </p:scale>
        <p:origin x="72" y="3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p:cNvSpPr>
            <a:spLocks noGrp="1"/>
          </p:cNvSpPr>
          <p:nvPr>
            <p:ph type="dt" sz="half" idx="10"/>
          </p:nvPr>
        </p:nvSpPr>
        <p:spPr/>
        <p:txBody>
          <a:bodyPr/>
          <a:lstStyle/>
          <a:p>
            <a:fld id="{40771E8B-6CA5-40B2-8038-0E112F3DAC1C}" type="datetimeFigureOut">
              <a:rPr lang="es-ES" smtClean="0"/>
              <a:t>15/03/2026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22881914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40771E8B-6CA5-40B2-8038-0E112F3DAC1C}" type="datetimeFigureOut">
              <a:rPr lang="es-ES" smtClean="0"/>
              <a:t>15/03/2026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33981744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el estilo de texto del patrón</a:t>
            </a:r>
          </a:p>
        </p:txBody>
      </p:sp>
      <p:sp>
        <p:nvSpPr>
          <p:cNvPr id="4" name="Marcador de fecha 3"/>
          <p:cNvSpPr>
            <a:spLocks noGrp="1"/>
          </p:cNvSpPr>
          <p:nvPr>
            <p:ph type="dt" sz="half" idx="10"/>
          </p:nvPr>
        </p:nvSpPr>
        <p:spPr/>
        <p:txBody>
          <a:bodyPr/>
          <a:lstStyle/>
          <a:p>
            <a:fld id="{40771E8B-6CA5-40B2-8038-0E112F3DAC1C}" type="datetimeFigureOut">
              <a:rPr lang="es-ES" smtClean="0"/>
              <a:t>15/03/2026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23397005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sz="half" idx="1"/>
          </p:nvPr>
        </p:nvSpPr>
        <p:spPr>
          <a:xfrm>
            <a:off x="838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p:cNvSpPr>
            <a:spLocks noGrp="1"/>
          </p:cNvSpPr>
          <p:nvPr>
            <p:ph sz="half" idx="2"/>
          </p:nvPr>
        </p:nvSpPr>
        <p:spPr>
          <a:xfrm>
            <a:off x="6172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p:cNvSpPr>
            <a:spLocks noGrp="1"/>
          </p:cNvSpPr>
          <p:nvPr>
            <p:ph type="dt" sz="half" idx="10"/>
          </p:nvPr>
        </p:nvSpPr>
        <p:spPr/>
        <p:txBody>
          <a:bodyPr/>
          <a:lstStyle/>
          <a:p>
            <a:fld id="{40771E8B-6CA5-40B2-8038-0E112F3DAC1C}" type="datetimeFigureOut">
              <a:rPr lang="es-ES" smtClean="0"/>
              <a:t>15/03/2026</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9790298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p:cNvSpPr>
            <a:spLocks noGrp="1"/>
          </p:cNvSpPr>
          <p:nvPr>
            <p:ph type="dt" sz="half" idx="10"/>
          </p:nvPr>
        </p:nvSpPr>
        <p:spPr/>
        <p:txBody>
          <a:bodyPr/>
          <a:lstStyle/>
          <a:p>
            <a:fld id="{40771E8B-6CA5-40B2-8038-0E112F3DAC1C}" type="datetimeFigureOut">
              <a:rPr lang="es-ES" smtClean="0"/>
              <a:t>15/03/2026</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17523942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fecha 2"/>
          <p:cNvSpPr>
            <a:spLocks noGrp="1"/>
          </p:cNvSpPr>
          <p:nvPr>
            <p:ph type="dt" sz="half" idx="10"/>
          </p:nvPr>
        </p:nvSpPr>
        <p:spPr/>
        <p:txBody>
          <a:bodyPr/>
          <a:lstStyle/>
          <a:p>
            <a:fld id="{40771E8B-6CA5-40B2-8038-0E112F3DAC1C}" type="datetimeFigureOut">
              <a:rPr lang="es-ES" smtClean="0"/>
              <a:t>15/03/2026</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36306586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40771E8B-6CA5-40B2-8038-0E112F3DAC1C}" type="datetimeFigureOut">
              <a:rPr lang="es-ES" smtClean="0"/>
              <a:t>15/03/2026</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36823756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40771E8B-6CA5-40B2-8038-0E112F3DAC1C}" type="datetimeFigureOut">
              <a:rPr lang="es-ES" smtClean="0"/>
              <a:t>15/03/2026</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13604498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40771E8B-6CA5-40B2-8038-0E112F3DAC1C}" type="datetimeFigureOut">
              <a:rPr lang="es-ES" smtClean="0"/>
              <a:t>15/03/2026</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3836035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texto vertical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40771E8B-6CA5-40B2-8038-0E112F3DAC1C}" type="datetimeFigureOut">
              <a:rPr lang="es-ES" smtClean="0"/>
              <a:t>15/03/2026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5418632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40771E8B-6CA5-40B2-8038-0E112F3DAC1C}" type="datetimeFigureOut">
              <a:rPr lang="es-ES" smtClean="0"/>
              <a:t>15/03/2026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2215096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0771E8B-6CA5-40B2-8038-0E112F3DAC1C}" type="datetimeFigureOut">
              <a:rPr lang="es-ES" smtClean="0"/>
              <a:t>15/03/2026</a:t>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F1556C4-DFC3-4611-A7CC-780699185E26}" type="slidenum">
              <a:rPr lang="es-ES" smtClean="0"/>
              <a:t>‹Nº›</a:t>
            </a:fld>
            <a:endParaRPr lang="es-ES"/>
          </a:p>
        </p:txBody>
      </p:sp>
    </p:spTree>
    <p:extLst>
      <p:ext uri="{BB962C8B-B14F-4D97-AF65-F5344CB8AC3E}">
        <p14:creationId xmlns:p14="http://schemas.microsoft.com/office/powerpoint/2010/main" val="29331189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1">
            <a:extLst>
              <a:ext uri="{FF2B5EF4-FFF2-40B4-BE49-F238E27FC236}">
                <a16:creationId xmlns:a16="http://schemas.microsoft.com/office/drawing/2014/main" id="{B18B68FC-A42A-0C86-27C1-C97153163AF5}"/>
              </a:ext>
            </a:extLst>
          </p:cNvPr>
          <p:cNvSpPr txBox="1"/>
          <p:nvPr/>
        </p:nvSpPr>
        <p:spPr>
          <a:xfrm>
            <a:off x="4724400" y="2309003"/>
            <a:ext cx="3634596" cy="375487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ES" sz="1400" dirty="0">
                <a:latin typeface="Arial"/>
                <a:cs typeface="Segoe UI"/>
              </a:rPr>
              <a:t>Tecnológico Nacional de México</a:t>
            </a:r>
            <a:r>
              <a:rPr lang="en-US" sz="1400" dirty="0">
                <a:latin typeface="Arial"/>
                <a:cs typeface="Segoe UI"/>
              </a:rPr>
              <a:t>​</a:t>
            </a:r>
            <a:endParaRPr lang="es-ES" sz="1400" dirty="0">
              <a:latin typeface="Arial"/>
              <a:cs typeface="Arial"/>
            </a:endParaRPr>
          </a:p>
          <a:p>
            <a:pPr algn="ctr"/>
            <a:r>
              <a:rPr lang="es-ES" sz="1400" dirty="0">
                <a:latin typeface="Arial"/>
                <a:cs typeface="Segoe UI"/>
              </a:rPr>
              <a:t>Instituto Tecnológico de Frontera Comalapa</a:t>
            </a:r>
            <a:r>
              <a:rPr lang="en-US" sz="1400" dirty="0">
                <a:latin typeface="Arial"/>
                <a:cs typeface="Segoe UI"/>
              </a:rPr>
              <a:t>​</a:t>
            </a:r>
          </a:p>
          <a:p>
            <a:pPr algn="ctr"/>
            <a:r>
              <a:rPr lang="es-ES" sz="1400" dirty="0">
                <a:latin typeface="Arial"/>
                <a:cs typeface="Segoe UI"/>
              </a:rPr>
              <a:t>​</a:t>
            </a:r>
          </a:p>
          <a:p>
            <a:pPr algn="ctr"/>
            <a:r>
              <a:rPr lang="en-US" sz="1400" dirty="0">
                <a:latin typeface="Arial"/>
                <a:cs typeface="Segoe UI"/>
              </a:rPr>
              <a:t>REPORTE DE PRACTICA</a:t>
            </a:r>
          </a:p>
          <a:p>
            <a:pPr algn="ctr"/>
            <a:endParaRPr lang="en-US" sz="1400">
              <a:latin typeface="Arial"/>
              <a:cs typeface="Segoe UI"/>
            </a:endParaRPr>
          </a:p>
          <a:p>
            <a:pPr algn="ctr"/>
            <a:r>
              <a:rPr lang="es-ES" sz="1400" dirty="0">
                <a:latin typeface="Arial"/>
                <a:cs typeface="Segoe UI"/>
              </a:rPr>
              <a:t>INTELIGENCIA ARTIFICIAL</a:t>
            </a:r>
          </a:p>
          <a:p>
            <a:pPr algn="ctr"/>
            <a:r>
              <a:rPr lang="es-ES" sz="1400" dirty="0">
                <a:latin typeface="Arial"/>
                <a:cs typeface="Segoe UI"/>
              </a:rPr>
              <a:t>​</a:t>
            </a:r>
            <a:endParaRPr lang="es-ES" sz="1400" dirty="0">
              <a:latin typeface="Arial"/>
              <a:cs typeface="Arial"/>
            </a:endParaRPr>
          </a:p>
          <a:p>
            <a:pPr algn="ctr"/>
            <a:r>
              <a:rPr lang="es-ES" sz="1400" dirty="0">
                <a:latin typeface="Arial"/>
                <a:cs typeface="Segoe UI"/>
              </a:rPr>
              <a:t>Integrante: </a:t>
            </a:r>
            <a:r>
              <a:rPr lang="en-US" sz="1400" dirty="0">
                <a:latin typeface="Arial"/>
                <a:cs typeface="Segoe UI"/>
              </a:rPr>
              <a:t>​</a:t>
            </a:r>
          </a:p>
          <a:p>
            <a:pPr algn="ctr"/>
            <a:endParaRPr lang="es-ES" sz="1400" dirty="0">
              <a:latin typeface="Arial"/>
              <a:cs typeface="Segoe UI"/>
            </a:endParaRPr>
          </a:p>
          <a:p>
            <a:pPr algn="ctr"/>
            <a:r>
              <a:rPr lang="es-ES" sz="1400" dirty="0">
                <a:latin typeface="Arial"/>
                <a:cs typeface="Segoe UI"/>
              </a:rPr>
              <a:t>Reynaldo Felipe Morales Silva</a:t>
            </a:r>
            <a:r>
              <a:rPr lang="en-US" sz="1400" dirty="0">
                <a:latin typeface="Arial"/>
                <a:cs typeface="Segoe UI"/>
              </a:rPr>
              <a:t>​</a:t>
            </a:r>
          </a:p>
          <a:p>
            <a:pPr algn="ctr"/>
            <a:endParaRPr lang="es-MX" sz="1400">
              <a:latin typeface="Arial"/>
              <a:cs typeface="Arial"/>
            </a:endParaRPr>
          </a:p>
          <a:p>
            <a:pPr algn="ctr"/>
            <a:r>
              <a:rPr lang="es-ES" sz="1400" dirty="0">
                <a:latin typeface="Arial"/>
                <a:cs typeface="Segoe UI"/>
              </a:rPr>
              <a:t>Carrera: Ingeniería en Sistemas Computacionales</a:t>
            </a:r>
            <a:r>
              <a:rPr lang="en-US" sz="1400" dirty="0">
                <a:latin typeface="Arial"/>
                <a:cs typeface="Segoe UI"/>
              </a:rPr>
              <a:t>​</a:t>
            </a:r>
          </a:p>
          <a:p>
            <a:pPr algn="ctr"/>
            <a:r>
              <a:rPr lang="es-ES" sz="1400" dirty="0">
                <a:latin typeface="Arial"/>
                <a:cs typeface="Segoe UI"/>
              </a:rPr>
              <a:t>​</a:t>
            </a:r>
          </a:p>
          <a:p>
            <a:pPr algn="ctr"/>
            <a:r>
              <a:rPr lang="es-ES" sz="1400" dirty="0">
                <a:latin typeface="Arial"/>
                <a:cs typeface="Segoe UI"/>
              </a:rPr>
              <a:t>Docente: Ing. Francisco Javier Mingo Velázquez</a:t>
            </a:r>
          </a:p>
          <a:p>
            <a:pPr algn="ctr"/>
            <a:r>
              <a:rPr lang="es-ES" sz="1400">
                <a:latin typeface="Arial"/>
                <a:cs typeface="Segoe UI"/>
              </a:rPr>
              <a:t>Fecha:  17 de febrero del 2026</a:t>
            </a:r>
          </a:p>
        </p:txBody>
      </p:sp>
      <p:pic>
        <p:nvPicPr>
          <p:cNvPr id="5" name="Imagen 4" descr="Imagen que contiene Logotipo&#10;&#10;El contenido generado por IA puede ser incorrecto.">
            <a:extLst>
              <a:ext uri="{FF2B5EF4-FFF2-40B4-BE49-F238E27FC236}">
                <a16:creationId xmlns:a16="http://schemas.microsoft.com/office/drawing/2014/main" id="{FB1911C2-9242-8CDD-F6F2-82D69EF08773}"/>
              </a:ext>
            </a:extLst>
          </p:cNvPr>
          <p:cNvPicPr>
            <a:picLocks noChangeAspect="1"/>
          </p:cNvPicPr>
          <p:nvPr/>
        </p:nvPicPr>
        <p:blipFill>
          <a:blip r:embed="rId2"/>
          <a:stretch>
            <a:fillRect/>
          </a:stretch>
        </p:blipFill>
        <p:spPr>
          <a:xfrm>
            <a:off x="694785" y="735222"/>
            <a:ext cx="3700014" cy="1131858"/>
          </a:xfrm>
          <a:prstGeom prst="rect">
            <a:avLst/>
          </a:prstGeom>
        </p:spPr>
      </p:pic>
      <p:pic>
        <p:nvPicPr>
          <p:cNvPr id="6" name="Imagen 5" descr="Logotipo, nombre de la empresa&#10;&#10;El contenido generado por IA puede ser incorrecto.">
            <a:extLst>
              <a:ext uri="{FF2B5EF4-FFF2-40B4-BE49-F238E27FC236}">
                <a16:creationId xmlns:a16="http://schemas.microsoft.com/office/drawing/2014/main" id="{6307CE53-6CEB-8234-F873-7FADA65A592C}"/>
              </a:ext>
            </a:extLst>
          </p:cNvPr>
          <p:cNvPicPr>
            <a:picLocks noChangeAspect="1"/>
          </p:cNvPicPr>
          <p:nvPr/>
        </p:nvPicPr>
        <p:blipFill>
          <a:blip r:embed="rId3"/>
          <a:stretch>
            <a:fillRect/>
          </a:stretch>
        </p:blipFill>
        <p:spPr>
          <a:xfrm>
            <a:off x="5401753" y="821486"/>
            <a:ext cx="2265513" cy="959330"/>
          </a:xfrm>
          <a:prstGeom prst="rect">
            <a:avLst/>
          </a:prstGeom>
        </p:spPr>
      </p:pic>
      <p:pic>
        <p:nvPicPr>
          <p:cNvPr id="7" name="Imagen 6" descr="Diagrama&#10;&#10;El contenido generado por IA puede ser incorrecto.">
            <a:extLst>
              <a:ext uri="{FF2B5EF4-FFF2-40B4-BE49-F238E27FC236}">
                <a16:creationId xmlns:a16="http://schemas.microsoft.com/office/drawing/2014/main" id="{CBA91D2A-2382-43CB-BAF9-49C1F0F3E39D}"/>
              </a:ext>
            </a:extLst>
          </p:cNvPr>
          <p:cNvPicPr>
            <a:picLocks noChangeAspect="1"/>
          </p:cNvPicPr>
          <p:nvPr/>
        </p:nvPicPr>
        <p:blipFill>
          <a:blip r:embed="rId4"/>
          <a:stretch>
            <a:fillRect/>
          </a:stretch>
        </p:blipFill>
        <p:spPr>
          <a:xfrm>
            <a:off x="9308172" y="754002"/>
            <a:ext cx="1396941" cy="950524"/>
          </a:xfrm>
          <a:prstGeom prst="rect">
            <a:avLst/>
          </a:prstGeom>
        </p:spPr>
      </p:pic>
    </p:spTree>
    <p:extLst>
      <p:ext uri="{BB962C8B-B14F-4D97-AF65-F5344CB8AC3E}">
        <p14:creationId xmlns:p14="http://schemas.microsoft.com/office/powerpoint/2010/main" val="24062731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ítulo 1">
            <a:extLst>
              <a:ext uri="{FF2B5EF4-FFF2-40B4-BE49-F238E27FC236}">
                <a16:creationId xmlns:a16="http://schemas.microsoft.com/office/drawing/2014/main" id="{FAA70F77-6576-3763-E0BE-708533288E92}"/>
              </a:ext>
            </a:extLst>
          </p:cNvPr>
          <p:cNvSpPr>
            <a:spLocks noGrp="1"/>
          </p:cNvSpPr>
          <p:nvPr>
            <p:ph type="title"/>
          </p:nvPr>
        </p:nvSpPr>
        <p:spPr>
          <a:xfrm>
            <a:off x="838200" y="365125"/>
            <a:ext cx="10515600" cy="1325563"/>
          </a:xfrm>
        </p:spPr>
        <p:txBody>
          <a:bodyPr>
            <a:normAutofit/>
          </a:bodyPr>
          <a:lstStyle/>
          <a:p>
            <a:r>
              <a:rPr lang="es-ES"/>
              <a:t>INTRODUCCIÓN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Marcador de contenido 2">
            <a:extLst>
              <a:ext uri="{FF2B5EF4-FFF2-40B4-BE49-F238E27FC236}">
                <a16:creationId xmlns:a16="http://schemas.microsoft.com/office/drawing/2014/main" id="{0786E891-275F-650C-D828-C1ED4B492D10}"/>
              </a:ext>
            </a:extLst>
          </p:cNvPr>
          <p:cNvSpPr>
            <a:spLocks noGrp="1"/>
          </p:cNvSpPr>
          <p:nvPr>
            <p:ph idx="1"/>
          </p:nvPr>
        </p:nvSpPr>
        <p:spPr>
          <a:xfrm>
            <a:off x="838200" y="1825625"/>
            <a:ext cx="10515600" cy="4351338"/>
          </a:xfrm>
        </p:spPr>
        <p:txBody>
          <a:bodyPr vert="horz" lIns="91440" tIns="45720" rIns="91440" bIns="45720" rtlCol="0" anchor="t">
            <a:normAutofit/>
          </a:bodyPr>
          <a:lstStyle/>
          <a:p>
            <a:pPr algn="just">
              <a:buNone/>
            </a:pPr>
            <a:r>
              <a:rPr lang="es-ES" sz="2400">
                <a:ea typeface="+mn-lt"/>
                <a:cs typeface="+mn-lt"/>
              </a:rPr>
              <a:t>La Inteligencia Artificial (IA) se ha convertido en una de las áreas más importantes de la tecnología actual, permitiendo el desarrollo de sistemas capaces de aprender, analizar datos y tomar decisiones automatizadas. Para trabajar con IA en el lenguaje de programación Python, es necesario utilizar librerías especializadas como </a:t>
            </a:r>
            <a:r>
              <a:rPr lang="es-ES" sz="2400" err="1">
                <a:ea typeface="+mn-lt"/>
                <a:cs typeface="+mn-lt"/>
              </a:rPr>
              <a:t>TensorFlow</a:t>
            </a:r>
            <a:r>
              <a:rPr lang="es-ES" sz="2400">
                <a:ea typeface="+mn-lt"/>
                <a:cs typeface="+mn-lt"/>
              </a:rPr>
              <a:t>, </a:t>
            </a:r>
            <a:r>
              <a:rPr lang="es-ES" sz="2400" err="1">
                <a:ea typeface="+mn-lt"/>
                <a:cs typeface="+mn-lt"/>
              </a:rPr>
              <a:t>PyTorch</a:t>
            </a:r>
            <a:r>
              <a:rPr lang="es-ES" sz="2400">
                <a:ea typeface="+mn-lt"/>
                <a:cs typeface="+mn-lt"/>
              </a:rPr>
              <a:t>, </a:t>
            </a:r>
            <a:r>
              <a:rPr lang="es-ES" sz="2400" err="1">
                <a:ea typeface="+mn-lt"/>
                <a:cs typeface="+mn-lt"/>
              </a:rPr>
              <a:t>Scikit-learn</a:t>
            </a:r>
            <a:r>
              <a:rPr lang="es-ES" sz="2400">
                <a:ea typeface="+mn-lt"/>
                <a:cs typeface="+mn-lt"/>
              </a:rPr>
              <a:t> y Pandas, entre otras.</a:t>
            </a:r>
            <a:endParaRPr lang="es-ES" sz="2400"/>
          </a:p>
          <a:p>
            <a:pPr algn="just">
              <a:buNone/>
            </a:pPr>
            <a:r>
              <a:rPr lang="es-ES" sz="2400">
                <a:ea typeface="+mn-lt"/>
                <a:cs typeface="+mn-lt"/>
              </a:rPr>
              <a:t>Visual Studio </a:t>
            </a:r>
            <a:r>
              <a:rPr lang="es-ES" sz="2400" err="1">
                <a:ea typeface="+mn-lt"/>
                <a:cs typeface="+mn-lt"/>
              </a:rPr>
              <a:t>Code</a:t>
            </a:r>
            <a:r>
              <a:rPr lang="es-ES" sz="2400">
                <a:ea typeface="+mn-lt"/>
                <a:cs typeface="+mn-lt"/>
              </a:rPr>
              <a:t> es un entorno de desarrollo (IDE) ampliamente utilizado por su facilidad de uso, compatibilidad con múltiples lenguajes y extensiones que facilitan la programación en Python. La instalación correcta de las librerías de IA dentro de este entorno permite aprovechar herramientas avanzadas para el análisis de datos, el aprendizaje automático y el desarrollo de modelos predictivos.</a:t>
            </a:r>
            <a:endParaRPr lang="es-ES" sz="2400"/>
          </a:p>
          <a:p>
            <a:pPr marL="0" indent="0">
              <a:buNone/>
            </a:pPr>
            <a:endParaRPr lang="es-ES" sz="2400"/>
          </a:p>
        </p:txBody>
      </p:sp>
    </p:spTree>
    <p:extLst>
      <p:ext uri="{BB962C8B-B14F-4D97-AF65-F5344CB8AC3E}">
        <p14:creationId xmlns:p14="http://schemas.microsoft.com/office/powerpoint/2010/main" val="32206118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02239D2-A05D-4A1C-9F06-FBA7FC730E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B555C21-2EA4-CDA5-0942-9C0B68849017}"/>
              </a:ext>
            </a:extLst>
          </p:cNvPr>
          <p:cNvSpPr>
            <a:spLocks noGrp="1"/>
          </p:cNvSpPr>
          <p:nvPr>
            <p:ph type="title"/>
          </p:nvPr>
        </p:nvSpPr>
        <p:spPr>
          <a:xfrm>
            <a:off x="2019300" y="538956"/>
            <a:ext cx="8985250" cy="1118394"/>
          </a:xfrm>
        </p:spPr>
        <p:txBody>
          <a:bodyPr anchor="t">
            <a:normAutofit/>
          </a:bodyPr>
          <a:lstStyle/>
          <a:p>
            <a:r>
              <a:rPr lang="es-ES" sz="4000"/>
              <a:t>JUSTIFICACIÓN</a:t>
            </a:r>
          </a:p>
        </p:txBody>
      </p:sp>
      <p:pic>
        <p:nvPicPr>
          <p:cNvPr id="7" name="Graphic 6" descr="Procesador">
            <a:extLst>
              <a:ext uri="{FF2B5EF4-FFF2-40B4-BE49-F238E27FC236}">
                <a16:creationId xmlns:a16="http://schemas.microsoft.com/office/drawing/2014/main" id="{C9CD20A6-B857-1D27-E5F1-A9BBD1837D2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04900" y="538956"/>
            <a:ext cx="749300" cy="749300"/>
          </a:xfrm>
          <a:prstGeom prst="rect">
            <a:avLst/>
          </a:prstGeom>
        </p:spPr>
      </p:pic>
      <p:sp>
        <p:nvSpPr>
          <p:cNvPr id="3" name="Marcador de contenido 2">
            <a:extLst>
              <a:ext uri="{FF2B5EF4-FFF2-40B4-BE49-F238E27FC236}">
                <a16:creationId xmlns:a16="http://schemas.microsoft.com/office/drawing/2014/main" id="{FEFD6473-672E-AE34-E250-DD7CF10FB10F}"/>
              </a:ext>
            </a:extLst>
          </p:cNvPr>
          <p:cNvSpPr>
            <a:spLocks noGrp="1"/>
          </p:cNvSpPr>
          <p:nvPr>
            <p:ph idx="1"/>
          </p:nvPr>
        </p:nvSpPr>
        <p:spPr>
          <a:xfrm>
            <a:off x="1009650" y="1847849"/>
            <a:ext cx="9994900" cy="4254501"/>
          </a:xfrm>
        </p:spPr>
        <p:txBody>
          <a:bodyPr vert="horz" lIns="91440" tIns="45720" rIns="91440" bIns="45720" rtlCol="0" anchor="t">
            <a:normAutofit/>
          </a:bodyPr>
          <a:lstStyle/>
          <a:p>
            <a:pPr algn="just">
              <a:buNone/>
            </a:pPr>
            <a:r>
              <a:rPr lang="es-ES" sz="2000">
                <a:ea typeface="+mn-lt"/>
                <a:cs typeface="+mn-lt"/>
              </a:rPr>
              <a:t>La instalación de librerías de Inteligencia Artificial en Visual Studio </a:t>
            </a:r>
            <a:r>
              <a:rPr lang="es-ES" sz="2000" err="1">
                <a:ea typeface="+mn-lt"/>
                <a:cs typeface="+mn-lt"/>
              </a:rPr>
              <a:t>Code</a:t>
            </a:r>
            <a:r>
              <a:rPr lang="es-ES" sz="2000">
                <a:ea typeface="+mn-lt"/>
                <a:cs typeface="+mn-lt"/>
              </a:rPr>
              <a:t> es fundamental porque permite crear un entorno de trabajo funcional y preparado para el desarrollo de proyectos tecnológicos actuales. Estas librerías contienen algoritmos, funciones y estructuras optimizadas que facilitan la implementación de modelos de aprendizaje automático, redes neuronales y análisis de grandes volúmenes de datos.</a:t>
            </a:r>
            <a:endParaRPr lang="es-ES" sz="2000"/>
          </a:p>
          <a:p>
            <a:pPr algn="just">
              <a:buNone/>
            </a:pPr>
            <a:r>
              <a:rPr lang="es-ES" sz="2000">
                <a:ea typeface="+mn-lt"/>
                <a:cs typeface="+mn-lt"/>
              </a:rPr>
              <a:t>Además, trabajar con librerías especializadas reduce el tiempo de desarrollo, mejora la eficiencia del código y permite aplicar conocimientos teóricos en proyectos prácticos. En el ámbito académico y profesional, dominar la instalación y uso de estas herramientas es esencial para adquirir competencias en ciencia de datos, automatización y desarrollo de soluciones inteligentes. Por lo tanto, la correcta instalación de librerías de IA en Visual Studio </a:t>
            </a:r>
            <a:r>
              <a:rPr lang="es-ES" sz="2000" err="1">
                <a:ea typeface="+mn-lt"/>
                <a:cs typeface="+mn-lt"/>
              </a:rPr>
              <a:t>Code</a:t>
            </a:r>
            <a:r>
              <a:rPr lang="es-ES" sz="2000">
                <a:ea typeface="+mn-lt"/>
                <a:cs typeface="+mn-lt"/>
              </a:rPr>
              <a:t> no solo es un paso técnico, sino una base importante para el aprendizaje y la aplicación real de la Inteligencia Artificial.</a:t>
            </a:r>
            <a:endParaRPr lang="es-ES" sz="2000"/>
          </a:p>
          <a:p>
            <a:pPr marL="0" indent="0">
              <a:buNone/>
            </a:pPr>
            <a:endParaRPr lang="es-ES" sz="2000"/>
          </a:p>
        </p:txBody>
      </p:sp>
    </p:spTree>
    <p:extLst>
      <p:ext uri="{BB962C8B-B14F-4D97-AF65-F5344CB8AC3E}">
        <p14:creationId xmlns:p14="http://schemas.microsoft.com/office/powerpoint/2010/main" val="2865712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Fill">
            <a:extLst>
              <a:ext uri="{FF2B5EF4-FFF2-40B4-BE49-F238E27FC236}">
                <a16:creationId xmlns:a16="http://schemas.microsoft.com/office/drawing/2014/main" id="{7D07B7BC-3270-4CF3-A7AA-0937908AD5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 name="Group 10">
            <a:extLst>
              <a:ext uri="{FF2B5EF4-FFF2-40B4-BE49-F238E27FC236}">
                <a16:creationId xmlns:a16="http://schemas.microsoft.com/office/drawing/2014/main" id="{108BB4D4-D71A-48F5-B2D2-45D2D78F4C2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88952" cy="6858000"/>
            <a:chOff x="651279" y="598259"/>
            <a:chExt cx="10889442" cy="5680742"/>
          </a:xfrm>
        </p:grpSpPr>
        <p:sp>
          <p:nvSpPr>
            <p:cNvPr id="12" name="Color">
              <a:extLst>
                <a:ext uri="{FF2B5EF4-FFF2-40B4-BE49-F238E27FC236}">
                  <a16:creationId xmlns:a16="http://schemas.microsoft.com/office/drawing/2014/main" id="{F287CCC2-896F-4F04-A017-737FB703FD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Color">
              <a:extLst>
                <a:ext uri="{FF2B5EF4-FFF2-40B4-BE49-F238E27FC236}">
                  <a16:creationId xmlns:a16="http://schemas.microsoft.com/office/drawing/2014/main" id="{821DD70C-9C59-4A01-BF0B-C027B5BCAF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4" name="Imagen 3" descr="Texto&#10;&#10;El contenido generado por IA puede ser incorrecto.">
            <a:extLst>
              <a:ext uri="{FF2B5EF4-FFF2-40B4-BE49-F238E27FC236}">
                <a16:creationId xmlns:a16="http://schemas.microsoft.com/office/drawing/2014/main" id="{5E9E8D02-1D63-5B94-F906-159465E1FA7B}"/>
              </a:ext>
            </a:extLst>
          </p:cNvPr>
          <p:cNvPicPr>
            <a:picLocks noChangeAspect="1"/>
          </p:cNvPicPr>
          <p:nvPr/>
        </p:nvPicPr>
        <p:blipFill>
          <a:blip r:embed="rId2"/>
          <a:stretch>
            <a:fillRect/>
          </a:stretch>
        </p:blipFill>
        <p:spPr>
          <a:xfrm>
            <a:off x="651279" y="3436815"/>
            <a:ext cx="10893346" cy="3159069"/>
          </a:xfrm>
          <a:prstGeom prst="rect">
            <a:avLst/>
          </a:prstGeom>
        </p:spPr>
      </p:pic>
      <p:grpSp>
        <p:nvGrpSpPr>
          <p:cNvPr id="15" name="Group 14">
            <a:extLst>
              <a:ext uri="{FF2B5EF4-FFF2-40B4-BE49-F238E27FC236}">
                <a16:creationId xmlns:a16="http://schemas.microsoft.com/office/drawing/2014/main" id="{E27AF472-EAE3-4572-AB69-B92BD10DBC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6" name="Freeform: Shape 15">
              <a:extLst>
                <a:ext uri="{FF2B5EF4-FFF2-40B4-BE49-F238E27FC236}">
                  <a16:creationId xmlns:a16="http://schemas.microsoft.com/office/drawing/2014/main" id="{BF4DB9D2-6215-420C-874C-82EADF8C6C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7" name="Freeform: Shape 16">
              <a:extLst>
                <a:ext uri="{FF2B5EF4-FFF2-40B4-BE49-F238E27FC236}">
                  <a16:creationId xmlns:a16="http://schemas.microsoft.com/office/drawing/2014/main" id="{1F003139-C97C-44FA-B139-32E4DFDCE9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8" name="Freeform: Shape 17">
              <a:extLst>
                <a:ext uri="{FF2B5EF4-FFF2-40B4-BE49-F238E27FC236}">
                  <a16:creationId xmlns:a16="http://schemas.microsoft.com/office/drawing/2014/main" id="{5CE4DD6E-8CEA-45EE-B630-DBC22144D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A4372F7F-AA3C-470B-AA61-7C35B7722C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34B605BF-D199-43DD-9328-E99F2ADFC6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E5D42A77-7336-4A35-8922-8098A16AA2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7401EE7D-B85D-4C10-AB8C-71884EFB1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ítulo 1">
            <a:extLst>
              <a:ext uri="{FF2B5EF4-FFF2-40B4-BE49-F238E27FC236}">
                <a16:creationId xmlns:a16="http://schemas.microsoft.com/office/drawing/2014/main" id="{E70EF768-47B6-8572-4C8A-B8B74F059BC0}"/>
              </a:ext>
            </a:extLst>
          </p:cNvPr>
          <p:cNvSpPr>
            <a:spLocks noGrp="1"/>
          </p:cNvSpPr>
          <p:nvPr>
            <p:ph type="title"/>
          </p:nvPr>
        </p:nvSpPr>
        <p:spPr>
          <a:xfrm>
            <a:off x="786384" y="576072"/>
            <a:ext cx="5430250" cy="2751749"/>
          </a:xfrm>
        </p:spPr>
        <p:txBody>
          <a:bodyPr anchor="ctr">
            <a:normAutofit/>
          </a:bodyPr>
          <a:lstStyle/>
          <a:p>
            <a:r>
              <a:rPr lang="es-ES" sz="4800">
                <a:solidFill>
                  <a:schemeClr val="bg1"/>
                </a:solidFill>
              </a:rPr>
              <a:t>INSTALACION DE LIBRERÍAS</a:t>
            </a:r>
          </a:p>
        </p:txBody>
      </p:sp>
      <p:sp>
        <p:nvSpPr>
          <p:cNvPr id="3" name="Marcador de contenido 2">
            <a:extLst>
              <a:ext uri="{FF2B5EF4-FFF2-40B4-BE49-F238E27FC236}">
                <a16:creationId xmlns:a16="http://schemas.microsoft.com/office/drawing/2014/main" id="{1DE87BD3-BD16-C998-7091-8C894432020D}"/>
              </a:ext>
            </a:extLst>
          </p:cNvPr>
          <p:cNvSpPr>
            <a:spLocks noGrp="1"/>
          </p:cNvSpPr>
          <p:nvPr>
            <p:ph idx="1"/>
          </p:nvPr>
        </p:nvSpPr>
        <p:spPr>
          <a:xfrm>
            <a:off x="6104976" y="576072"/>
            <a:ext cx="5058892" cy="2864495"/>
          </a:xfrm>
        </p:spPr>
        <p:txBody>
          <a:bodyPr vert="horz" lIns="91440" tIns="45720" rIns="91440" bIns="45720" rtlCol="0" anchor="ctr">
            <a:normAutofit/>
          </a:bodyPr>
          <a:lstStyle/>
          <a:p>
            <a:pPr marL="0" indent="0" algn="just">
              <a:buNone/>
            </a:pPr>
            <a:r>
              <a:rPr lang="es-ES" sz="1700" dirty="0">
                <a:solidFill>
                  <a:schemeClr val="bg1"/>
                </a:solidFill>
              </a:rPr>
              <a:t>Ahora realizaremos la </a:t>
            </a:r>
            <a:r>
              <a:rPr lang="es-ES" sz="1700" dirty="0" err="1">
                <a:solidFill>
                  <a:schemeClr val="bg1"/>
                </a:solidFill>
              </a:rPr>
              <a:t>instalacion</a:t>
            </a:r>
            <a:r>
              <a:rPr lang="es-ES" sz="1700" dirty="0">
                <a:solidFill>
                  <a:schemeClr val="bg1"/>
                </a:solidFill>
              </a:rPr>
              <a:t> de librería de IA para </a:t>
            </a:r>
            <a:r>
              <a:rPr lang="es-ES" sz="1700" dirty="0" err="1">
                <a:solidFill>
                  <a:schemeClr val="bg1"/>
                </a:solidFill>
              </a:rPr>
              <a:t>python</a:t>
            </a:r>
            <a:r>
              <a:rPr lang="es-ES" sz="1700" dirty="0">
                <a:solidFill>
                  <a:schemeClr val="bg1"/>
                </a:solidFill>
              </a:rPr>
              <a:t> en visual </a:t>
            </a:r>
            <a:r>
              <a:rPr lang="es-ES" sz="1700" dirty="0" err="1">
                <a:solidFill>
                  <a:schemeClr val="bg1"/>
                </a:solidFill>
              </a:rPr>
              <a:t>studio</a:t>
            </a:r>
            <a:r>
              <a:rPr lang="es-ES" sz="1700" dirty="0">
                <a:solidFill>
                  <a:schemeClr val="bg1"/>
                </a:solidFill>
              </a:rPr>
              <a:t> </a:t>
            </a:r>
            <a:r>
              <a:rPr lang="es-ES" sz="1700" dirty="0" err="1">
                <a:solidFill>
                  <a:schemeClr val="bg1"/>
                </a:solidFill>
              </a:rPr>
              <a:t>code</a:t>
            </a:r>
            <a:r>
              <a:rPr lang="es-ES" sz="1700" dirty="0">
                <a:solidFill>
                  <a:schemeClr val="bg1"/>
                </a:solidFill>
              </a:rPr>
              <a:t> primero abrimos el visual y </a:t>
            </a:r>
            <a:r>
              <a:rPr lang="es-ES" sz="1700" dirty="0" err="1">
                <a:solidFill>
                  <a:schemeClr val="bg1"/>
                </a:solidFill>
              </a:rPr>
              <a:t>despues</a:t>
            </a:r>
            <a:r>
              <a:rPr lang="es-ES" sz="1700" dirty="0">
                <a:solidFill>
                  <a:schemeClr val="bg1"/>
                </a:solidFill>
              </a:rPr>
              <a:t> </a:t>
            </a:r>
            <a:r>
              <a:rPr lang="es-ES" sz="1700" dirty="0" err="1">
                <a:solidFill>
                  <a:schemeClr val="bg1"/>
                </a:solidFill>
              </a:rPr>
              <a:t>vam</a:t>
            </a:r>
            <a:r>
              <a:rPr lang="es-ES" sz="1700" dirty="0">
                <a:solidFill>
                  <a:schemeClr val="bg1"/>
                </a:solidFill>
              </a:rPr>
              <a:t>os a terminal a ejecutar nuestro comando de </a:t>
            </a:r>
            <a:r>
              <a:rPr lang="es-ES" sz="1700" dirty="0" err="1">
                <a:solidFill>
                  <a:schemeClr val="bg1"/>
                </a:solidFill>
              </a:rPr>
              <a:t>librerias</a:t>
            </a:r>
            <a:r>
              <a:rPr lang="es-ES" sz="1700" dirty="0">
                <a:solidFill>
                  <a:schemeClr val="bg1"/>
                </a:solidFill>
              </a:rPr>
              <a:t> teniendo </a:t>
            </a:r>
            <a:r>
              <a:rPr lang="es-ES" sz="1700" dirty="0" err="1">
                <a:solidFill>
                  <a:schemeClr val="bg1"/>
                </a:solidFill>
              </a:rPr>
              <a:t>encuenta</a:t>
            </a:r>
            <a:r>
              <a:rPr lang="es-ES" sz="1700" dirty="0">
                <a:solidFill>
                  <a:schemeClr val="bg1"/>
                </a:solidFill>
              </a:rPr>
              <a:t> que para instalar una librería debemos que poner el comando de (</a:t>
            </a:r>
            <a:r>
              <a:rPr lang="es-ES" sz="1700" dirty="0" err="1">
                <a:solidFill>
                  <a:schemeClr val="bg1"/>
                </a:solidFill>
              </a:rPr>
              <a:t>pip</a:t>
            </a:r>
            <a:r>
              <a:rPr lang="es-ES" sz="1700" dirty="0">
                <a:solidFill>
                  <a:schemeClr val="bg1"/>
                </a:solidFill>
              </a:rPr>
              <a:t> </a:t>
            </a:r>
            <a:r>
              <a:rPr lang="es-ES" sz="1700" dirty="0" err="1">
                <a:solidFill>
                  <a:schemeClr val="bg1"/>
                </a:solidFill>
              </a:rPr>
              <a:t>install</a:t>
            </a:r>
            <a:r>
              <a:rPr lang="es-ES" sz="1700" dirty="0">
                <a:solidFill>
                  <a:schemeClr val="bg1"/>
                </a:solidFill>
              </a:rPr>
              <a:t> "el comando que vamos a poner ya sea pandas o </a:t>
            </a:r>
            <a:r>
              <a:rPr lang="es-ES" sz="1700" dirty="0" err="1">
                <a:solidFill>
                  <a:schemeClr val="bg1"/>
                </a:solidFill>
              </a:rPr>
              <a:t>numpy</a:t>
            </a:r>
            <a:r>
              <a:rPr lang="es-ES" sz="1700" dirty="0">
                <a:solidFill>
                  <a:schemeClr val="bg1"/>
                </a:solidFill>
              </a:rPr>
              <a:t>"), en mi caso ya tengo instalado las </a:t>
            </a:r>
            <a:r>
              <a:rPr lang="es-ES" sz="1700" dirty="0" err="1">
                <a:solidFill>
                  <a:schemeClr val="bg1"/>
                </a:solidFill>
              </a:rPr>
              <a:t>siguintes</a:t>
            </a:r>
            <a:r>
              <a:rPr lang="es-ES" sz="1700" dirty="0">
                <a:solidFill>
                  <a:schemeClr val="bg1"/>
                </a:solidFill>
              </a:rPr>
              <a:t> </a:t>
            </a:r>
            <a:r>
              <a:rPr lang="es-ES" sz="1700" dirty="0" err="1">
                <a:solidFill>
                  <a:schemeClr val="bg1"/>
                </a:solidFill>
              </a:rPr>
              <a:t>librerias</a:t>
            </a:r>
            <a:r>
              <a:rPr lang="es-ES" sz="1700" dirty="0">
                <a:solidFill>
                  <a:schemeClr val="bg1"/>
                </a:solidFill>
              </a:rPr>
              <a:t> las cuales son pandas, </a:t>
            </a:r>
            <a:r>
              <a:rPr lang="es-ES" sz="1700" dirty="0" err="1">
                <a:solidFill>
                  <a:schemeClr val="bg1"/>
                </a:solidFill>
              </a:rPr>
              <a:t>numpy</a:t>
            </a:r>
            <a:r>
              <a:rPr lang="es-ES" sz="1700" dirty="0">
                <a:solidFill>
                  <a:schemeClr val="bg1"/>
                </a:solidFill>
              </a:rPr>
              <a:t>, </a:t>
            </a:r>
            <a:r>
              <a:rPr lang="es-ES" sz="1700" dirty="0" err="1">
                <a:solidFill>
                  <a:schemeClr val="bg1"/>
                </a:solidFill>
              </a:rPr>
              <a:t>pyton-dateutil</a:t>
            </a:r>
            <a:r>
              <a:rPr lang="es-ES" sz="1700" dirty="0">
                <a:solidFill>
                  <a:schemeClr val="bg1"/>
                </a:solidFill>
              </a:rPr>
              <a:t>, </a:t>
            </a:r>
            <a:r>
              <a:rPr lang="es-ES" sz="1700" dirty="0" err="1">
                <a:solidFill>
                  <a:schemeClr val="bg1"/>
                </a:solidFill>
              </a:rPr>
              <a:t>pytz</a:t>
            </a:r>
            <a:r>
              <a:rPr lang="es-ES" sz="1700" dirty="0">
                <a:solidFill>
                  <a:schemeClr val="bg1"/>
                </a:solidFill>
              </a:rPr>
              <a:t>, </a:t>
            </a:r>
            <a:r>
              <a:rPr lang="es-ES" sz="1700" dirty="0" err="1">
                <a:solidFill>
                  <a:schemeClr val="bg1"/>
                </a:solidFill>
              </a:rPr>
              <a:t>tzdata</a:t>
            </a:r>
            <a:r>
              <a:rPr lang="es-ES" sz="1700" dirty="0">
                <a:solidFill>
                  <a:schemeClr val="bg1"/>
                </a:solidFill>
              </a:rPr>
              <a:t> y </a:t>
            </a:r>
            <a:r>
              <a:rPr lang="es-ES" sz="1700" dirty="0" err="1">
                <a:solidFill>
                  <a:schemeClr val="bg1"/>
                </a:solidFill>
              </a:rPr>
              <a:t>six</a:t>
            </a:r>
            <a:r>
              <a:rPr lang="es-ES" sz="1700" dirty="0">
                <a:solidFill>
                  <a:schemeClr val="bg1"/>
                </a:solidFill>
              </a:rPr>
              <a:t> en la que aparece de la siguiente manera:</a:t>
            </a:r>
            <a:endParaRPr lang="es-ES" dirty="0">
              <a:solidFill>
                <a:schemeClr val="bg1"/>
              </a:solidFill>
            </a:endParaRPr>
          </a:p>
          <a:p>
            <a:pPr marL="0" indent="0" algn="just">
              <a:buNone/>
            </a:pPr>
            <a:r>
              <a:rPr lang="es-ES" sz="1700" dirty="0">
                <a:solidFill>
                  <a:schemeClr val="bg1"/>
                </a:solidFill>
              </a:rPr>
              <a:t>Ahora me queda instalar las </a:t>
            </a:r>
            <a:r>
              <a:rPr lang="es-ES" sz="1700">
                <a:solidFill>
                  <a:schemeClr val="bg1"/>
                </a:solidFill>
              </a:rPr>
              <a:t>demás</a:t>
            </a:r>
            <a:endParaRPr lang="es-ES" sz="1700" dirty="0">
              <a:solidFill>
                <a:schemeClr val="bg1"/>
              </a:solidFill>
            </a:endParaRPr>
          </a:p>
          <a:p>
            <a:pPr marL="0" indent="0">
              <a:buNone/>
            </a:pPr>
            <a:endParaRPr lang="es-ES" sz="1700">
              <a:solidFill>
                <a:schemeClr val="bg1"/>
              </a:solidFill>
            </a:endParaRPr>
          </a:p>
        </p:txBody>
      </p:sp>
    </p:spTree>
    <p:extLst>
      <p:ext uri="{BB962C8B-B14F-4D97-AF65-F5344CB8AC3E}">
        <p14:creationId xmlns:p14="http://schemas.microsoft.com/office/powerpoint/2010/main" val="34129730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7A453D2-15D8-4403-815F-291FA16340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161EA6B-09CA-445B-AB0D-8DF76FA92D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74E65F23-789E-4CB9-B34F-46A85E25D66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14" name="Oval 13">
              <a:extLst>
                <a:ext uri="{FF2B5EF4-FFF2-40B4-BE49-F238E27FC236}">
                  <a16:creationId xmlns:a16="http://schemas.microsoft.com/office/drawing/2014/main" id="{1CA207F7-3B67-4EA2-8EC5-1260B55A07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AD4CC450-51C3-4A41-B2B1-68A15D57C5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ED62506D-F8E8-4C55-B160-D4FE898504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E6004793-0083-43B9-81A2-20F71D2C7D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Oval 17">
              <a:extLst>
                <a:ext uri="{FF2B5EF4-FFF2-40B4-BE49-F238E27FC236}">
                  <a16:creationId xmlns:a16="http://schemas.microsoft.com/office/drawing/2014/main" id="{53D192AA-AFCB-470F-B66A-18815C3525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9079B0CF-0B4C-42A9-9769-3AC0A34FAC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ítulo 1">
            <a:extLst>
              <a:ext uri="{FF2B5EF4-FFF2-40B4-BE49-F238E27FC236}">
                <a16:creationId xmlns:a16="http://schemas.microsoft.com/office/drawing/2014/main" id="{2879E582-D75C-DA43-F27B-7E3AA0CE73B3}"/>
              </a:ext>
            </a:extLst>
          </p:cNvPr>
          <p:cNvSpPr>
            <a:spLocks noGrp="1"/>
          </p:cNvSpPr>
          <p:nvPr>
            <p:ph type="title"/>
          </p:nvPr>
        </p:nvSpPr>
        <p:spPr>
          <a:xfrm>
            <a:off x="630936" y="630936"/>
            <a:ext cx="5260992" cy="2096756"/>
          </a:xfrm>
          <a:noFill/>
        </p:spPr>
        <p:txBody>
          <a:bodyPr anchor="t">
            <a:normAutofit/>
          </a:bodyPr>
          <a:lstStyle/>
          <a:p>
            <a:r>
              <a:rPr lang="es-ES" sz="4800">
                <a:solidFill>
                  <a:schemeClr val="bg1"/>
                </a:solidFill>
              </a:rPr>
              <a:t>LIBRERÍA SCIPY</a:t>
            </a:r>
          </a:p>
        </p:txBody>
      </p:sp>
      <p:sp>
        <p:nvSpPr>
          <p:cNvPr id="3" name="Marcador de contenido 2">
            <a:extLst>
              <a:ext uri="{FF2B5EF4-FFF2-40B4-BE49-F238E27FC236}">
                <a16:creationId xmlns:a16="http://schemas.microsoft.com/office/drawing/2014/main" id="{48A3B35C-AE88-6AE4-B331-5F57423C7011}"/>
              </a:ext>
            </a:extLst>
          </p:cNvPr>
          <p:cNvSpPr>
            <a:spLocks noGrp="1"/>
          </p:cNvSpPr>
          <p:nvPr>
            <p:ph idx="1"/>
          </p:nvPr>
        </p:nvSpPr>
        <p:spPr>
          <a:xfrm>
            <a:off x="6095996" y="630936"/>
            <a:ext cx="5064191" cy="2096769"/>
          </a:xfrm>
          <a:noFill/>
        </p:spPr>
        <p:txBody>
          <a:bodyPr vert="horz" lIns="91440" tIns="45720" rIns="91440" bIns="45720" rtlCol="0" anchor="t">
            <a:normAutofit/>
          </a:bodyPr>
          <a:lstStyle/>
          <a:p>
            <a:pPr marL="0" indent="0">
              <a:buNone/>
            </a:pPr>
            <a:r>
              <a:rPr lang="es-ES" sz="1800">
                <a:solidFill>
                  <a:schemeClr val="bg1"/>
                </a:solidFill>
              </a:rPr>
              <a:t>De esta manera es como quedaría instalada dentro de visual studio code esta librería:</a:t>
            </a:r>
          </a:p>
          <a:p>
            <a:pPr marL="0" indent="0">
              <a:buNone/>
            </a:pPr>
            <a:endParaRPr lang="es-ES" sz="1800">
              <a:solidFill>
                <a:schemeClr val="bg1"/>
              </a:solidFill>
            </a:endParaRPr>
          </a:p>
        </p:txBody>
      </p:sp>
      <p:sp>
        <p:nvSpPr>
          <p:cNvPr id="21" name="Rectangle 20">
            <a:extLst>
              <a:ext uri="{FF2B5EF4-FFF2-40B4-BE49-F238E27FC236}">
                <a16:creationId xmlns:a16="http://schemas.microsoft.com/office/drawing/2014/main" id="{B8114C98-A349-4111-A123-E8EAB86ABE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670FB431-AE18-414D-92F4-1D12D199115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24" name="Straight Connector 23">
              <a:extLst>
                <a:ext uri="{FF2B5EF4-FFF2-40B4-BE49-F238E27FC236}">
                  <a16:creationId xmlns:a16="http://schemas.microsoft.com/office/drawing/2014/main" id="{24467063-D74E-4D42-8790-B9F6D69584B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A1D19BAC-1681-47BC-AAF5-92FAFFF6F4C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94347C2B-E846-452C-97AA-7E254FC1CE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10EA2B35-7959-4C2A-84AA-FF5D94FEDE9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29" name="Rectangle 28">
            <a:extLst>
              <a:ext uri="{FF2B5EF4-FFF2-40B4-BE49-F238E27FC236}">
                <a16:creationId xmlns:a16="http://schemas.microsoft.com/office/drawing/2014/main" id="{E2D3D3F2-ABBB-4453-B1C5-1BEBF7E4DD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1" name="Group 30">
            <a:extLst>
              <a:ext uri="{FF2B5EF4-FFF2-40B4-BE49-F238E27FC236}">
                <a16:creationId xmlns:a16="http://schemas.microsoft.com/office/drawing/2014/main" id="{8214E4A5-A0D2-42C4-8D14-D2A7E495F04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32" name="Straight Connector 31">
              <a:extLst>
                <a:ext uri="{FF2B5EF4-FFF2-40B4-BE49-F238E27FC236}">
                  <a16:creationId xmlns:a16="http://schemas.microsoft.com/office/drawing/2014/main" id="{7494D7A0-6B21-41E8-A7D3-0033BBB791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E141D7D-32B0-448E-A666-EA8703AFCF2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8D87E268-6345-420F-8B97-B37ED04100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35E1622E-7FA6-4760-A2BF-A8105EBF7BB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pic>
        <p:nvPicPr>
          <p:cNvPr id="4" name="Imagen 3" descr="Texto&#10;&#10;El contenido generado por IA puede ser incorrecto.">
            <a:extLst>
              <a:ext uri="{FF2B5EF4-FFF2-40B4-BE49-F238E27FC236}">
                <a16:creationId xmlns:a16="http://schemas.microsoft.com/office/drawing/2014/main" id="{980D44E3-FDCC-69A5-6116-83F4648561C3}"/>
              </a:ext>
            </a:extLst>
          </p:cNvPr>
          <p:cNvPicPr>
            <a:picLocks noChangeAspect="1"/>
          </p:cNvPicPr>
          <p:nvPr/>
        </p:nvPicPr>
        <p:blipFill>
          <a:blip r:embed="rId2"/>
          <a:stretch>
            <a:fillRect/>
          </a:stretch>
        </p:blipFill>
        <p:spPr>
          <a:xfrm>
            <a:off x="631359" y="3800182"/>
            <a:ext cx="10843065" cy="1436704"/>
          </a:xfrm>
          <a:prstGeom prst="rect">
            <a:avLst/>
          </a:prstGeom>
        </p:spPr>
      </p:pic>
      <p:grpSp>
        <p:nvGrpSpPr>
          <p:cNvPr id="37" name="Group 36">
            <a:extLst>
              <a:ext uri="{FF2B5EF4-FFF2-40B4-BE49-F238E27FC236}">
                <a16:creationId xmlns:a16="http://schemas.microsoft.com/office/drawing/2014/main" id="{4043ADFC-DC2E-40D2-954D-4A13B908DA8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475716" y="3029889"/>
            <a:ext cx="304800" cy="429768"/>
            <a:chOff x="215328" y="-46937"/>
            <a:chExt cx="304800" cy="2773841"/>
          </a:xfrm>
        </p:grpSpPr>
        <p:cxnSp>
          <p:nvCxnSpPr>
            <p:cNvPr id="38" name="Straight Connector 37">
              <a:extLst>
                <a:ext uri="{FF2B5EF4-FFF2-40B4-BE49-F238E27FC236}">
                  <a16:creationId xmlns:a16="http://schemas.microsoft.com/office/drawing/2014/main" id="{C975E7D3-10F5-4E53-902F-9E79C98C22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3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BDC51AAB-5A3B-4730-B8AC-46C96AC0B6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69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03A6F2D9-1476-4E35-988D-D4CCB15C8D6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85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CE17F678-D5C6-49BF-933D-1E65F69B32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201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629169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6D9389E-911D-CCCB-A009-0477E04F8535}"/>
              </a:ext>
            </a:extLst>
          </p:cNvPr>
          <p:cNvSpPr>
            <a:spLocks noGrp="1"/>
          </p:cNvSpPr>
          <p:nvPr>
            <p:ph type="title"/>
          </p:nvPr>
        </p:nvSpPr>
        <p:spPr>
          <a:xfrm>
            <a:off x="630936" y="502920"/>
            <a:ext cx="3419856" cy="1463040"/>
          </a:xfrm>
        </p:spPr>
        <p:txBody>
          <a:bodyPr anchor="ctr">
            <a:normAutofit/>
          </a:bodyPr>
          <a:lstStyle/>
          <a:p>
            <a:r>
              <a:rPr lang="es-ES" sz="4100"/>
              <a:t>LIBRERÍA SCIKIT-LEARN</a:t>
            </a:r>
          </a:p>
        </p:txBody>
      </p:sp>
      <p:sp>
        <p:nvSpPr>
          <p:cNvPr id="11"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66159" y="1225296"/>
            <a:ext cx="1554480" cy="18288"/>
          </a:xfrm>
          <a:custGeom>
            <a:avLst/>
            <a:gdLst>
              <a:gd name="csX0" fmla="*/ 0 w 1554480"/>
              <a:gd name="csY0" fmla="*/ 0 h 18288"/>
              <a:gd name="csX1" fmla="*/ 549250 w 1554480"/>
              <a:gd name="csY1" fmla="*/ 0 h 18288"/>
              <a:gd name="csX2" fmla="*/ 1082954 w 1554480"/>
              <a:gd name="csY2" fmla="*/ 0 h 18288"/>
              <a:gd name="csX3" fmla="*/ 1554480 w 1554480"/>
              <a:gd name="csY3" fmla="*/ 0 h 18288"/>
              <a:gd name="csX4" fmla="*/ 1554480 w 1554480"/>
              <a:gd name="csY4" fmla="*/ 18288 h 18288"/>
              <a:gd name="csX5" fmla="*/ 1067410 w 1554480"/>
              <a:gd name="csY5" fmla="*/ 18288 h 18288"/>
              <a:gd name="csX6" fmla="*/ 549250 w 1554480"/>
              <a:gd name="csY6" fmla="*/ 18288 h 18288"/>
              <a:gd name="csX7" fmla="*/ 0 w 1554480"/>
              <a:gd name="csY7" fmla="*/ 18288 h 18288"/>
              <a:gd name="csX8" fmla="*/ 0 w 1554480"/>
              <a:gd name="csY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986912F8-1AC9-9B92-EFCD-3CD9516C128E}"/>
              </a:ext>
            </a:extLst>
          </p:cNvPr>
          <p:cNvSpPr>
            <a:spLocks noGrp="1"/>
          </p:cNvSpPr>
          <p:nvPr>
            <p:ph idx="1"/>
          </p:nvPr>
        </p:nvSpPr>
        <p:spPr>
          <a:xfrm>
            <a:off x="4654295" y="502920"/>
            <a:ext cx="6894576" cy="1463040"/>
          </a:xfrm>
        </p:spPr>
        <p:txBody>
          <a:bodyPr vert="horz" lIns="91440" tIns="45720" rIns="91440" bIns="45720" rtlCol="0" anchor="ctr">
            <a:normAutofit/>
          </a:bodyPr>
          <a:lstStyle/>
          <a:p>
            <a:pPr marL="0" indent="0">
              <a:buNone/>
            </a:pPr>
            <a:r>
              <a:rPr lang="es-ES" sz="2200"/>
              <a:t>De esta manera es como quedaría instalada la librería dentro de visual studio code:</a:t>
            </a:r>
          </a:p>
          <a:p>
            <a:pPr marL="0" indent="0">
              <a:buNone/>
            </a:pPr>
            <a:endParaRPr lang="es-ES" sz="2200"/>
          </a:p>
        </p:txBody>
      </p:sp>
      <p:pic>
        <p:nvPicPr>
          <p:cNvPr id="4" name="Imagen 3" descr="Texto&#10;&#10;El contenido generado por IA puede ser incorrecto.">
            <a:extLst>
              <a:ext uri="{FF2B5EF4-FFF2-40B4-BE49-F238E27FC236}">
                <a16:creationId xmlns:a16="http://schemas.microsoft.com/office/drawing/2014/main" id="{C6444E96-35A5-8559-8BE0-4E45E14D51E2}"/>
              </a:ext>
            </a:extLst>
          </p:cNvPr>
          <p:cNvPicPr>
            <a:picLocks noChangeAspect="1"/>
          </p:cNvPicPr>
          <p:nvPr/>
        </p:nvPicPr>
        <p:blipFill>
          <a:blip r:embed="rId2"/>
          <a:stretch>
            <a:fillRect/>
          </a:stretch>
        </p:blipFill>
        <p:spPr>
          <a:xfrm>
            <a:off x="630936" y="2714806"/>
            <a:ext cx="10917936" cy="3111612"/>
          </a:xfrm>
          <a:prstGeom prst="rect">
            <a:avLst/>
          </a:prstGeom>
        </p:spPr>
      </p:pic>
    </p:spTree>
    <p:extLst>
      <p:ext uri="{BB962C8B-B14F-4D97-AF65-F5344CB8AC3E}">
        <p14:creationId xmlns:p14="http://schemas.microsoft.com/office/powerpoint/2010/main" val="19421245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4AF80A2-43FD-2719-5B44-DE83FC5F94BA}"/>
              </a:ext>
            </a:extLst>
          </p:cNvPr>
          <p:cNvSpPr>
            <a:spLocks noGrp="1"/>
          </p:cNvSpPr>
          <p:nvPr>
            <p:ph type="title"/>
          </p:nvPr>
        </p:nvSpPr>
        <p:spPr>
          <a:xfrm>
            <a:off x="630936" y="502920"/>
            <a:ext cx="3419856" cy="1463040"/>
          </a:xfrm>
        </p:spPr>
        <p:txBody>
          <a:bodyPr anchor="ctr">
            <a:normAutofit/>
          </a:bodyPr>
          <a:lstStyle/>
          <a:p>
            <a:r>
              <a:rPr lang="es-ES" sz="4800"/>
              <a:t>LIBRERÍA MATPLOTLIB</a:t>
            </a:r>
          </a:p>
        </p:txBody>
      </p:sp>
      <p:sp>
        <p:nvSpPr>
          <p:cNvPr id="11"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66159" y="1225296"/>
            <a:ext cx="1554480" cy="18288"/>
          </a:xfrm>
          <a:custGeom>
            <a:avLst/>
            <a:gdLst>
              <a:gd name="csX0" fmla="*/ 0 w 1554480"/>
              <a:gd name="csY0" fmla="*/ 0 h 18288"/>
              <a:gd name="csX1" fmla="*/ 549250 w 1554480"/>
              <a:gd name="csY1" fmla="*/ 0 h 18288"/>
              <a:gd name="csX2" fmla="*/ 1082954 w 1554480"/>
              <a:gd name="csY2" fmla="*/ 0 h 18288"/>
              <a:gd name="csX3" fmla="*/ 1554480 w 1554480"/>
              <a:gd name="csY3" fmla="*/ 0 h 18288"/>
              <a:gd name="csX4" fmla="*/ 1554480 w 1554480"/>
              <a:gd name="csY4" fmla="*/ 18288 h 18288"/>
              <a:gd name="csX5" fmla="*/ 1067410 w 1554480"/>
              <a:gd name="csY5" fmla="*/ 18288 h 18288"/>
              <a:gd name="csX6" fmla="*/ 549250 w 1554480"/>
              <a:gd name="csY6" fmla="*/ 18288 h 18288"/>
              <a:gd name="csX7" fmla="*/ 0 w 1554480"/>
              <a:gd name="csY7" fmla="*/ 18288 h 18288"/>
              <a:gd name="csX8" fmla="*/ 0 w 1554480"/>
              <a:gd name="csY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9396C918-C120-8DE4-662E-6D81ACF049D9}"/>
              </a:ext>
            </a:extLst>
          </p:cNvPr>
          <p:cNvSpPr>
            <a:spLocks noGrp="1"/>
          </p:cNvSpPr>
          <p:nvPr>
            <p:ph idx="1"/>
          </p:nvPr>
        </p:nvSpPr>
        <p:spPr>
          <a:xfrm>
            <a:off x="4654295" y="502920"/>
            <a:ext cx="6894576" cy="1463040"/>
          </a:xfrm>
        </p:spPr>
        <p:txBody>
          <a:bodyPr vert="horz" lIns="91440" tIns="45720" rIns="91440" bIns="45720" rtlCol="0" anchor="ctr">
            <a:normAutofit/>
          </a:bodyPr>
          <a:lstStyle/>
          <a:p>
            <a:pPr marL="0" indent="0">
              <a:buNone/>
            </a:pPr>
            <a:r>
              <a:rPr lang="es-ES" sz="2200"/>
              <a:t>De esta manera es como quedaría instalada dentro de visual studio code:</a:t>
            </a:r>
          </a:p>
          <a:p>
            <a:pPr marL="0" indent="0">
              <a:buNone/>
            </a:pPr>
            <a:endParaRPr lang="es-ES" sz="2200"/>
          </a:p>
        </p:txBody>
      </p:sp>
      <p:pic>
        <p:nvPicPr>
          <p:cNvPr id="4" name="Imagen 3" descr="Texto&#10;&#10;El contenido generado por IA puede ser incorrecto.">
            <a:extLst>
              <a:ext uri="{FF2B5EF4-FFF2-40B4-BE49-F238E27FC236}">
                <a16:creationId xmlns:a16="http://schemas.microsoft.com/office/drawing/2014/main" id="{53577755-D576-85DF-5C53-CA06DB4A4738}"/>
              </a:ext>
            </a:extLst>
          </p:cNvPr>
          <p:cNvPicPr>
            <a:picLocks noChangeAspect="1"/>
          </p:cNvPicPr>
          <p:nvPr/>
        </p:nvPicPr>
        <p:blipFill>
          <a:blip r:embed="rId2"/>
          <a:stretch>
            <a:fillRect/>
          </a:stretch>
        </p:blipFill>
        <p:spPr>
          <a:xfrm>
            <a:off x="630936" y="2291736"/>
            <a:ext cx="10917936" cy="3957752"/>
          </a:xfrm>
          <a:prstGeom prst="rect">
            <a:avLst/>
          </a:prstGeom>
        </p:spPr>
      </p:pic>
    </p:spTree>
    <p:extLst>
      <p:ext uri="{BB962C8B-B14F-4D97-AF65-F5344CB8AC3E}">
        <p14:creationId xmlns:p14="http://schemas.microsoft.com/office/powerpoint/2010/main" val="23299996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550BE34-C2B8-49B8-8519-67A8CAD51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A7457DD9-5A45-400A-AB4B-4B4EDECA25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B43C73B1-9072-CD19-818C-C4264EDDB077}"/>
              </a:ext>
            </a:extLst>
          </p:cNvPr>
          <p:cNvSpPr>
            <a:spLocks noGrp="1"/>
          </p:cNvSpPr>
          <p:nvPr>
            <p:ph type="title"/>
          </p:nvPr>
        </p:nvSpPr>
        <p:spPr>
          <a:xfrm>
            <a:off x="1046746" y="586822"/>
            <a:ext cx="3560252" cy="1645920"/>
          </a:xfrm>
        </p:spPr>
        <p:txBody>
          <a:bodyPr>
            <a:normAutofit/>
          </a:bodyPr>
          <a:lstStyle/>
          <a:p>
            <a:r>
              <a:rPr lang="es-ES" sz="3200"/>
              <a:t>LIBRERÍA TENSORFLOW</a:t>
            </a:r>
          </a:p>
        </p:txBody>
      </p:sp>
      <p:sp>
        <p:nvSpPr>
          <p:cNvPr id="13" name="Rectangle 12">
            <a:extLst>
              <a:ext uri="{FF2B5EF4-FFF2-40B4-BE49-F238E27FC236}">
                <a16:creationId xmlns:a16="http://schemas.microsoft.com/office/drawing/2014/main" id="{441CF7D6-A660-431A-B0BB-140A0D555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15" name="Rectangle 14">
            <a:extLst>
              <a:ext uri="{FF2B5EF4-FFF2-40B4-BE49-F238E27FC236}">
                <a16:creationId xmlns:a16="http://schemas.microsoft.com/office/drawing/2014/main" id="{0570A85B-3810-4F95-97B0-CBF4CCDB3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140063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Marcador de contenido 2">
            <a:extLst>
              <a:ext uri="{FF2B5EF4-FFF2-40B4-BE49-F238E27FC236}">
                <a16:creationId xmlns:a16="http://schemas.microsoft.com/office/drawing/2014/main" id="{F3E0D75B-ADD1-9471-145E-4DA3271B642E}"/>
              </a:ext>
            </a:extLst>
          </p:cNvPr>
          <p:cNvSpPr>
            <a:spLocks noGrp="1"/>
          </p:cNvSpPr>
          <p:nvPr>
            <p:ph idx="1"/>
          </p:nvPr>
        </p:nvSpPr>
        <p:spPr>
          <a:xfrm>
            <a:off x="5351164" y="586822"/>
            <a:ext cx="6002636" cy="1645920"/>
          </a:xfrm>
        </p:spPr>
        <p:txBody>
          <a:bodyPr vert="horz" lIns="91440" tIns="45720" rIns="91440" bIns="45720" rtlCol="0" anchor="ctr">
            <a:normAutofit/>
          </a:bodyPr>
          <a:lstStyle/>
          <a:p>
            <a:pPr marL="0" indent="0">
              <a:buNone/>
            </a:pPr>
            <a:r>
              <a:rPr lang="es-ES" sz="1800"/>
              <a:t>Igual de la misma manera que las demás instalaremos está quedando de la siguiente manera:</a:t>
            </a:r>
          </a:p>
          <a:p>
            <a:pPr marL="0" indent="0">
              <a:buNone/>
            </a:pPr>
            <a:endParaRPr lang="es-ES" sz="1800"/>
          </a:p>
        </p:txBody>
      </p:sp>
      <p:pic>
        <p:nvPicPr>
          <p:cNvPr id="4" name="Imagen 3" descr="Texto&#10;&#10;El contenido generado por IA puede ser incorrecto.">
            <a:extLst>
              <a:ext uri="{FF2B5EF4-FFF2-40B4-BE49-F238E27FC236}">
                <a16:creationId xmlns:a16="http://schemas.microsoft.com/office/drawing/2014/main" id="{C02EE44B-5DA3-9F6A-421A-B5A1A0629BFF}"/>
              </a:ext>
            </a:extLst>
          </p:cNvPr>
          <p:cNvPicPr>
            <a:picLocks noChangeAspect="1"/>
          </p:cNvPicPr>
          <p:nvPr/>
        </p:nvPicPr>
        <p:blipFill>
          <a:blip r:embed="rId2"/>
          <a:stretch>
            <a:fillRect/>
          </a:stretch>
        </p:blipFill>
        <p:spPr>
          <a:xfrm>
            <a:off x="940398" y="2734056"/>
            <a:ext cx="10399595" cy="3483864"/>
          </a:xfrm>
          <a:prstGeom prst="rect">
            <a:avLst/>
          </a:prstGeom>
        </p:spPr>
      </p:pic>
    </p:spTree>
    <p:extLst>
      <p:ext uri="{BB962C8B-B14F-4D97-AF65-F5344CB8AC3E}">
        <p14:creationId xmlns:p14="http://schemas.microsoft.com/office/powerpoint/2010/main" val="15992275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596F992-698C-48C0-9D89-70DA4CE92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2186CFC-725A-13D4-866B-F0777343DDA2}"/>
              </a:ext>
            </a:extLst>
          </p:cNvPr>
          <p:cNvSpPr>
            <a:spLocks noGrp="1"/>
          </p:cNvSpPr>
          <p:nvPr>
            <p:ph type="title"/>
          </p:nvPr>
        </p:nvSpPr>
        <p:spPr>
          <a:xfrm>
            <a:off x="818984" y="4230093"/>
            <a:ext cx="4150581" cy="1800165"/>
          </a:xfrm>
        </p:spPr>
        <p:txBody>
          <a:bodyPr anchor="t">
            <a:normAutofit/>
          </a:bodyPr>
          <a:lstStyle/>
          <a:p>
            <a:pPr algn="r"/>
            <a:r>
              <a:rPr lang="es-ES" sz="4000"/>
              <a:t>LIBRERÍA SEABORN</a:t>
            </a:r>
          </a:p>
        </p:txBody>
      </p:sp>
      <p:pic>
        <p:nvPicPr>
          <p:cNvPr id="4" name="Imagen 3" descr="Texto&#10;&#10;El contenido generado por IA puede ser incorrecto.">
            <a:extLst>
              <a:ext uri="{FF2B5EF4-FFF2-40B4-BE49-F238E27FC236}">
                <a16:creationId xmlns:a16="http://schemas.microsoft.com/office/drawing/2014/main" id="{B43D48FA-FCDA-1E53-B283-AF4F3B660D33}"/>
              </a:ext>
            </a:extLst>
          </p:cNvPr>
          <p:cNvPicPr>
            <a:picLocks noChangeAspect="1"/>
          </p:cNvPicPr>
          <p:nvPr/>
        </p:nvPicPr>
        <p:blipFill>
          <a:blip r:embed="rId2"/>
          <a:stretch>
            <a:fillRect/>
          </a:stretch>
        </p:blipFill>
        <p:spPr>
          <a:xfrm>
            <a:off x="727535" y="457200"/>
            <a:ext cx="10797892" cy="3455325"/>
          </a:xfrm>
          <a:prstGeom prst="rect">
            <a:avLst/>
          </a:prstGeom>
        </p:spPr>
      </p:pic>
      <p:sp>
        <p:nvSpPr>
          <p:cNvPr id="3" name="Marcador de contenido 2">
            <a:extLst>
              <a:ext uri="{FF2B5EF4-FFF2-40B4-BE49-F238E27FC236}">
                <a16:creationId xmlns:a16="http://schemas.microsoft.com/office/drawing/2014/main" id="{1CC156A8-9C44-1994-18D9-1B6B79AF7645}"/>
              </a:ext>
            </a:extLst>
          </p:cNvPr>
          <p:cNvSpPr>
            <a:spLocks noGrp="1"/>
          </p:cNvSpPr>
          <p:nvPr>
            <p:ph idx="1"/>
          </p:nvPr>
        </p:nvSpPr>
        <p:spPr>
          <a:xfrm>
            <a:off x="5246415" y="4230094"/>
            <a:ext cx="6235268" cy="1800164"/>
          </a:xfrm>
        </p:spPr>
        <p:txBody>
          <a:bodyPr vert="horz" lIns="91440" tIns="45720" rIns="91440" bIns="45720" rtlCol="0" anchor="t">
            <a:normAutofit/>
          </a:bodyPr>
          <a:lstStyle/>
          <a:p>
            <a:pPr marL="0" indent="0">
              <a:buNone/>
            </a:pPr>
            <a:r>
              <a:rPr lang="es-ES" sz="2000"/>
              <a:t>Igual que las anteriores se instala del mismo procedimiento quedando de la siguiente manera:</a:t>
            </a:r>
          </a:p>
          <a:p>
            <a:pPr marL="0" indent="0">
              <a:buNone/>
            </a:pPr>
            <a:endParaRPr lang="es-ES" sz="2000"/>
          </a:p>
        </p:txBody>
      </p:sp>
      <p:sp>
        <p:nvSpPr>
          <p:cNvPr id="11" name="Rectangle 10">
            <a:extLst>
              <a:ext uri="{FF2B5EF4-FFF2-40B4-BE49-F238E27FC236}">
                <a16:creationId xmlns:a16="http://schemas.microsoft.com/office/drawing/2014/main" id="{E7BFF8DC-0AE7-4AD2-9B28-2E5F26D62C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E0162AD-C6E5-4BF8-A453-76ADB36877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rgbClr val="000000">
                  <a:alpha val="31000"/>
                </a:srgbClr>
              </a:gs>
              <a:gs pos="99000">
                <a:schemeClr val="accent1"/>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804856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596F992-698C-48C0-9D89-70DA4CE92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B82ED2A-A442-4462-E2C7-3C4F6C326656}"/>
              </a:ext>
            </a:extLst>
          </p:cNvPr>
          <p:cNvSpPr>
            <a:spLocks noGrp="1"/>
          </p:cNvSpPr>
          <p:nvPr>
            <p:ph type="title"/>
          </p:nvPr>
        </p:nvSpPr>
        <p:spPr>
          <a:xfrm>
            <a:off x="818984" y="4230093"/>
            <a:ext cx="4150581" cy="1800165"/>
          </a:xfrm>
        </p:spPr>
        <p:txBody>
          <a:bodyPr anchor="t">
            <a:normAutofit/>
          </a:bodyPr>
          <a:lstStyle/>
          <a:p>
            <a:pPr algn="r"/>
            <a:r>
              <a:rPr lang="es-ES" sz="4000"/>
              <a:t>LIBRERÍA KERAS</a:t>
            </a:r>
          </a:p>
        </p:txBody>
      </p:sp>
      <p:pic>
        <p:nvPicPr>
          <p:cNvPr id="4" name="Imagen 3">
            <a:extLst>
              <a:ext uri="{FF2B5EF4-FFF2-40B4-BE49-F238E27FC236}">
                <a16:creationId xmlns:a16="http://schemas.microsoft.com/office/drawing/2014/main" id="{870989C4-8467-3DC9-3A1C-EFFC8DD0784D}"/>
              </a:ext>
            </a:extLst>
          </p:cNvPr>
          <p:cNvPicPr>
            <a:picLocks noChangeAspect="1"/>
          </p:cNvPicPr>
          <p:nvPr/>
        </p:nvPicPr>
        <p:blipFill>
          <a:blip r:embed="rId2"/>
          <a:stretch>
            <a:fillRect/>
          </a:stretch>
        </p:blipFill>
        <p:spPr>
          <a:xfrm>
            <a:off x="556592" y="750616"/>
            <a:ext cx="11139778" cy="2868492"/>
          </a:xfrm>
          <a:prstGeom prst="rect">
            <a:avLst/>
          </a:prstGeom>
        </p:spPr>
      </p:pic>
      <p:sp>
        <p:nvSpPr>
          <p:cNvPr id="3" name="Marcador de contenido 2">
            <a:extLst>
              <a:ext uri="{FF2B5EF4-FFF2-40B4-BE49-F238E27FC236}">
                <a16:creationId xmlns:a16="http://schemas.microsoft.com/office/drawing/2014/main" id="{657CE66A-0EA6-EEDB-62CB-0A5870569FF9}"/>
              </a:ext>
            </a:extLst>
          </p:cNvPr>
          <p:cNvSpPr>
            <a:spLocks noGrp="1"/>
          </p:cNvSpPr>
          <p:nvPr>
            <p:ph idx="1"/>
          </p:nvPr>
        </p:nvSpPr>
        <p:spPr>
          <a:xfrm>
            <a:off x="5246415" y="4230094"/>
            <a:ext cx="6235268" cy="1800164"/>
          </a:xfrm>
        </p:spPr>
        <p:txBody>
          <a:bodyPr vert="horz" lIns="91440" tIns="45720" rIns="91440" bIns="45720" rtlCol="0" anchor="t">
            <a:normAutofit/>
          </a:bodyPr>
          <a:lstStyle/>
          <a:p>
            <a:pPr marL="0" indent="0">
              <a:buNone/>
            </a:pPr>
            <a:r>
              <a:rPr lang="es-ES" sz="2000"/>
              <a:t>De igual forma instalamos esta otra librería quedando de la siguiente manera:</a:t>
            </a:r>
          </a:p>
          <a:p>
            <a:pPr marL="0" indent="0">
              <a:buNone/>
            </a:pPr>
            <a:endParaRPr lang="es-ES" sz="2000"/>
          </a:p>
        </p:txBody>
      </p:sp>
      <p:sp>
        <p:nvSpPr>
          <p:cNvPr id="11" name="Rectangle 10">
            <a:extLst>
              <a:ext uri="{FF2B5EF4-FFF2-40B4-BE49-F238E27FC236}">
                <a16:creationId xmlns:a16="http://schemas.microsoft.com/office/drawing/2014/main" id="{E7BFF8DC-0AE7-4AD2-9B28-2E5F26D62C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E0162AD-C6E5-4BF8-A453-76ADB36877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rgbClr val="000000">
                  <a:alpha val="31000"/>
                </a:srgbClr>
              </a:gs>
              <a:gs pos="99000">
                <a:schemeClr val="accent1"/>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252315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A0A0BE2D-4ED2-E2FD-6386-939B77E11256}"/>
              </a:ext>
            </a:extLst>
          </p:cNvPr>
          <p:cNvSpPr>
            <a:spLocks noGrp="1"/>
          </p:cNvSpPr>
          <p:nvPr>
            <p:ph type="title"/>
          </p:nvPr>
        </p:nvSpPr>
        <p:spPr>
          <a:xfrm>
            <a:off x="630936" y="502920"/>
            <a:ext cx="3419856" cy="1463040"/>
          </a:xfrm>
        </p:spPr>
        <p:txBody>
          <a:bodyPr anchor="ctr">
            <a:normAutofit/>
          </a:bodyPr>
          <a:lstStyle/>
          <a:p>
            <a:r>
              <a:rPr lang="es-ES" sz="4800"/>
              <a:t>LIBRERÍA TORCH</a:t>
            </a:r>
          </a:p>
        </p:txBody>
      </p:sp>
      <p:sp>
        <p:nvSpPr>
          <p:cNvPr id="11"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66159" y="1225296"/>
            <a:ext cx="1554480" cy="18288"/>
          </a:xfrm>
          <a:custGeom>
            <a:avLst/>
            <a:gdLst>
              <a:gd name="csX0" fmla="*/ 0 w 1554480"/>
              <a:gd name="csY0" fmla="*/ 0 h 18288"/>
              <a:gd name="csX1" fmla="*/ 549250 w 1554480"/>
              <a:gd name="csY1" fmla="*/ 0 h 18288"/>
              <a:gd name="csX2" fmla="*/ 1082954 w 1554480"/>
              <a:gd name="csY2" fmla="*/ 0 h 18288"/>
              <a:gd name="csX3" fmla="*/ 1554480 w 1554480"/>
              <a:gd name="csY3" fmla="*/ 0 h 18288"/>
              <a:gd name="csX4" fmla="*/ 1554480 w 1554480"/>
              <a:gd name="csY4" fmla="*/ 18288 h 18288"/>
              <a:gd name="csX5" fmla="*/ 1067410 w 1554480"/>
              <a:gd name="csY5" fmla="*/ 18288 h 18288"/>
              <a:gd name="csX6" fmla="*/ 549250 w 1554480"/>
              <a:gd name="csY6" fmla="*/ 18288 h 18288"/>
              <a:gd name="csX7" fmla="*/ 0 w 1554480"/>
              <a:gd name="csY7" fmla="*/ 18288 h 18288"/>
              <a:gd name="csX8" fmla="*/ 0 w 1554480"/>
              <a:gd name="csY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48984AD1-EE18-7369-498B-0BE7CFB59147}"/>
              </a:ext>
            </a:extLst>
          </p:cNvPr>
          <p:cNvSpPr>
            <a:spLocks noGrp="1"/>
          </p:cNvSpPr>
          <p:nvPr>
            <p:ph idx="1"/>
          </p:nvPr>
        </p:nvSpPr>
        <p:spPr>
          <a:xfrm>
            <a:off x="4654295" y="502920"/>
            <a:ext cx="6894576" cy="1463040"/>
          </a:xfrm>
        </p:spPr>
        <p:txBody>
          <a:bodyPr vert="horz" lIns="91440" tIns="45720" rIns="91440" bIns="45720" rtlCol="0" anchor="ctr">
            <a:normAutofit/>
          </a:bodyPr>
          <a:lstStyle/>
          <a:p>
            <a:pPr marL="0" indent="0">
              <a:buNone/>
            </a:pPr>
            <a:r>
              <a:rPr lang="es-ES" sz="2200"/>
              <a:t>Queda de la siguiente manera ya instalado dentro de visual studio code:</a:t>
            </a:r>
          </a:p>
          <a:p>
            <a:pPr marL="0" indent="0">
              <a:buNone/>
            </a:pPr>
            <a:endParaRPr lang="es-ES" sz="2200"/>
          </a:p>
        </p:txBody>
      </p:sp>
      <p:pic>
        <p:nvPicPr>
          <p:cNvPr id="4" name="Imagen 3" descr="Texto&#10;&#10;El contenido generado por IA puede ser incorrecto.">
            <a:extLst>
              <a:ext uri="{FF2B5EF4-FFF2-40B4-BE49-F238E27FC236}">
                <a16:creationId xmlns:a16="http://schemas.microsoft.com/office/drawing/2014/main" id="{55E0661D-991D-7FCC-FAF0-51CD0D6F9F75}"/>
              </a:ext>
            </a:extLst>
          </p:cNvPr>
          <p:cNvPicPr>
            <a:picLocks noChangeAspect="1"/>
          </p:cNvPicPr>
          <p:nvPr/>
        </p:nvPicPr>
        <p:blipFill>
          <a:blip r:embed="rId2"/>
          <a:stretch>
            <a:fillRect/>
          </a:stretch>
        </p:blipFill>
        <p:spPr>
          <a:xfrm>
            <a:off x="775337" y="2290936"/>
            <a:ext cx="10629134" cy="3959352"/>
          </a:xfrm>
          <a:prstGeom prst="rect">
            <a:avLst/>
          </a:prstGeom>
        </p:spPr>
      </p:pic>
    </p:spTree>
    <p:extLst>
      <p:ext uri="{BB962C8B-B14F-4D97-AF65-F5344CB8AC3E}">
        <p14:creationId xmlns:p14="http://schemas.microsoft.com/office/powerpoint/2010/main" val="9187152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B3A2D1A-45FC-4F95-B150-1C13EF2F6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39C3C864-C625-4883-B868-9A4C470F4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ítulo 1">
            <a:extLst>
              <a:ext uri="{FF2B5EF4-FFF2-40B4-BE49-F238E27FC236}">
                <a16:creationId xmlns:a16="http://schemas.microsoft.com/office/drawing/2014/main" id="{7F3D3125-2B4E-50FE-ABF7-554F792E0CA0}"/>
              </a:ext>
            </a:extLst>
          </p:cNvPr>
          <p:cNvSpPr>
            <a:spLocks noGrp="1"/>
          </p:cNvSpPr>
          <p:nvPr>
            <p:ph type="title"/>
          </p:nvPr>
        </p:nvSpPr>
        <p:spPr>
          <a:xfrm>
            <a:off x="838200" y="3905833"/>
            <a:ext cx="4215063" cy="2398713"/>
          </a:xfrm>
        </p:spPr>
        <p:txBody>
          <a:bodyPr>
            <a:normAutofit/>
          </a:bodyPr>
          <a:lstStyle/>
          <a:p>
            <a:r>
              <a:rPr lang="es-ES"/>
              <a:t>LIBRERÍA TORCHVISION</a:t>
            </a:r>
          </a:p>
        </p:txBody>
      </p:sp>
      <p:pic>
        <p:nvPicPr>
          <p:cNvPr id="4" name="Imagen 3" descr="Texto&#10;&#10;El contenido generado por IA puede ser incorrecto.">
            <a:extLst>
              <a:ext uri="{FF2B5EF4-FFF2-40B4-BE49-F238E27FC236}">
                <a16:creationId xmlns:a16="http://schemas.microsoft.com/office/drawing/2014/main" id="{2B1E96C9-F92A-3FEA-A1D0-1ECAA0A927DA}"/>
              </a:ext>
            </a:extLst>
          </p:cNvPr>
          <p:cNvPicPr>
            <a:picLocks noChangeAspect="1"/>
          </p:cNvPicPr>
          <p:nvPr/>
        </p:nvPicPr>
        <p:blipFill>
          <a:blip r:embed="rId2"/>
          <a:stretch>
            <a:fillRect/>
          </a:stretch>
        </p:blipFill>
        <p:spPr>
          <a:xfrm>
            <a:off x="1158955" y="1009789"/>
            <a:ext cx="9875259" cy="1556609"/>
          </a:xfrm>
          <a:prstGeom prst="rect">
            <a:avLst/>
          </a:prstGeom>
        </p:spPr>
      </p:pic>
      <p:sp>
        <p:nvSpPr>
          <p:cNvPr id="3" name="Marcador de contenido 2">
            <a:extLst>
              <a:ext uri="{FF2B5EF4-FFF2-40B4-BE49-F238E27FC236}">
                <a16:creationId xmlns:a16="http://schemas.microsoft.com/office/drawing/2014/main" id="{56B7FEC5-BB0A-907C-E280-8CBABA439356}"/>
              </a:ext>
            </a:extLst>
          </p:cNvPr>
          <p:cNvSpPr>
            <a:spLocks noGrp="1"/>
          </p:cNvSpPr>
          <p:nvPr>
            <p:ph idx="1"/>
          </p:nvPr>
        </p:nvSpPr>
        <p:spPr>
          <a:xfrm>
            <a:off x="5630779" y="3884452"/>
            <a:ext cx="5723021" cy="2398713"/>
          </a:xfrm>
        </p:spPr>
        <p:txBody>
          <a:bodyPr vert="horz" lIns="91440" tIns="45720" rIns="91440" bIns="45720" rtlCol="0" anchor="ctr">
            <a:normAutofit/>
          </a:bodyPr>
          <a:lstStyle/>
          <a:p>
            <a:pPr marL="0" indent="0">
              <a:buNone/>
            </a:pPr>
            <a:r>
              <a:rPr lang="es-ES" sz="2000"/>
              <a:t>De la misma manear se instala esta librería quedando de la siguiente manera:</a:t>
            </a:r>
          </a:p>
          <a:p>
            <a:pPr marL="0" indent="0">
              <a:buNone/>
            </a:pPr>
            <a:endParaRPr lang="es-ES" sz="2000"/>
          </a:p>
        </p:txBody>
      </p:sp>
    </p:spTree>
    <p:extLst>
      <p:ext uri="{BB962C8B-B14F-4D97-AF65-F5344CB8AC3E}">
        <p14:creationId xmlns:p14="http://schemas.microsoft.com/office/powerpoint/2010/main" val="7032188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93B4D24-F4A8-4141-A20A-E0575D1996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2">
              <a:tint val="95000"/>
              <a:satMod val="1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Meiryo"/>
            </a:endParaRPr>
          </a:p>
        </p:txBody>
      </p:sp>
      <p:sp>
        <p:nvSpPr>
          <p:cNvPr id="2" name="Título 1">
            <a:extLst>
              <a:ext uri="{FF2B5EF4-FFF2-40B4-BE49-F238E27FC236}">
                <a16:creationId xmlns:a16="http://schemas.microsoft.com/office/drawing/2014/main" id="{C6DA87C4-23B6-5287-4C81-415F8C1B6A86}"/>
              </a:ext>
            </a:extLst>
          </p:cNvPr>
          <p:cNvSpPr>
            <a:spLocks noGrp="1"/>
          </p:cNvSpPr>
          <p:nvPr>
            <p:ph type="title"/>
          </p:nvPr>
        </p:nvSpPr>
        <p:spPr>
          <a:xfrm>
            <a:off x="1920875" y="3645673"/>
            <a:ext cx="8769350" cy="950181"/>
          </a:xfrm>
        </p:spPr>
        <p:txBody>
          <a:bodyPr anchor="b">
            <a:normAutofit/>
          </a:bodyPr>
          <a:lstStyle/>
          <a:p>
            <a:pPr algn="ctr"/>
            <a:r>
              <a:rPr lang="es-ES" sz="3600"/>
              <a:t>LIBRERÍA OPENCV-PYTHON</a:t>
            </a:r>
          </a:p>
        </p:txBody>
      </p:sp>
      <p:sp>
        <p:nvSpPr>
          <p:cNvPr id="11" name="Freeform: Shape 10">
            <a:extLst>
              <a:ext uri="{FF2B5EF4-FFF2-40B4-BE49-F238E27FC236}">
                <a16:creationId xmlns:a16="http://schemas.microsoft.com/office/drawing/2014/main" id="{D845573F-F83A-4A47-B94A-2E6465F111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66883" y="557880"/>
            <a:ext cx="3458235" cy="2959687"/>
          </a:xfrm>
          <a:custGeom>
            <a:avLst/>
            <a:gdLst>
              <a:gd name="connsiteX0" fmla="*/ 2180840 w 3810827"/>
              <a:gd name="connsiteY0" fmla="*/ 0 h 3634591"/>
              <a:gd name="connsiteX1" fmla="*/ 2866380 w 3810827"/>
              <a:gd name="connsiteY1" fmla="*/ 145165 h 3634591"/>
              <a:gd name="connsiteX2" fmla="*/ 3366366 w 3810827"/>
              <a:gd name="connsiteY2" fmla="*/ 536835 h 3634591"/>
              <a:gd name="connsiteX3" fmla="*/ 3810827 w 3810827"/>
              <a:gd name="connsiteY3" fmla="*/ 1924156 h 3634591"/>
              <a:gd name="connsiteX4" fmla="*/ 3612844 w 3810827"/>
              <a:gd name="connsiteY4" fmla="*/ 2493111 h 3634591"/>
              <a:gd name="connsiteX5" fmla="*/ 3026664 w 3810827"/>
              <a:gd name="connsiteY5" fmla="*/ 3022891 h 3634591"/>
              <a:gd name="connsiteX6" fmla="*/ 2897783 w 3810827"/>
              <a:gd name="connsiteY6" fmla="*/ 3124233 h 3634591"/>
              <a:gd name="connsiteX7" fmla="*/ 1838765 w 3810827"/>
              <a:gd name="connsiteY7" fmla="*/ 3634591 h 3634591"/>
              <a:gd name="connsiteX8" fmla="*/ 443724 w 3810827"/>
              <a:gd name="connsiteY8" fmla="*/ 2805020 h 3634591"/>
              <a:gd name="connsiteX9" fmla="*/ 295053 w 3810827"/>
              <a:gd name="connsiteY9" fmla="*/ 2592792 h 3634591"/>
              <a:gd name="connsiteX10" fmla="*/ 0 w 3810827"/>
              <a:gd name="connsiteY10" fmla="*/ 1924156 h 3634591"/>
              <a:gd name="connsiteX11" fmla="*/ 178275 w 3810827"/>
              <a:gd name="connsiteY11" fmla="*/ 1204061 h 3634591"/>
              <a:gd name="connsiteX12" fmla="*/ 669921 w 3810827"/>
              <a:gd name="connsiteY12" fmla="*/ 585306 h 3634591"/>
              <a:gd name="connsiteX13" fmla="*/ 1380730 w 3810827"/>
              <a:gd name="connsiteY13" fmla="*/ 156203 h 3634591"/>
              <a:gd name="connsiteX14" fmla="*/ 2180840 w 3810827"/>
              <a:gd name="connsiteY14" fmla="*/ 0 h 3634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0827" h="3634591">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noFill/>
          <a:ln w="19050">
            <a:solidFill>
              <a:srgbClr val="FFFFFF">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2">
            <a:extLst>
              <a:ext uri="{FF2B5EF4-FFF2-40B4-BE49-F238E27FC236}">
                <a16:creationId xmlns:a16="http://schemas.microsoft.com/office/drawing/2014/main" id="{E3E9CA91-0E2B-49CD-A0F6-2EA79F02FA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07954" y="676385"/>
            <a:ext cx="3236724" cy="2678356"/>
          </a:xfrm>
          <a:custGeom>
            <a:avLst/>
            <a:gdLst>
              <a:gd name="connsiteX0" fmla="*/ 1852211 w 3236724"/>
              <a:gd name="connsiteY0" fmla="*/ 0 h 2678356"/>
              <a:gd name="connsiteX1" fmla="*/ 1852285 w 3236724"/>
              <a:gd name="connsiteY1" fmla="*/ 3 h 2678356"/>
              <a:gd name="connsiteX2" fmla="*/ 1852359 w 3236724"/>
              <a:gd name="connsiteY2" fmla="*/ 0 h 2678356"/>
              <a:gd name="connsiteX3" fmla="*/ 2434596 w 3236724"/>
              <a:gd name="connsiteY3" fmla="*/ 106974 h 2678356"/>
              <a:gd name="connsiteX4" fmla="*/ 2859238 w 3236724"/>
              <a:gd name="connsiteY4" fmla="*/ 395597 h 2678356"/>
              <a:gd name="connsiteX5" fmla="*/ 3236724 w 3236724"/>
              <a:gd name="connsiteY5" fmla="*/ 1417925 h 2678356"/>
              <a:gd name="connsiteX6" fmla="*/ 3068575 w 3236724"/>
              <a:gd name="connsiteY6" fmla="*/ 1837191 h 2678356"/>
              <a:gd name="connsiteX7" fmla="*/ 2570726 w 3236724"/>
              <a:gd name="connsiteY7" fmla="*/ 2227590 h 2678356"/>
              <a:gd name="connsiteX8" fmla="*/ 2461266 w 3236724"/>
              <a:gd name="connsiteY8" fmla="*/ 2302270 h 2678356"/>
              <a:gd name="connsiteX9" fmla="*/ 1561831 w 3236724"/>
              <a:gd name="connsiteY9" fmla="*/ 2678356 h 2678356"/>
              <a:gd name="connsiteX10" fmla="*/ 1561750 w 3236724"/>
              <a:gd name="connsiteY10" fmla="*/ 2678352 h 2678356"/>
              <a:gd name="connsiteX11" fmla="*/ 1561683 w 3236724"/>
              <a:gd name="connsiteY11" fmla="*/ 2678356 h 2678356"/>
              <a:gd name="connsiteX12" fmla="*/ 376860 w 3236724"/>
              <a:gd name="connsiteY12" fmla="*/ 2067039 h 2678356"/>
              <a:gd name="connsiteX13" fmla="*/ 250592 w 3236724"/>
              <a:gd name="connsiteY13" fmla="*/ 1910648 h 2678356"/>
              <a:gd name="connsiteX14" fmla="*/ 0 w 3236724"/>
              <a:gd name="connsiteY14" fmla="*/ 1417925 h 2678356"/>
              <a:gd name="connsiteX15" fmla="*/ 151411 w 3236724"/>
              <a:gd name="connsiteY15" fmla="*/ 887282 h 2678356"/>
              <a:gd name="connsiteX16" fmla="*/ 568971 w 3236724"/>
              <a:gd name="connsiteY16" fmla="*/ 431316 h 2678356"/>
              <a:gd name="connsiteX17" fmla="*/ 1172669 w 3236724"/>
              <a:gd name="connsiteY17" fmla="*/ 115107 h 2678356"/>
              <a:gd name="connsiteX18" fmla="*/ 1852211 w 3236724"/>
              <a:gd name="connsiteY18" fmla="*/ 0 h 267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36724" h="2678356">
                <a:moveTo>
                  <a:pt x="1852211" y="0"/>
                </a:moveTo>
                <a:lnTo>
                  <a:pt x="1852285" y="3"/>
                </a:lnTo>
                <a:lnTo>
                  <a:pt x="1852359" y="0"/>
                </a:lnTo>
                <a:cubicBezTo>
                  <a:pt x="2065168" y="0"/>
                  <a:pt x="2261029" y="36024"/>
                  <a:pt x="2434596" y="106974"/>
                </a:cubicBezTo>
                <a:cubicBezTo>
                  <a:pt x="2597258" y="173517"/>
                  <a:pt x="2740125" y="270643"/>
                  <a:pt x="2859238" y="395597"/>
                </a:cubicBezTo>
                <a:cubicBezTo>
                  <a:pt x="3102677" y="651072"/>
                  <a:pt x="3236724" y="1014131"/>
                  <a:pt x="3236724" y="1417925"/>
                </a:cubicBezTo>
                <a:cubicBezTo>
                  <a:pt x="3236724" y="1579026"/>
                  <a:pt x="3184842" y="1708324"/>
                  <a:pt x="3068575" y="1837191"/>
                </a:cubicBezTo>
                <a:cubicBezTo>
                  <a:pt x="2946961" y="1971994"/>
                  <a:pt x="2764225" y="2096154"/>
                  <a:pt x="2570726" y="2227590"/>
                </a:cubicBezTo>
                <a:cubicBezTo>
                  <a:pt x="2535026" y="2251811"/>
                  <a:pt x="2498146" y="2276888"/>
                  <a:pt x="2461266" y="2302270"/>
                </a:cubicBezTo>
                <a:cubicBezTo>
                  <a:pt x="2131149" y="2529427"/>
                  <a:pt x="1890211" y="2678356"/>
                  <a:pt x="1561831" y="2678356"/>
                </a:cubicBezTo>
                <a:lnTo>
                  <a:pt x="1561750" y="2678352"/>
                </a:lnTo>
                <a:lnTo>
                  <a:pt x="1561683" y="2678356"/>
                </a:lnTo>
                <a:cubicBezTo>
                  <a:pt x="1061332" y="2678356"/>
                  <a:pt x="706977" y="2495543"/>
                  <a:pt x="376860" y="2067039"/>
                </a:cubicBezTo>
                <a:cubicBezTo>
                  <a:pt x="333659" y="2010953"/>
                  <a:pt x="291431" y="1959945"/>
                  <a:pt x="250592" y="1910648"/>
                </a:cubicBezTo>
                <a:cubicBezTo>
                  <a:pt x="81331" y="1706243"/>
                  <a:pt x="0" y="1599944"/>
                  <a:pt x="0" y="1417925"/>
                </a:cubicBezTo>
                <a:cubicBezTo>
                  <a:pt x="0" y="1237191"/>
                  <a:pt x="50979" y="1058657"/>
                  <a:pt x="151411" y="887282"/>
                </a:cubicBezTo>
                <a:cubicBezTo>
                  <a:pt x="249689" y="719635"/>
                  <a:pt x="390195" y="566180"/>
                  <a:pt x="568971" y="431316"/>
                </a:cubicBezTo>
                <a:cubicBezTo>
                  <a:pt x="744691" y="298716"/>
                  <a:pt x="953401" y="189359"/>
                  <a:pt x="1172669" y="115107"/>
                </a:cubicBezTo>
                <a:cubicBezTo>
                  <a:pt x="1397840" y="38716"/>
                  <a:pt x="1626554" y="0"/>
                  <a:pt x="1852211" y="0"/>
                </a:cubicBezTo>
                <a:close/>
              </a:path>
            </a:pathLst>
          </a:custGeom>
          <a:solidFill>
            <a:schemeClr val="bg1">
              <a:alpha val="30000"/>
            </a:scheme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4" name="Imagen 3" descr="Imagen que contiene naranja, oscuro, alimentos, sostener&#10;&#10;El contenido generado por IA puede ser incorrecto.">
            <a:extLst>
              <a:ext uri="{FF2B5EF4-FFF2-40B4-BE49-F238E27FC236}">
                <a16:creationId xmlns:a16="http://schemas.microsoft.com/office/drawing/2014/main" id="{5646BA77-D4F1-F8D7-8F81-DC3693254E4C}"/>
              </a:ext>
            </a:extLst>
          </p:cNvPr>
          <p:cNvPicPr>
            <a:picLocks noChangeAspect="1"/>
          </p:cNvPicPr>
          <p:nvPr/>
        </p:nvPicPr>
        <p:blipFill>
          <a:blip r:embed="rId2"/>
          <a:stretch>
            <a:fillRect/>
          </a:stretch>
        </p:blipFill>
        <p:spPr>
          <a:xfrm>
            <a:off x="401802" y="1715351"/>
            <a:ext cx="11372310" cy="629178"/>
          </a:xfrm>
          <a:prstGeom prst="rect">
            <a:avLst/>
          </a:prstGeom>
        </p:spPr>
      </p:pic>
      <p:sp>
        <p:nvSpPr>
          <p:cNvPr id="3" name="Marcador de contenido 2">
            <a:extLst>
              <a:ext uri="{FF2B5EF4-FFF2-40B4-BE49-F238E27FC236}">
                <a16:creationId xmlns:a16="http://schemas.microsoft.com/office/drawing/2014/main" id="{3CAD08D3-F91F-B286-5872-650212D0F3B3}"/>
              </a:ext>
            </a:extLst>
          </p:cNvPr>
          <p:cNvSpPr>
            <a:spLocks noGrp="1"/>
          </p:cNvSpPr>
          <p:nvPr>
            <p:ph idx="1"/>
          </p:nvPr>
        </p:nvSpPr>
        <p:spPr>
          <a:xfrm>
            <a:off x="1920874" y="4595854"/>
            <a:ext cx="8932863" cy="1623971"/>
          </a:xfrm>
        </p:spPr>
        <p:txBody>
          <a:bodyPr vert="horz" lIns="91440" tIns="45720" rIns="91440" bIns="45720" rtlCol="0">
            <a:normAutofit/>
          </a:bodyPr>
          <a:lstStyle/>
          <a:p>
            <a:pPr marL="0" indent="0" algn="ctr">
              <a:buNone/>
            </a:pPr>
            <a:r>
              <a:rPr lang="es-ES" sz="2000"/>
              <a:t>Queda de la siguiente manera la librería en visual studio code:</a:t>
            </a:r>
          </a:p>
          <a:p>
            <a:pPr marL="0" indent="0" algn="ctr">
              <a:buNone/>
            </a:pPr>
            <a:endParaRPr lang="es-ES" sz="2000"/>
          </a:p>
        </p:txBody>
      </p:sp>
    </p:spTree>
    <p:extLst>
      <p:ext uri="{BB962C8B-B14F-4D97-AF65-F5344CB8AC3E}">
        <p14:creationId xmlns:p14="http://schemas.microsoft.com/office/powerpoint/2010/main" val="17204750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5E0F6DE-F84D-38E3-00A6-5B44BF8D316C}"/>
              </a:ext>
            </a:extLst>
          </p:cNvPr>
          <p:cNvSpPr>
            <a:spLocks noGrp="1"/>
          </p:cNvSpPr>
          <p:nvPr>
            <p:ph type="title"/>
          </p:nvPr>
        </p:nvSpPr>
        <p:spPr>
          <a:xfrm>
            <a:off x="630936" y="502920"/>
            <a:ext cx="3419856" cy="1463040"/>
          </a:xfrm>
        </p:spPr>
        <p:txBody>
          <a:bodyPr anchor="ctr">
            <a:normAutofit/>
          </a:bodyPr>
          <a:lstStyle/>
          <a:p>
            <a:r>
              <a:rPr lang="es-ES" sz="4800"/>
              <a:t>LIBRERÍA JUPYTER</a:t>
            </a:r>
          </a:p>
        </p:txBody>
      </p:sp>
      <p:sp>
        <p:nvSpPr>
          <p:cNvPr id="11"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66159" y="1225296"/>
            <a:ext cx="1554480" cy="18288"/>
          </a:xfrm>
          <a:custGeom>
            <a:avLst/>
            <a:gdLst>
              <a:gd name="csX0" fmla="*/ 0 w 1554480"/>
              <a:gd name="csY0" fmla="*/ 0 h 18288"/>
              <a:gd name="csX1" fmla="*/ 549250 w 1554480"/>
              <a:gd name="csY1" fmla="*/ 0 h 18288"/>
              <a:gd name="csX2" fmla="*/ 1082954 w 1554480"/>
              <a:gd name="csY2" fmla="*/ 0 h 18288"/>
              <a:gd name="csX3" fmla="*/ 1554480 w 1554480"/>
              <a:gd name="csY3" fmla="*/ 0 h 18288"/>
              <a:gd name="csX4" fmla="*/ 1554480 w 1554480"/>
              <a:gd name="csY4" fmla="*/ 18288 h 18288"/>
              <a:gd name="csX5" fmla="*/ 1067410 w 1554480"/>
              <a:gd name="csY5" fmla="*/ 18288 h 18288"/>
              <a:gd name="csX6" fmla="*/ 549250 w 1554480"/>
              <a:gd name="csY6" fmla="*/ 18288 h 18288"/>
              <a:gd name="csX7" fmla="*/ 0 w 1554480"/>
              <a:gd name="csY7" fmla="*/ 18288 h 18288"/>
              <a:gd name="csX8" fmla="*/ 0 w 1554480"/>
              <a:gd name="csY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2C227F2A-980D-B8DF-850B-8603C481AFE9}"/>
              </a:ext>
            </a:extLst>
          </p:cNvPr>
          <p:cNvSpPr>
            <a:spLocks noGrp="1"/>
          </p:cNvSpPr>
          <p:nvPr>
            <p:ph idx="1"/>
          </p:nvPr>
        </p:nvSpPr>
        <p:spPr>
          <a:xfrm>
            <a:off x="4654295" y="502920"/>
            <a:ext cx="6894576" cy="1463040"/>
          </a:xfrm>
        </p:spPr>
        <p:txBody>
          <a:bodyPr vert="horz" lIns="91440" tIns="45720" rIns="91440" bIns="45720" rtlCol="0" anchor="ctr">
            <a:normAutofit/>
          </a:bodyPr>
          <a:lstStyle/>
          <a:p>
            <a:pPr marL="0" indent="0">
              <a:buNone/>
            </a:pPr>
            <a:r>
              <a:rPr lang="es-ES" sz="2200"/>
              <a:t>Quedando de la siguiente manera dentro de visual studio siendo esta la ultima librería importante dentro de visual studio code para lo que es la IA dentro de Python:</a:t>
            </a:r>
          </a:p>
          <a:p>
            <a:pPr marL="0" indent="0">
              <a:buNone/>
            </a:pPr>
            <a:endParaRPr lang="es-ES" sz="2200"/>
          </a:p>
        </p:txBody>
      </p:sp>
      <p:pic>
        <p:nvPicPr>
          <p:cNvPr id="4" name="Imagen 3" descr="Imagen que contiene texto, placa, calle, hecho de madera&#10;&#10;El contenido generado por IA puede ser incorrecto.">
            <a:extLst>
              <a:ext uri="{FF2B5EF4-FFF2-40B4-BE49-F238E27FC236}">
                <a16:creationId xmlns:a16="http://schemas.microsoft.com/office/drawing/2014/main" id="{D0FB87AA-055B-5BDC-7887-EF36EDD2DE38}"/>
              </a:ext>
            </a:extLst>
          </p:cNvPr>
          <p:cNvPicPr>
            <a:picLocks noChangeAspect="1"/>
          </p:cNvPicPr>
          <p:nvPr/>
        </p:nvPicPr>
        <p:blipFill>
          <a:blip r:embed="rId2"/>
          <a:stretch>
            <a:fillRect/>
          </a:stretch>
        </p:blipFill>
        <p:spPr>
          <a:xfrm>
            <a:off x="630936" y="2417971"/>
            <a:ext cx="10917936" cy="3705281"/>
          </a:xfrm>
          <a:prstGeom prst="rect">
            <a:avLst/>
          </a:prstGeom>
        </p:spPr>
      </p:pic>
    </p:spTree>
    <p:extLst>
      <p:ext uri="{BB962C8B-B14F-4D97-AF65-F5344CB8AC3E}">
        <p14:creationId xmlns:p14="http://schemas.microsoft.com/office/powerpoint/2010/main" val="31526245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550BE34-C2B8-49B8-8519-67A8CAD51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A7457DD9-5A45-400A-AB4B-4B4EDECA25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EFAA178A-74D7-861B-A8D1-B8D2F8B05D67}"/>
              </a:ext>
            </a:extLst>
          </p:cNvPr>
          <p:cNvSpPr>
            <a:spLocks noGrp="1"/>
          </p:cNvSpPr>
          <p:nvPr>
            <p:ph type="title"/>
          </p:nvPr>
        </p:nvSpPr>
        <p:spPr>
          <a:xfrm>
            <a:off x="1046746" y="586822"/>
            <a:ext cx="3560252" cy="1645920"/>
          </a:xfrm>
        </p:spPr>
        <p:txBody>
          <a:bodyPr>
            <a:normAutofit/>
          </a:bodyPr>
          <a:lstStyle/>
          <a:p>
            <a:r>
              <a:rPr lang="es-ES" sz="3200"/>
              <a:t>LIBRERIA PILLOW</a:t>
            </a:r>
          </a:p>
        </p:txBody>
      </p:sp>
      <p:sp>
        <p:nvSpPr>
          <p:cNvPr id="13" name="Rectangle 12">
            <a:extLst>
              <a:ext uri="{FF2B5EF4-FFF2-40B4-BE49-F238E27FC236}">
                <a16:creationId xmlns:a16="http://schemas.microsoft.com/office/drawing/2014/main" id="{441CF7D6-A660-431A-B0BB-140A0D555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15" name="Rectangle 14">
            <a:extLst>
              <a:ext uri="{FF2B5EF4-FFF2-40B4-BE49-F238E27FC236}">
                <a16:creationId xmlns:a16="http://schemas.microsoft.com/office/drawing/2014/main" id="{0570A85B-3810-4F95-97B0-CBF4CCDB3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140063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Marcador de contenido 2">
            <a:extLst>
              <a:ext uri="{FF2B5EF4-FFF2-40B4-BE49-F238E27FC236}">
                <a16:creationId xmlns:a16="http://schemas.microsoft.com/office/drawing/2014/main" id="{FE5635E5-A2C7-D6E3-D24A-36023A612A9C}"/>
              </a:ext>
            </a:extLst>
          </p:cNvPr>
          <p:cNvSpPr>
            <a:spLocks noGrp="1"/>
          </p:cNvSpPr>
          <p:nvPr>
            <p:ph idx="1"/>
          </p:nvPr>
        </p:nvSpPr>
        <p:spPr>
          <a:xfrm>
            <a:off x="5351164" y="586822"/>
            <a:ext cx="6002636" cy="1645920"/>
          </a:xfrm>
        </p:spPr>
        <p:txBody>
          <a:bodyPr vert="horz" lIns="91440" tIns="45720" rIns="91440" bIns="45720" rtlCol="0" anchor="ctr">
            <a:normAutofit/>
          </a:bodyPr>
          <a:lstStyle/>
          <a:p>
            <a:pPr marL="0" indent="0">
              <a:buNone/>
            </a:pPr>
            <a:r>
              <a:rPr lang="es-ES" sz="1800" dirty="0"/>
              <a:t>De esta manera es como quedo la siguiente librería instalada dentro de visual </a:t>
            </a:r>
            <a:r>
              <a:rPr lang="es-ES" sz="1800" dirty="0" err="1"/>
              <a:t>studio</a:t>
            </a:r>
            <a:r>
              <a:rPr lang="es-ES" sz="1800" dirty="0"/>
              <a:t> </a:t>
            </a:r>
            <a:r>
              <a:rPr lang="es-ES" sz="1800" dirty="0" err="1"/>
              <a:t>code</a:t>
            </a:r>
            <a:r>
              <a:rPr lang="es-ES" sz="1800" dirty="0"/>
              <a:t> bajo el siguiente comando en la terminal (</a:t>
            </a:r>
            <a:r>
              <a:rPr lang="es-ES" sz="1800" dirty="0" err="1"/>
              <a:t>pip</a:t>
            </a:r>
            <a:r>
              <a:rPr lang="es-ES" sz="1800" dirty="0"/>
              <a:t> </a:t>
            </a:r>
            <a:r>
              <a:rPr lang="es-ES" sz="1800" dirty="0" err="1"/>
              <a:t>install</a:t>
            </a:r>
            <a:r>
              <a:rPr lang="es-ES" sz="1800" dirty="0"/>
              <a:t>).</a:t>
            </a:r>
          </a:p>
          <a:p>
            <a:pPr marL="0" indent="0">
              <a:buNone/>
            </a:pPr>
            <a:endParaRPr lang="es-ES" sz="1800"/>
          </a:p>
        </p:txBody>
      </p:sp>
      <p:pic>
        <p:nvPicPr>
          <p:cNvPr id="5" name="Imagen 4" descr="Texto&#10;&#10;El contenido generado por IA puede ser incorrecto.">
            <a:extLst>
              <a:ext uri="{FF2B5EF4-FFF2-40B4-BE49-F238E27FC236}">
                <a16:creationId xmlns:a16="http://schemas.microsoft.com/office/drawing/2014/main" id="{AEEFA62B-1972-B1F7-D88B-6395019459FC}"/>
              </a:ext>
            </a:extLst>
          </p:cNvPr>
          <p:cNvPicPr>
            <a:picLocks noChangeAspect="1"/>
          </p:cNvPicPr>
          <p:nvPr/>
        </p:nvPicPr>
        <p:blipFill>
          <a:blip r:embed="rId2"/>
          <a:stretch>
            <a:fillRect/>
          </a:stretch>
        </p:blipFill>
        <p:spPr>
          <a:xfrm>
            <a:off x="285660" y="3224840"/>
            <a:ext cx="11433775" cy="997791"/>
          </a:xfrm>
          <a:prstGeom prst="rect">
            <a:avLst/>
          </a:prstGeom>
        </p:spPr>
      </p:pic>
    </p:spTree>
    <p:extLst>
      <p:ext uri="{BB962C8B-B14F-4D97-AF65-F5344CB8AC3E}">
        <p14:creationId xmlns:p14="http://schemas.microsoft.com/office/powerpoint/2010/main" val="36281812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A83F42B-4EBB-1FEB-EDD9-A7E590676D47}"/>
              </a:ext>
            </a:extLst>
          </p:cNvPr>
          <p:cNvSpPr>
            <a:spLocks noGrp="1"/>
          </p:cNvSpPr>
          <p:nvPr>
            <p:ph type="title"/>
          </p:nvPr>
        </p:nvSpPr>
        <p:spPr>
          <a:xfrm>
            <a:off x="762000" y="1143486"/>
            <a:ext cx="4267200" cy="1437406"/>
          </a:xfrm>
        </p:spPr>
        <p:txBody>
          <a:bodyPr anchor="t">
            <a:normAutofit/>
          </a:bodyPr>
          <a:lstStyle/>
          <a:p>
            <a:r>
              <a:rPr lang="es-ES" sz="3200"/>
              <a:t>LIBRERÍA TRANSFORMERS</a:t>
            </a:r>
          </a:p>
        </p:txBody>
      </p:sp>
      <p:cxnSp>
        <p:nvCxnSpPr>
          <p:cNvPr id="9" name="Straight Connector 8">
            <a:extLst>
              <a:ext uri="{FF2B5EF4-FFF2-40B4-BE49-F238E27FC236}">
                <a16:creationId xmlns:a16="http://schemas.microsoft.com/office/drawing/2014/main" id="{37C77032-C865-6057-7D7A-E2743CFA20F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Marcador de contenido 2">
            <a:extLst>
              <a:ext uri="{FF2B5EF4-FFF2-40B4-BE49-F238E27FC236}">
                <a16:creationId xmlns:a16="http://schemas.microsoft.com/office/drawing/2014/main" id="{511A85B1-08F5-5D05-6CA3-3389A1F5B763}"/>
              </a:ext>
            </a:extLst>
          </p:cNvPr>
          <p:cNvSpPr>
            <a:spLocks noGrp="1"/>
          </p:cNvSpPr>
          <p:nvPr>
            <p:ph idx="1"/>
          </p:nvPr>
        </p:nvSpPr>
        <p:spPr>
          <a:xfrm>
            <a:off x="5825613" y="838200"/>
            <a:ext cx="5501247" cy="1866358"/>
          </a:xfrm>
        </p:spPr>
        <p:txBody>
          <a:bodyPr vert="horz" lIns="91440" tIns="45720" rIns="91440" bIns="45720" rtlCol="0">
            <a:normAutofit/>
          </a:bodyPr>
          <a:lstStyle/>
          <a:p>
            <a:pPr marL="0" indent="0">
              <a:buNone/>
            </a:pPr>
            <a:r>
              <a:rPr lang="es-ES" sz="2000" dirty="0"/>
              <a:t>De esta manera es como quedaría instalada la librería dentro de visual </a:t>
            </a:r>
            <a:r>
              <a:rPr lang="es-ES" sz="2000" dirty="0" err="1"/>
              <a:t>studio</a:t>
            </a:r>
            <a:r>
              <a:rPr lang="es-ES" sz="2000" dirty="0"/>
              <a:t> </a:t>
            </a:r>
            <a:r>
              <a:rPr lang="es-ES" sz="2000" dirty="0" err="1"/>
              <a:t>code</a:t>
            </a:r>
            <a:r>
              <a:rPr lang="es-ES" sz="2000" dirty="0"/>
              <a:t>.</a:t>
            </a:r>
          </a:p>
          <a:p>
            <a:pPr marL="0" indent="0">
              <a:buNone/>
            </a:pPr>
            <a:endParaRPr lang="es-ES" sz="2000"/>
          </a:p>
        </p:txBody>
      </p:sp>
      <p:pic>
        <p:nvPicPr>
          <p:cNvPr id="4" name="Imagen 3" descr="Texto&#10;&#10;El contenido generado por IA puede ser incorrecto.">
            <a:extLst>
              <a:ext uri="{FF2B5EF4-FFF2-40B4-BE49-F238E27FC236}">
                <a16:creationId xmlns:a16="http://schemas.microsoft.com/office/drawing/2014/main" id="{8B6A8217-53D1-29EA-E125-15FF925C50EA}"/>
              </a:ext>
            </a:extLst>
          </p:cNvPr>
          <p:cNvPicPr>
            <a:picLocks noChangeAspect="1"/>
          </p:cNvPicPr>
          <p:nvPr/>
        </p:nvPicPr>
        <p:blipFill>
          <a:blip r:embed="rId2"/>
          <a:stretch>
            <a:fillRect/>
          </a:stretch>
        </p:blipFill>
        <p:spPr>
          <a:xfrm>
            <a:off x="801757" y="3258907"/>
            <a:ext cx="10591800" cy="2833305"/>
          </a:xfrm>
          <a:prstGeom prst="rect">
            <a:avLst/>
          </a:prstGeom>
        </p:spPr>
      </p:pic>
    </p:spTree>
    <p:extLst>
      <p:ext uri="{BB962C8B-B14F-4D97-AF65-F5344CB8AC3E}">
        <p14:creationId xmlns:p14="http://schemas.microsoft.com/office/powerpoint/2010/main" val="16408518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6E48AFA-8884-4F68-A44F-D2C1E8609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ítulo 1">
            <a:extLst>
              <a:ext uri="{FF2B5EF4-FFF2-40B4-BE49-F238E27FC236}">
                <a16:creationId xmlns:a16="http://schemas.microsoft.com/office/drawing/2014/main" id="{C9BDE699-3592-1BFA-8217-238009DD4D4B}"/>
              </a:ext>
            </a:extLst>
          </p:cNvPr>
          <p:cNvSpPr>
            <a:spLocks noGrp="1"/>
          </p:cNvSpPr>
          <p:nvPr>
            <p:ph type="title"/>
          </p:nvPr>
        </p:nvSpPr>
        <p:spPr>
          <a:xfrm>
            <a:off x="838201" y="3998018"/>
            <a:ext cx="3981854" cy="2216513"/>
          </a:xfrm>
        </p:spPr>
        <p:txBody>
          <a:bodyPr>
            <a:normAutofit/>
          </a:bodyPr>
          <a:lstStyle/>
          <a:p>
            <a:r>
              <a:rPr lang="es-ES"/>
              <a:t>LIBRERÍA SPACY</a:t>
            </a:r>
          </a:p>
        </p:txBody>
      </p:sp>
      <p:sp>
        <p:nvSpPr>
          <p:cNvPr id="11" name="Arc 10">
            <a:extLst>
              <a:ext uri="{FF2B5EF4-FFF2-40B4-BE49-F238E27FC236}">
                <a16:creationId xmlns:a16="http://schemas.microsoft.com/office/drawing/2014/main" id="{969D19A6-08CB-498C-93EC-3FFB021FC6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269068">
            <a:off x="8717845" y="3339275"/>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4" name="Imagen 3" descr="Texto&#10;&#10;El contenido generado por IA puede ser incorrecto.">
            <a:extLst>
              <a:ext uri="{FF2B5EF4-FFF2-40B4-BE49-F238E27FC236}">
                <a16:creationId xmlns:a16="http://schemas.microsoft.com/office/drawing/2014/main" id="{982760F0-6C70-AABA-8530-0D5D903850B8}"/>
              </a:ext>
            </a:extLst>
          </p:cNvPr>
          <p:cNvPicPr>
            <a:picLocks noChangeAspect="1"/>
          </p:cNvPicPr>
          <p:nvPr/>
        </p:nvPicPr>
        <p:blipFill>
          <a:blip r:embed="rId2"/>
          <a:stretch>
            <a:fillRect/>
          </a:stretch>
        </p:blipFill>
        <p:spPr>
          <a:xfrm>
            <a:off x="659914" y="797038"/>
            <a:ext cx="10872172" cy="2772404"/>
          </a:xfrm>
          <a:custGeom>
            <a:avLst/>
            <a:gdLst/>
            <a:ahLst/>
            <a:cxnLst/>
            <a:rect l="l" t="t" r="r" b="b"/>
            <a:pathLst>
              <a:path w="10580201" h="2957472">
                <a:moveTo>
                  <a:pt x="88961" y="0"/>
                </a:moveTo>
                <a:lnTo>
                  <a:pt x="10491240" y="0"/>
                </a:lnTo>
                <a:cubicBezTo>
                  <a:pt x="10540372" y="0"/>
                  <a:pt x="10580201" y="39829"/>
                  <a:pt x="10580201" y="88961"/>
                </a:cubicBezTo>
                <a:lnTo>
                  <a:pt x="10580201" y="2868511"/>
                </a:lnTo>
                <a:cubicBezTo>
                  <a:pt x="10580201" y="2917643"/>
                  <a:pt x="10540372" y="2957472"/>
                  <a:pt x="10491240" y="2957472"/>
                </a:cubicBezTo>
                <a:lnTo>
                  <a:pt x="88961" y="2957472"/>
                </a:lnTo>
                <a:cubicBezTo>
                  <a:pt x="39829" y="2957472"/>
                  <a:pt x="0" y="2917643"/>
                  <a:pt x="0" y="2868511"/>
                </a:cubicBezTo>
                <a:lnTo>
                  <a:pt x="0" y="88961"/>
                </a:lnTo>
                <a:cubicBezTo>
                  <a:pt x="0" y="39829"/>
                  <a:pt x="39829" y="0"/>
                  <a:pt x="88961" y="0"/>
                </a:cubicBezTo>
                <a:close/>
              </a:path>
            </a:pathLst>
          </a:custGeom>
        </p:spPr>
      </p:pic>
      <p:sp>
        <p:nvSpPr>
          <p:cNvPr id="3" name="Marcador de contenido 2">
            <a:extLst>
              <a:ext uri="{FF2B5EF4-FFF2-40B4-BE49-F238E27FC236}">
                <a16:creationId xmlns:a16="http://schemas.microsoft.com/office/drawing/2014/main" id="{2C0E85E7-CB98-4290-23FE-39B8FC4A66E6}"/>
              </a:ext>
            </a:extLst>
          </p:cNvPr>
          <p:cNvSpPr>
            <a:spLocks noGrp="1"/>
          </p:cNvSpPr>
          <p:nvPr>
            <p:ph idx="1"/>
          </p:nvPr>
        </p:nvSpPr>
        <p:spPr>
          <a:xfrm>
            <a:off x="4970835" y="3998019"/>
            <a:ext cx="6382966" cy="2216512"/>
          </a:xfrm>
        </p:spPr>
        <p:txBody>
          <a:bodyPr vert="horz" lIns="91440" tIns="45720" rIns="91440" bIns="45720" rtlCol="0">
            <a:normAutofit/>
          </a:bodyPr>
          <a:lstStyle/>
          <a:p>
            <a:pPr marL="0" indent="0">
              <a:buNone/>
            </a:pPr>
            <a:r>
              <a:rPr lang="es-ES" dirty="0"/>
              <a:t>De igual manera como se vienen realizando las demás </a:t>
            </a:r>
            <a:r>
              <a:rPr lang="es-ES"/>
              <a:t>instalaciones</a:t>
            </a:r>
            <a:r>
              <a:rPr lang="es-ES" dirty="0"/>
              <a:t> de la librería se instala esta ya que nos permite realizar códigos importantes.</a:t>
            </a:r>
          </a:p>
          <a:p>
            <a:pPr marL="0" indent="0">
              <a:buNone/>
            </a:pPr>
            <a:endParaRPr lang="es-ES" dirty="0"/>
          </a:p>
        </p:txBody>
      </p:sp>
    </p:spTree>
    <p:extLst>
      <p:ext uri="{BB962C8B-B14F-4D97-AF65-F5344CB8AC3E}">
        <p14:creationId xmlns:p14="http://schemas.microsoft.com/office/powerpoint/2010/main" val="21383371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596F992-698C-48C0-9D89-70DA4CE92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BCBE42B-FB26-3B85-0E44-A5F69910AF60}"/>
              </a:ext>
            </a:extLst>
          </p:cNvPr>
          <p:cNvSpPr>
            <a:spLocks noGrp="1"/>
          </p:cNvSpPr>
          <p:nvPr>
            <p:ph type="title"/>
          </p:nvPr>
        </p:nvSpPr>
        <p:spPr>
          <a:xfrm>
            <a:off x="818984" y="4230093"/>
            <a:ext cx="4150581" cy="1800165"/>
          </a:xfrm>
        </p:spPr>
        <p:txBody>
          <a:bodyPr anchor="t">
            <a:normAutofit/>
          </a:bodyPr>
          <a:lstStyle/>
          <a:p>
            <a:pPr algn="r"/>
            <a:r>
              <a:rPr lang="es-ES" sz="4000"/>
              <a:t>LIBRERÍA NLTK</a:t>
            </a:r>
          </a:p>
        </p:txBody>
      </p:sp>
      <p:pic>
        <p:nvPicPr>
          <p:cNvPr id="4" name="Imagen 3" descr="Texto&#10;&#10;El contenido generado por IA puede ser incorrecto.">
            <a:extLst>
              <a:ext uri="{FF2B5EF4-FFF2-40B4-BE49-F238E27FC236}">
                <a16:creationId xmlns:a16="http://schemas.microsoft.com/office/drawing/2014/main" id="{E3EE83ED-6E83-048A-4D5A-B1EE981EC72F}"/>
              </a:ext>
            </a:extLst>
          </p:cNvPr>
          <p:cNvPicPr>
            <a:picLocks noChangeAspect="1"/>
          </p:cNvPicPr>
          <p:nvPr/>
        </p:nvPicPr>
        <p:blipFill>
          <a:blip r:embed="rId2"/>
          <a:stretch>
            <a:fillRect/>
          </a:stretch>
        </p:blipFill>
        <p:spPr>
          <a:xfrm>
            <a:off x="556592" y="611369"/>
            <a:ext cx="11139778" cy="3146986"/>
          </a:xfrm>
          <a:prstGeom prst="rect">
            <a:avLst/>
          </a:prstGeom>
        </p:spPr>
      </p:pic>
      <p:sp>
        <p:nvSpPr>
          <p:cNvPr id="3" name="Marcador de contenido 2">
            <a:extLst>
              <a:ext uri="{FF2B5EF4-FFF2-40B4-BE49-F238E27FC236}">
                <a16:creationId xmlns:a16="http://schemas.microsoft.com/office/drawing/2014/main" id="{B1D916DF-EAAA-73FF-9C29-71CA11B5A66E}"/>
              </a:ext>
            </a:extLst>
          </p:cNvPr>
          <p:cNvSpPr>
            <a:spLocks noGrp="1"/>
          </p:cNvSpPr>
          <p:nvPr>
            <p:ph idx="1"/>
          </p:nvPr>
        </p:nvSpPr>
        <p:spPr>
          <a:xfrm>
            <a:off x="5246415" y="4230094"/>
            <a:ext cx="6235268" cy="1800164"/>
          </a:xfrm>
        </p:spPr>
        <p:txBody>
          <a:bodyPr vert="horz" lIns="91440" tIns="45720" rIns="91440" bIns="45720" rtlCol="0" anchor="t">
            <a:normAutofit/>
          </a:bodyPr>
          <a:lstStyle/>
          <a:p>
            <a:pPr marL="0" indent="0" algn="just">
              <a:buNone/>
            </a:pPr>
            <a:r>
              <a:rPr lang="es-ES" sz="2000"/>
              <a:t>Esta librería nos sirve para </a:t>
            </a:r>
            <a:r>
              <a:rPr lang="es-ES" sz="2000">
                <a:ea typeface="+mn-lt"/>
                <a:cs typeface="+mn-lt"/>
              </a:rPr>
              <a:t>Sirve para limpiar, </a:t>
            </a:r>
            <a:r>
              <a:rPr lang="es-ES" sz="2000" err="1">
                <a:ea typeface="+mn-lt"/>
                <a:cs typeface="+mn-lt"/>
              </a:rPr>
              <a:t>tokenizar</a:t>
            </a:r>
            <a:r>
              <a:rPr lang="es-ES" sz="2000">
                <a:ea typeface="+mn-lt"/>
                <a:cs typeface="+mn-lt"/>
              </a:rPr>
              <a:t>, lematizar, analizar sintácticamente y etiquetar datos textuales. Quedando de la siguiente manera dentro de visual </a:t>
            </a:r>
            <a:r>
              <a:rPr lang="es-ES" sz="2000" err="1">
                <a:ea typeface="+mn-lt"/>
                <a:cs typeface="+mn-lt"/>
              </a:rPr>
              <a:t>studio</a:t>
            </a:r>
            <a:r>
              <a:rPr lang="es-ES" sz="2000">
                <a:ea typeface="+mn-lt"/>
                <a:cs typeface="+mn-lt"/>
              </a:rPr>
              <a:t> </a:t>
            </a:r>
            <a:r>
              <a:rPr lang="es-ES" sz="2000" err="1">
                <a:ea typeface="+mn-lt"/>
                <a:cs typeface="+mn-lt"/>
              </a:rPr>
              <a:t>code</a:t>
            </a:r>
            <a:r>
              <a:rPr lang="es-ES" sz="2000">
                <a:ea typeface="+mn-lt"/>
                <a:cs typeface="+mn-lt"/>
              </a:rPr>
              <a:t>:</a:t>
            </a:r>
            <a:endParaRPr lang="es-ES"/>
          </a:p>
          <a:p>
            <a:pPr marL="0" indent="0">
              <a:buNone/>
            </a:pPr>
            <a:endParaRPr lang="es-ES" sz="2000"/>
          </a:p>
        </p:txBody>
      </p:sp>
      <p:sp>
        <p:nvSpPr>
          <p:cNvPr id="11" name="Rectangle 10">
            <a:extLst>
              <a:ext uri="{FF2B5EF4-FFF2-40B4-BE49-F238E27FC236}">
                <a16:creationId xmlns:a16="http://schemas.microsoft.com/office/drawing/2014/main" id="{E7BFF8DC-0AE7-4AD2-9B28-2E5F26D62C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E0162AD-C6E5-4BF8-A453-76ADB36877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rgbClr val="000000">
                  <a:alpha val="31000"/>
                </a:srgbClr>
              </a:gs>
              <a:gs pos="99000">
                <a:schemeClr val="accent1"/>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830674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C36FAA4-E20F-60C3-E7F7-DBD39BF03964}"/>
              </a:ext>
            </a:extLst>
          </p:cNvPr>
          <p:cNvSpPr>
            <a:spLocks noGrp="1"/>
          </p:cNvSpPr>
          <p:nvPr>
            <p:ph type="title"/>
          </p:nvPr>
        </p:nvSpPr>
        <p:spPr>
          <a:xfrm>
            <a:off x="686834" y="1153572"/>
            <a:ext cx="3200400" cy="4461163"/>
          </a:xfrm>
        </p:spPr>
        <p:txBody>
          <a:bodyPr>
            <a:normAutofit/>
          </a:bodyPr>
          <a:lstStyle/>
          <a:p>
            <a:r>
              <a:rPr lang="es-ES" sz="3700">
                <a:solidFill>
                  <a:srgbClr val="FFFFFF"/>
                </a:solidFill>
              </a:rPr>
              <a:t>CONCLUSIÓN PERSONAL</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Marcador de contenido 2">
            <a:extLst>
              <a:ext uri="{FF2B5EF4-FFF2-40B4-BE49-F238E27FC236}">
                <a16:creationId xmlns:a16="http://schemas.microsoft.com/office/drawing/2014/main" id="{470E8233-F84B-415F-A029-6463AAEACBFD}"/>
              </a:ext>
            </a:extLst>
          </p:cNvPr>
          <p:cNvSpPr>
            <a:spLocks noGrp="1"/>
          </p:cNvSpPr>
          <p:nvPr>
            <p:ph idx="1"/>
          </p:nvPr>
        </p:nvSpPr>
        <p:spPr>
          <a:xfrm>
            <a:off x="4447308" y="591344"/>
            <a:ext cx="6906491" cy="5585619"/>
          </a:xfrm>
        </p:spPr>
        <p:txBody>
          <a:bodyPr vert="horz" lIns="91440" tIns="45720" rIns="91440" bIns="45720" rtlCol="0" anchor="ctr">
            <a:normAutofit/>
          </a:bodyPr>
          <a:lstStyle/>
          <a:p>
            <a:pPr algn="just">
              <a:buNone/>
            </a:pPr>
            <a:r>
              <a:rPr lang="es-ES" sz="2000">
                <a:ea typeface="+mn-lt"/>
                <a:cs typeface="+mn-lt"/>
              </a:rPr>
              <a:t>la instalación de librerías de Inteligencia Artificial en Visual Studio </a:t>
            </a:r>
            <a:r>
              <a:rPr lang="es-ES" sz="2000" err="1">
                <a:ea typeface="+mn-lt"/>
                <a:cs typeface="+mn-lt"/>
              </a:rPr>
              <a:t>Code</a:t>
            </a:r>
            <a:r>
              <a:rPr lang="es-ES" sz="2000">
                <a:ea typeface="+mn-lt"/>
                <a:cs typeface="+mn-lt"/>
              </a:rPr>
              <a:t> es un paso fundamental para poder desarrollar proyectos tecnológicos modernos y aplicar de manera práctica los conocimientos aprendidos en clase. No se trata solo de instalar programas, sino de preparar un entorno adecuado que permita experimentar, analizar datos y crear soluciones inteligentes de forma eficiente. Considero que aprender a instalar y configurar correctamente estas herramientas fortalece nuestras habilidades técnicas y nos prepara para enfrentar los retos actuales en el ámbito de la programación y la ciencia de datos. Además, dominar este proceso nos brinda mayor autonomía, ya que entendemos cómo funciona nuestro entorno de desarrollo y cómo solucionar posibles errores.</a:t>
            </a:r>
            <a:endParaRPr lang="es-ES" sz="2000"/>
          </a:p>
          <a:p>
            <a:pPr algn="just">
              <a:buNone/>
            </a:pPr>
            <a:r>
              <a:rPr lang="es-ES" sz="2000">
                <a:ea typeface="+mn-lt"/>
                <a:cs typeface="+mn-lt"/>
              </a:rPr>
              <a:t>En conclusión, la instalación de librerías de IA no solo es un requisito técnico, sino una base esencial para crecer académica y profesionalmente en el área de la tecnología y la Inteligencia Artificial.</a:t>
            </a:r>
            <a:endParaRPr lang="es-ES" sz="2000"/>
          </a:p>
          <a:p>
            <a:pPr marL="0" indent="0">
              <a:buNone/>
            </a:pPr>
            <a:endParaRPr lang="es-ES" sz="2000"/>
          </a:p>
        </p:txBody>
      </p:sp>
    </p:spTree>
    <p:extLst>
      <p:ext uri="{BB962C8B-B14F-4D97-AF65-F5344CB8AC3E}">
        <p14:creationId xmlns:p14="http://schemas.microsoft.com/office/powerpoint/2010/main" val="2000232862"/>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Panorámica</PresentationFormat>
  <Paragraphs>0</Paragraphs>
  <Slides>19</Slides>
  <Notes>0</Notes>
  <HiddenSlides>0</HiddenSlides>
  <MMClips>0</MMClips>
  <ScaleCrop>false</ScaleCrop>
  <HeadingPairs>
    <vt:vector size="4" baseType="variant">
      <vt:variant>
        <vt:lpstr>Tema</vt:lpstr>
      </vt:variant>
      <vt:variant>
        <vt:i4>1</vt:i4>
      </vt:variant>
      <vt:variant>
        <vt:lpstr>Títulos de diapositiva</vt:lpstr>
      </vt:variant>
      <vt:variant>
        <vt:i4>19</vt:i4>
      </vt:variant>
    </vt:vector>
  </HeadingPairs>
  <TitlesOfParts>
    <vt:vector size="20" baseType="lpstr">
      <vt:lpstr>Tema de Office</vt:lpstr>
      <vt:lpstr>Presentación de PowerPoint</vt:lpstr>
      <vt:lpstr>INTRODUCCIÓN</vt:lpstr>
      <vt:lpstr>JUSTIFICACIÓN</vt:lpstr>
      <vt:lpstr>INSTALACION DE LIBRERÍAS</vt:lpstr>
      <vt:lpstr>LIBRERÍA SCIPY</vt:lpstr>
      <vt:lpstr>LIBRERÍA SCIKIT-LEARN</vt:lpstr>
      <vt:lpstr>LIBRERÍA MATPLOTLIB</vt:lpstr>
      <vt:lpstr>LIBRERÍA TENSORFLOW</vt:lpstr>
      <vt:lpstr>LIBRERÍA SEABORN</vt:lpstr>
      <vt:lpstr>LIBRERÍA KERAS</vt:lpstr>
      <vt:lpstr>LIBRERÍA TORCH</vt:lpstr>
      <vt:lpstr>LIBRERÍA TORCHVISION</vt:lpstr>
      <vt:lpstr>LIBRERÍA OPENCV-PYTHON</vt:lpstr>
      <vt:lpstr>LIBRERÍA JUPYTER</vt:lpstr>
      <vt:lpstr>LIBRERIA PILLOW</vt:lpstr>
      <vt:lpstr>LIBRERÍA TRANSFORMERS</vt:lpstr>
      <vt:lpstr>LIBRERÍA SPACY</vt:lpstr>
      <vt:lpstr>LIBRERÍA NLTK</vt:lpstr>
      <vt:lpstr>CONCLUSIÓN PERSONAL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268</cp:revision>
  <dcterms:created xsi:type="dcterms:W3CDTF">2026-02-21T23:07:37Z</dcterms:created>
  <dcterms:modified xsi:type="dcterms:W3CDTF">2026-03-16T00:12:38Z</dcterms:modified>
</cp:coreProperties>
</file>