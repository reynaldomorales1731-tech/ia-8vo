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FE48AB-0A87-8F7B-237A-06A59C551DED}" v="783" dt="2026-03-26T04:51:29.1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0" autoAdjust="0"/>
    <p:restoredTop sz="94660"/>
  </p:normalViewPr>
  <p:slideViewPr>
    <p:cSldViewPr snapToGrid="0">
      <p:cViewPr varScale="1">
        <p:scale>
          <a:sx n="73" d="100"/>
          <a:sy n="73" d="100"/>
        </p:scale>
        <p:origin x="72" y="3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26/03/2026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288191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26/03/2026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398174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26/03/2026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339700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40771E8B-6CA5-40B2-8038-0E112F3DAC1C}" type="datetimeFigureOut">
              <a:rPr lang="es-ES" smtClean="0"/>
              <a:t>26/03/2026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979029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40771E8B-6CA5-40B2-8038-0E112F3DAC1C}" type="datetimeFigureOut">
              <a:rPr lang="es-ES" smtClean="0"/>
              <a:t>26/03/2026</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1752394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40771E8B-6CA5-40B2-8038-0E112F3DAC1C}" type="datetimeFigureOut">
              <a:rPr lang="es-ES" smtClean="0"/>
              <a:t>26/03/2026</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630658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40771E8B-6CA5-40B2-8038-0E112F3DAC1C}" type="datetimeFigureOut">
              <a:rPr lang="es-ES" smtClean="0"/>
              <a:t>26/03/2026</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682375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26/03/2026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1360449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26/03/2026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83603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26/03/2026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541863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26/03/2026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21509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771E8B-6CA5-40B2-8038-0E112F3DAC1C}" type="datetimeFigureOut">
              <a:rPr lang="es-ES" smtClean="0"/>
              <a:t>26/03/2026</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1556C4-DFC3-4611-A7CC-780699185E26}" type="slidenum">
              <a:rPr lang="es-ES" smtClean="0"/>
              <a:t>‹Nº›</a:t>
            </a:fld>
            <a:endParaRPr lang="es-ES"/>
          </a:p>
        </p:txBody>
      </p:sp>
    </p:spTree>
    <p:extLst>
      <p:ext uri="{BB962C8B-B14F-4D97-AF65-F5344CB8AC3E}">
        <p14:creationId xmlns:p14="http://schemas.microsoft.com/office/powerpoint/2010/main" val="2933118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1">
            <a:extLst>
              <a:ext uri="{FF2B5EF4-FFF2-40B4-BE49-F238E27FC236}">
                <a16:creationId xmlns:a16="http://schemas.microsoft.com/office/drawing/2014/main" id="{B18B68FC-A42A-0C86-27C1-C97153163AF5}"/>
              </a:ext>
            </a:extLst>
          </p:cNvPr>
          <p:cNvSpPr txBox="1"/>
          <p:nvPr/>
        </p:nvSpPr>
        <p:spPr>
          <a:xfrm>
            <a:off x="4724400" y="2309003"/>
            <a:ext cx="3634596" cy="375487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1400" dirty="0">
                <a:latin typeface="Arial"/>
                <a:cs typeface="Segoe UI"/>
              </a:rPr>
              <a:t>Tecnológico Nacional de México</a:t>
            </a:r>
            <a:r>
              <a:rPr lang="en-US" sz="1400" dirty="0">
                <a:latin typeface="Arial"/>
                <a:cs typeface="Segoe UI"/>
              </a:rPr>
              <a:t>​</a:t>
            </a:r>
            <a:endParaRPr lang="es-ES" sz="1400" dirty="0">
              <a:latin typeface="Arial"/>
              <a:cs typeface="Arial"/>
            </a:endParaRPr>
          </a:p>
          <a:p>
            <a:pPr algn="ctr"/>
            <a:r>
              <a:rPr lang="es-ES" sz="1400" dirty="0">
                <a:latin typeface="Arial"/>
                <a:cs typeface="Segoe UI"/>
              </a:rPr>
              <a:t>Instituto Tecnológico de Frontera Comalapa</a:t>
            </a:r>
            <a:r>
              <a:rPr lang="en-US" sz="1400" dirty="0">
                <a:latin typeface="Arial"/>
                <a:cs typeface="Segoe UI"/>
              </a:rPr>
              <a:t>​</a:t>
            </a:r>
          </a:p>
          <a:p>
            <a:pPr algn="ctr"/>
            <a:r>
              <a:rPr lang="es-ES" sz="1400" dirty="0">
                <a:latin typeface="Arial"/>
                <a:cs typeface="Segoe UI"/>
              </a:rPr>
              <a:t>​</a:t>
            </a:r>
          </a:p>
          <a:p>
            <a:pPr algn="ctr"/>
            <a:r>
              <a:rPr lang="en-US" sz="1400" dirty="0">
                <a:latin typeface="Arial"/>
                <a:cs typeface="Segoe UI"/>
              </a:rPr>
              <a:t>REPORTE DE PRACTICA</a:t>
            </a:r>
          </a:p>
          <a:p>
            <a:pPr algn="ctr"/>
            <a:endParaRPr lang="en-US" sz="1400">
              <a:latin typeface="Arial"/>
              <a:cs typeface="Segoe UI"/>
            </a:endParaRPr>
          </a:p>
          <a:p>
            <a:pPr algn="ctr"/>
            <a:r>
              <a:rPr lang="es-ES" sz="1400" dirty="0">
                <a:latin typeface="Arial"/>
                <a:cs typeface="Segoe UI"/>
              </a:rPr>
              <a:t>INTELIGENCIA ARTIFICIAL</a:t>
            </a:r>
          </a:p>
          <a:p>
            <a:pPr algn="ctr"/>
            <a:r>
              <a:rPr lang="es-ES" sz="1400" dirty="0">
                <a:latin typeface="Arial"/>
                <a:cs typeface="Segoe UI"/>
              </a:rPr>
              <a:t>​</a:t>
            </a:r>
            <a:endParaRPr lang="es-ES" sz="1400" dirty="0">
              <a:latin typeface="Arial"/>
              <a:cs typeface="Arial"/>
            </a:endParaRPr>
          </a:p>
          <a:p>
            <a:pPr algn="ctr"/>
            <a:r>
              <a:rPr lang="es-ES" sz="1400" dirty="0">
                <a:latin typeface="Arial"/>
                <a:cs typeface="Segoe UI"/>
              </a:rPr>
              <a:t>Integrante: </a:t>
            </a:r>
            <a:r>
              <a:rPr lang="en-US" sz="1400" dirty="0">
                <a:latin typeface="Arial"/>
                <a:cs typeface="Segoe UI"/>
              </a:rPr>
              <a:t>​</a:t>
            </a:r>
          </a:p>
          <a:p>
            <a:pPr algn="ctr"/>
            <a:endParaRPr lang="es-ES" sz="1400" dirty="0">
              <a:latin typeface="Arial"/>
              <a:cs typeface="Segoe UI"/>
            </a:endParaRPr>
          </a:p>
          <a:p>
            <a:pPr algn="ctr"/>
            <a:r>
              <a:rPr lang="es-ES" sz="1400" dirty="0">
                <a:latin typeface="Arial"/>
                <a:cs typeface="Segoe UI"/>
              </a:rPr>
              <a:t>Reynaldo Felipe Morales Silva</a:t>
            </a:r>
            <a:r>
              <a:rPr lang="en-US" sz="1400" dirty="0">
                <a:latin typeface="Arial"/>
                <a:cs typeface="Segoe UI"/>
              </a:rPr>
              <a:t>​</a:t>
            </a:r>
          </a:p>
          <a:p>
            <a:pPr algn="ctr"/>
            <a:endParaRPr lang="es-MX" sz="1400">
              <a:latin typeface="Arial"/>
              <a:cs typeface="Arial"/>
            </a:endParaRPr>
          </a:p>
          <a:p>
            <a:pPr algn="ctr"/>
            <a:r>
              <a:rPr lang="es-ES" sz="1400" dirty="0">
                <a:latin typeface="Arial"/>
                <a:cs typeface="Segoe UI"/>
              </a:rPr>
              <a:t>Carrera: Ingeniería en Sistemas Computacionales</a:t>
            </a:r>
            <a:r>
              <a:rPr lang="en-US" sz="1400" dirty="0">
                <a:latin typeface="Arial"/>
                <a:cs typeface="Segoe UI"/>
              </a:rPr>
              <a:t>​</a:t>
            </a:r>
          </a:p>
          <a:p>
            <a:pPr algn="ctr"/>
            <a:r>
              <a:rPr lang="es-ES" sz="1400" dirty="0">
                <a:latin typeface="Arial"/>
                <a:cs typeface="Segoe UI"/>
              </a:rPr>
              <a:t>​</a:t>
            </a:r>
          </a:p>
          <a:p>
            <a:pPr algn="ctr"/>
            <a:r>
              <a:rPr lang="es-ES" sz="1400" dirty="0">
                <a:latin typeface="Arial"/>
                <a:cs typeface="Segoe UI"/>
              </a:rPr>
              <a:t>Docente: Ing. Francisco Javier Mingo Velázquez</a:t>
            </a:r>
          </a:p>
          <a:p>
            <a:pPr algn="ctr"/>
            <a:r>
              <a:rPr lang="es-ES" sz="1400">
                <a:latin typeface="Arial"/>
                <a:cs typeface="Segoe UI"/>
              </a:rPr>
              <a:t>Fecha:  26 de marzo del 2026</a:t>
            </a:r>
          </a:p>
        </p:txBody>
      </p:sp>
      <p:pic>
        <p:nvPicPr>
          <p:cNvPr id="5" name="Imagen 4" descr="Imagen que contiene Logotipo&#10;&#10;El contenido generado por IA puede ser incorrecto.">
            <a:extLst>
              <a:ext uri="{FF2B5EF4-FFF2-40B4-BE49-F238E27FC236}">
                <a16:creationId xmlns:a16="http://schemas.microsoft.com/office/drawing/2014/main" id="{FB1911C2-9242-8CDD-F6F2-82D69EF08773}"/>
              </a:ext>
            </a:extLst>
          </p:cNvPr>
          <p:cNvPicPr>
            <a:picLocks noChangeAspect="1"/>
          </p:cNvPicPr>
          <p:nvPr/>
        </p:nvPicPr>
        <p:blipFill>
          <a:blip r:embed="rId2"/>
          <a:stretch>
            <a:fillRect/>
          </a:stretch>
        </p:blipFill>
        <p:spPr>
          <a:xfrm>
            <a:off x="694785" y="735222"/>
            <a:ext cx="3700014" cy="1131858"/>
          </a:xfrm>
          <a:prstGeom prst="rect">
            <a:avLst/>
          </a:prstGeom>
        </p:spPr>
      </p:pic>
      <p:pic>
        <p:nvPicPr>
          <p:cNvPr id="6" name="Imagen 5" descr="Logotipo, nombre de la empresa&#10;&#10;El contenido generado por IA puede ser incorrecto.">
            <a:extLst>
              <a:ext uri="{FF2B5EF4-FFF2-40B4-BE49-F238E27FC236}">
                <a16:creationId xmlns:a16="http://schemas.microsoft.com/office/drawing/2014/main" id="{6307CE53-6CEB-8234-F873-7FADA65A592C}"/>
              </a:ext>
            </a:extLst>
          </p:cNvPr>
          <p:cNvPicPr>
            <a:picLocks noChangeAspect="1"/>
          </p:cNvPicPr>
          <p:nvPr/>
        </p:nvPicPr>
        <p:blipFill>
          <a:blip r:embed="rId3"/>
          <a:stretch>
            <a:fillRect/>
          </a:stretch>
        </p:blipFill>
        <p:spPr>
          <a:xfrm>
            <a:off x="5401753" y="821486"/>
            <a:ext cx="2265513" cy="959330"/>
          </a:xfrm>
          <a:prstGeom prst="rect">
            <a:avLst/>
          </a:prstGeom>
        </p:spPr>
      </p:pic>
      <p:pic>
        <p:nvPicPr>
          <p:cNvPr id="7" name="Imagen 6" descr="Diagrama&#10;&#10;El contenido generado por IA puede ser incorrecto.">
            <a:extLst>
              <a:ext uri="{FF2B5EF4-FFF2-40B4-BE49-F238E27FC236}">
                <a16:creationId xmlns:a16="http://schemas.microsoft.com/office/drawing/2014/main" id="{CBA91D2A-2382-43CB-BAF9-49C1F0F3E39D}"/>
              </a:ext>
            </a:extLst>
          </p:cNvPr>
          <p:cNvPicPr>
            <a:picLocks noChangeAspect="1"/>
          </p:cNvPicPr>
          <p:nvPr/>
        </p:nvPicPr>
        <p:blipFill>
          <a:blip r:embed="rId4"/>
          <a:stretch>
            <a:fillRect/>
          </a:stretch>
        </p:blipFill>
        <p:spPr>
          <a:xfrm>
            <a:off x="9308172" y="754002"/>
            <a:ext cx="1396941" cy="950524"/>
          </a:xfrm>
          <a:prstGeom prst="rect">
            <a:avLst/>
          </a:prstGeom>
        </p:spPr>
      </p:pic>
    </p:spTree>
    <p:extLst>
      <p:ext uri="{BB962C8B-B14F-4D97-AF65-F5344CB8AC3E}">
        <p14:creationId xmlns:p14="http://schemas.microsoft.com/office/powerpoint/2010/main" val="2406273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laca de circuito azul">
            <a:extLst>
              <a:ext uri="{FF2B5EF4-FFF2-40B4-BE49-F238E27FC236}">
                <a16:creationId xmlns:a16="http://schemas.microsoft.com/office/drawing/2014/main" id="{0FA64452-4E79-7854-6043-BD1B2F90A63A}"/>
              </a:ext>
            </a:extLst>
          </p:cNvPr>
          <p:cNvPicPr>
            <a:picLocks noChangeAspect="1"/>
          </p:cNvPicPr>
          <p:nvPr/>
        </p:nvPicPr>
        <p:blipFill>
          <a:blip r:embed="rId2"/>
          <a:srcRect l="27928" r="19490" b="-4"/>
          <a:stretch>
            <a:fillRect/>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53BF012-0B8D-CE2F-AA2E-1742C80DE6E7}"/>
              </a:ext>
            </a:extLst>
          </p:cNvPr>
          <p:cNvSpPr>
            <a:spLocks noGrp="1"/>
          </p:cNvSpPr>
          <p:nvPr>
            <p:ph type="title"/>
          </p:nvPr>
        </p:nvSpPr>
        <p:spPr>
          <a:xfrm>
            <a:off x="6215958" y="3119"/>
            <a:ext cx="5464968" cy="1559301"/>
          </a:xfrm>
        </p:spPr>
        <p:txBody>
          <a:bodyPr>
            <a:normAutofit/>
          </a:bodyPr>
          <a:lstStyle/>
          <a:p>
            <a:r>
              <a:rPr lang="es-ES" sz="4000"/>
              <a:t>INTRODUCCIÓN</a:t>
            </a:r>
          </a:p>
        </p:txBody>
      </p:sp>
      <p:sp>
        <p:nvSpPr>
          <p:cNvPr id="3" name="Marcador de contenido 2">
            <a:extLst>
              <a:ext uri="{FF2B5EF4-FFF2-40B4-BE49-F238E27FC236}">
                <a16:creationId xmlns:a16="http://schemas.microsoft.com/office/drawing/2014/main" id="{D148EF04-E214-0C7C-90F4-8C954C0D7632}"/>
              </a:ext>
            </a:extLst>
          </p:cNvPr>
          <p:cNvSpPr>
            <a:spLocks noGrp="1"/>
          </p:cNvSpPr>
          <p:nvPr>
            <p:ph idx="1"/>
          </p:nvPr>
        </p:nvSpPr>
        <p:spPr>
          <a:xfrm>
            <a:off x="5410827" y="2110597"/>
            <a:ext cx="6641943" cy="3827557"/>
          </a:xfrm>
        </p:spPr>
        <p:txBody>
          <a:bodyPr vert="horz" lIns="91440" tIns="45720" rIns="91440" bIns="45720" rtlCol="0" anchor="ctr">
            <a:noAutofit/>
          </a:bodyPr>
          <a:lstStyle/>
          <a:p>
            <a:pPr algn="just">
              <a:lnSpc>
                <a:spcPct val="150000"/>
              </a:lnSpc>
              <a:buNone/>
            </a:pPr>
            <a:r>
              <a:rPr lang="es-ES" sz="1400" dirty="0">
                <a:ea typeface="+mn-lt"/>
                <a:cs typeface="+mn-lt"/>
              </a:rPr>
              <a:t>La inteligencia artificial es una de las áreas más importantes de la informática en la actualidad, ya que permite desarrollar sistemas capaces de aprender, analizar información y generar resultados de manera automática. Dentro de esta área, el procesamiento de imágenes y las redes neuronales han adquirido gran relevancia, ya que permiten a las computadoras interpretar imágenes y crear nuevas representaciones visuales. En esta práctica se desarrolla un programa en el lenguaje de programación Python utilizando herramientas como </a:t>
            </a:r>
            <a:r>
              <a:rPr lang="es-ES" sz="1400" dirty="0" err="1">
                <a:ea typeface="+mn-lt"/>
                <a:cs typeface="+mn-lt"/>
              </a:rPr>
              <a:t>OpenCV</a:t>
            </a:r>
            <a:r>
              <a:rPr lang="es-ES" sz="1400" dirty="0">
                <a:ea typeface="+mn-lt"/>
                <a:cs typeface="+mn-lt"/>
              </a:rPr>
              <a:t>, </a:t>
            </a:r>
            <a:r>
              <a:rPr lang="es-ES" sz="1400" dirty="0" err="1">
                <a:ea typeface="+mn-lt"/>
                <a:cs typeface="+mn-lt"/>
              </a:rPr>
              <a:t>NumPy</a:t>
            </a:r>
            <a:r>
              <a:rPr lang="es-ES" sz="1400" dirty="0">
                <a:ea typeface="+mn-lt"/>
                <a:cs typeface="+mn-lt"/>
              </a:rPr>
              <a:t> e </a:t>
            </a:r>
            <a:r>
              <a:rPr lang="es-ES" sz="1400" dirty="0" err="1">
                <a:ea typeface="+mn-lt"/>
                <a:cs typeface="+mn-lt"/>
              </a:rPr>
              <a:t>icrawler</a:t>
            </a:r>
            <a:r>
              <a:rPr lang="es-ES" sz="1400" dirty="0">
                <a:ea typeface="+mn-lt"/>
                <a:cs typeface="+mn-lt"/>
              </a:rPr>
              <a:t>, con el objetivo de generar una imagen o figura específica, como un carro o una casa, utilizando múltiples imágenes pequeñas descargadas automáticamente desde internet. Este proceso se basa en la creación de un mosaico inteligente donde cada parte de la figura es rellenada con imágenes relacionadas con el objeto de que el usuario solicite. El proyecto demuestra cómo la inteligencia artificial y el procesamiento digital de imágenes pueden combinarse para generar resultados visuales interesantes, aplicando conceptos de análisis de imágenes, reconocimiento de patrones y automatización de procesos.</a:t>
            </a:r>
            <a:endParaRPr lang="es-ES" sz="1400" dirty="0"/>
          </a:p>
          <a:p>
            <a:pPr marL="0" indent="0">
              <a:buNone/>
            </a:pPr>
            <a:endParaRPr lang="es-ES" sz="1300"/>
          </a:p>
        </p:txBody>
      </p:sp>
    </p:spTree>
    <p:extLst>
      <p:ext uri="{BB962C8B-B14F-4D97-AF65-F5344CB8AC3E}">
        <p14:creationId xmlns:p14="http://schemas.microsoft.com/office/powerpoint/2010/main" val="1529934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66E2043-318E-42F8-BEBF-713C9652F452}"/>
              </a:ext>
            </a:extLst>
          </p:cNvPr>
          <p:cNvSpPr>
            <a:spLocks noGrp="1"/>
          </p:cNvSpPr>
          <p:nvPr>
            <p:ph type="title"/>
          </p:nvPr>
        </p:nvSpPr>
        <p:spPr>
          <a:xfrm>
            <a:off x="1043631" y="809898"/>
            <a:ext cx="9942716" cy="1554480"/>
          </a:xfrm>
        </p:spPr>
        <p:txBody>
          <a:bodyPr anchor="ctr">
            <a:normAutofit/>
          </a:bodyPr>
          <a:lstStyle/>
          <a:p>
            <a:r>
              <a:rPr lang="es-ES" sz="4800"/>
              <a:t>JUSTIFICACIÓN</a:t>
            </a:r>
          </a:p>
        </p:txBody>
      </p:sp>
      <p:sp>
        <p:nvSpPr>
          <p:cNvPr id="3" name="Marcador de contenido 2">
            <a:extLst>
              <a:ext uri="{FF2B5EF4-FFF2-40B4-BE49-F238E27FC236}">
                <a16:creationId xmlns:a16="http://schemas.microsoft.com/office/drawing/2014/main" id="{F502F6F6-044D-3376-8A23-8AFCCB459AA9}"/>
              </a:ext>
            </a:extLst>
          </p:cNvPr>
          <p:cNvSpPr>
            <a:spLocks noGrp="1"/>
          </p:cNvSpPr>
          <p:nvPr>
            <p:ph idx="1"/>
          </p:nvPr>
        </p:nvSpPr>
        <p:spPr>
          <a:xfrm>
            <a:off x="1045028" y="3017522"/>
            <a:ext cx="9941319" cy="3124658"/>
          </a:xfrm>
        </p:spPr>
        <p:txBody>
          <a:bodyPr vert="horz" lIns="91440" tIns="45720" rIns="91440" bIns="45720" rtlCol="0" anchor="ctr">
            <a:normAutofit fontScale="85000" lnSpcReduction="10000"/>
          </a:bodyPr>
          <a:lstStyle/>
          <a:p>
            <a:pPr algn="just">
              <a:lnSpc>
                <a:spcPct val="150000"/>
              </a:lnSpc>
              <a:buNone/>
            </a:pPr>
            <a:r>
              <a:rPr lang="es-ES" sz="1700">
                <a:ea typeface="+mn-lt"/>
                <a:cs typeface="+mn-lt"/>
              </a:rPr>
              <a:t>El desarrollo de este proyecto permite comprender de manera práctica cómo funcionan algunas técnicas utilizadas en inteligencia artificial y procesamiento de imágenes. A través de la programación en Python, se pueden implementar algoritmos capaces de analizar imágenes, identificar características como el color promedio y utilizar esta información para construir nuevas representaciones visuales. Además, este tipo de práctica fortalece habilidades en el uso de librerías especializadas, manejo de datos, automatización de tareas y desarrollo de aplicaciones basadas en inteligencia artificial. También permite observar cómo los algoritmos pueden utilizar información visual para tomar decisiones, en este caso, seleccionar la imagen más adecuada para formar parte de una figura específica. Por otro lado, este proyecto demuestra aplicaciones reales de la inteligencia artificial en áreas como el diseño digital, la generación automática de imágenes, el análisis visual y la creatividad computacional, lo cual ayuda a comprender la importancia de estas tecnologías en el mundo actual.</a:t>
            </a:r>
            <a:endParaRPr lang="es-ES" sz="1700"/>
          </a:p>
          <a:p>
            <a:pPr marL="0" indent="0">
              <a:buNone/>
            </a:pPr>
            <a:endParaRPr lang="es-ES" sz="17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64273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99D8B5C-3100-8360-A0D6-8D5B49D96001}"/>
              </a:ext>
            </a:extLst>
          </p:cNvPr>
          <p:cNvSpPr>
            <a:spLocks noGrp="1"/>
          </p:cNvSpPr>
          <p:nvPr>
            <p:ph type="title"/>
          </p:nvPr>
        </p:nvSpPr>
        <p:spPr>
          <a:xfrm>
            <a:off x="1043631" y="809898"/>
            <a:ext cx="9942716" cy="1554480"/>
          </a:xfrm>
        </p:spPr>
        <p:txBody>
          <a:bodyPr anchor="ctr">
            <a:normAutofit/>
          </a:bodyPr>
          <a:lstStyle/>
          <a:p>
            <a:r>
              <a:rPr lang="es-ES" sz="4800"/>
              <a:t>ACTIVIDAD: PROYECTO DE RED NEURONAL CONVOLUCIONAL (CNN)</a:t>
            </a:r>
          </a:p>
        </p:txBody>
      </p:sp>
      <p:sp>
        <p:nvSpPr>
          <p:cNvPr id="3" name="Marcador de contenido 2">
            <a:extLst>
              <a:ext uri="{FF2B5EF4-FFF2-40B4-BE49-F238E27FC236}">
                <a16:creationId xmlns:a16="http://schemas.microsoft.com/office/drawing/2014/main" id="{FE417342-2C20-03D4-9138-9E00780DC84B}"/>
              </a:ext>
            </a:extLst>
          </p:cNvPr>
          <p:cNvSpPr>
            <a:spLocks noGrp="1"/>
          </p:cNvSpPr>
          <p:nvPr>
            <p:ph idx="1"/>
          </p:nvPr>
        </p:nvSpPr>
        <p:spPr>
          <a:xfrm>
            <a:off x="1045028" y="3017522"/>
            <a:ext cx="9941319" cy="3124658"/>
          </a:xfrm>
        </p:spPr>
        <p:txBody>
          <a:bodyPr vert="horz" lIns="91440" tIns="45720" rIns="91440" bIns="45720" rtlCol="0" anchor="ctr">
            <a:normAutofit/>
          </a:bodyPr>
          <a:lstStyle/>
          <a:p>
            <a:pPr marL="0" indent="0" algn="just">
              <a:buNone/>
            </a:pPr>
            <a:r>
              <a:rPr lang="es-ES" sz="2400" dirty="0"/>
              <a:t>Este proyecto como se menciono en la introducción fue creado dentro de el entorno de visual </a:t>
            </a:r>
            <a:r>
              <a:rPr lang="es-ES" sz="2400" dirty="0" err="1"/>
              <a:t>studio</a:t>
            </a:r>
            <a:r>
              <a:rPr lang="es-ES" sz="2400" dirty="0"/>
              <a:t> </a:t>
            </a:r>
            <a:r>
              <a:rPr lang="es-ES" sz="2400" dirty="0" err="1"/>
              <a:t>code</a:t>
            </a:r>
            <a:r>
              <a:rPr lang="es-ES" sz="2400" dirty="0"/>
              <a:t> ya que es una herramienta mas practica y en donde se maneja más fácil el lenguaje de </a:t>
            </a:r>
            <a:r>
              <a:rPr lang="es-ES" sz="2400" dirty="0" err="1"/>
              <a:t>python</a:t>
            </a:r>
            <a:r>
              <a:rPr lang="es-ES" sz="2400" dirty="0"/>
              <a:t> siendo esto una herramienta fundamental para crear este proyecto. Dicho proyecto consiste en que se descarguen imágenes que le pidamos desde internet en este caso sería de Google, usa mosaico inteligente para color, se crea la imagen con imágenes extraídas de Google en donde se generan las figuras y permite usar cualquier objeto para crear las imágenes quedando de la siguiente manera el código:</a:t>
            </a:r>
            <a:endParaRPr lang="es-ES"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3845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3" name="Rectangle 12">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F3062F9-726C-361C-E671-960BDF8A8BB1}"/>
              </a:ext>
            </a:extLst>
          </p:cNvPr>
          <p:cNvSpPr>
            <a:spLocks noGrp="1"/>
          </p:cNvSpPr>
          <p:nvPr>
            <p:ph type="title"/>
          </p:nvPr>
        </p:nvSpPr>
        <p:spPr>
          <a:xfrm>
            <a:off x="1057025" y="922644"/>
            <a:ext cx="5040285" cy="1169585"/>
          </a:xfrm>
        </p:spPr>
        <p:txBody>
          <a:bodyPr anchor="b">
            <a:normAutofit/>
          </a:bodyPr>
          <a:lstStyle/>
          <a:p>
            <a:r>
              <a:rPr lang="es-ES" sz="4000"/>
              <a:t>CODIGO</a:t>
            </a:r>
          </a:p>
        </p:txBody>
      </p:sp>
      <p:sp>
        <p:nvSpPr>
          <p:cNvPr id="18" name="Rectangle 17">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D4F1FF92-6FC6-14DA-1E12-9E2032630F7F}"/>
              </a:ext>
            </a:extLst>
          </p:cNvPr>
          <p:cNvSpPr>
            <a:spLocks noGrp="1"/>
          </p:cNvSpPr>
          <p:nvPr>
            <p:ph idx="1"/>
          </p:nvPr>
        </p:nvSpPr>
        <p:spPr>
          <a:xfrm>
            <a:off x="1055715" y="2508105"/>
            <a:ext cx="5040285" cy="3632493"/>
          </a:xfrm>
        </p:spPr>
        <p:txBody>
          <a:bodyPr vert="horz" lIns="91440" tIns="45720" rIns="91440" bIns="45720" rtlCol="0" anchor="ctr">
            <a:normAutofit/>
          </a:bodyPr>
          <a:lstStyle/>
          <a:p>
            <a:pPr marL="0" indent="0">
              <a:buNone/>
            </a:pPr>
            <a:r>
              <a:rPr lang="es-ES" sz="2000"/>
              <a:t>De esta manera es como quedaría mi código creado dentro de visual studio code con el lenguaje de programación de python quedando de la siguiente manera donde cada codigo se explica que se realiza:</a:t>
            </a:r>
          </a:p>
          <a:p>
            <a:pPr marL="0" indent="0">
              <a:buNone/>
            </a:pPr>
            <a:endParaRPr lang="es-ES" sz="2000"/>
          </a:p>
        </p:txBody>
      </p:sp>
      <p:pic>
        <p:nvPicPr>
          <p:cNvPr id="5" name="Imagen 4" descr="Texto&#10;&#10;El contenido generado por IA puede ser incorrecto.">
            <a:extLst>
              <a:ext uri="{FF2B5EF4-FFF2-40B4-BE49-F238E27FC236}">
                <a16:creationId xmlns:a16="http://schemas.microsoft.com/office/drawing/2014/main" id="{6FBDCECA-39C0-3615-9FF2-D66D92320087}"/>
              </a:ext>
            </a:extLst>
          </p:cNvPr>
          <p:cNvPicPr>
            <a:picLocks noChangeAspect="1"/>
          </p:cNvPicPr>
          <p:nvPr/>
        </p:nvPicPr>
        <p:blipFill>
          <a:blip r:embed="rId2"/>
          <a:stretch>
            <a:fillRect/>
          </a:stretch>
        </p:blipFill>
        <p:spPr>
          <a:xfrm>
            <a:off x="7334181" y="3175304"/>
            <a:ext cx="3441564" cy="2581173"/>
          </a:xfrm>
          <a:prstGeom prst="rect">
            <a:avLst/>
          </a:prstGeom>
        </p:spPr>
      </p:pic>
      <p:pic>
        <p:nvPicPr>
          <p:cNvPr id="4" name="Imagen 3" descr="Texto&#10;&#10;El contenido generado por IA puede ser incorrecto.">
            <a:extLst>
              <a:ext uri="{FF2B5EF4-FFF2-40B4-BE49-F238E27FC236}">
                <a16:creationId xmlns:a16="http://schemas.microsoft.com/office/drawing/2014/main" id="{6F304CF9-47B3-B0A8-B1F4-732BC754436B}"/>
              </a:ext>
            </a:extLst>
          </p:cNvPr>
          <p:cNvPicPr>
            <a:picLocks noChangeAspect="1"/>
          </p:cNvPicPr>
          <p:nvPr/>
        </p:nvPicPr>
        <p:blipFill>
          <a:blip r:embed="rId3"/>
          <a:stretch>
            <a:fillRect/>
          </a:stretch>
        </p:blipFill>
        <p:spPr>
          <a:xfrm>
            <a:off x="7339682" y="225149"/>
            <a:ext cx="3488071" cy="2581173"/>
          </a:xfrm>
          <a:prstGeom prst="rect">
            <a:avLst/>
          </a:prstGeom>
        </p:spPr>
      </p:pic>
    </p:spTree>
    <p:extLst>
      <p:ext uri="{BB962C8B-B14F-4D97-AF65-F5344CB8AC3E}">
        <p14:creationId xmlns:p14="http://schemas.microsoft.com/office/powerpoint/2010/main" val="2172839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Marcador de contenido 3" descr="Texto&#10;&#10;El contenido generado por IA puede ser incorrecto.">
            <a:extLst>
              <a:ext uri="{FF2B5EF4-FFF2-40B4-BE49-F238E27FC236}">
                <a16:creationId xmlns:a16="http://schemas.microsoft.com/office/drawing/2014/main" id="{F9126990-C468-00E8-C58F-AD3411192168}"/>
              </a:ext>
            </a:extLst>
          </p:cNvPr>
          <p:cNvPicPr>
            <a:picLocks noGrp="1" noChangeAspect="1"/>
          </p:cNvPicPr>
          <p:nvPr>
            <p:ph idx="1"/>
          </p:nvPr>
        </p:nvPicPr>
        <p:blipFill>
          <a:blip r:embed="rId2"/>
          <a:stretch>
            <a:fillRect/>
          </a:stretch>
        </p:blipFill>
        <p:spPr>
          <a:xfrm>
            <a:off x="643467" y="1893532"/>
            <a:ext cx="5294716" cy="3070934"/>
          </a:xfrm>
          <a:prstGeom prst="rect">
            <a:avLst/>
          </a:prstGeom>
        </p:spPr>
      </p:pic>
      <p:cxnSp>
        <p:nvCxnSpPr>
          <p:cNvPr id="14" name="Straight Connector 13">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5" name="Imagen 4" descr="Texto&#10;&#10;El contenido generado por IA puede ser incorrecto.">
            <a:extLst>
              <a:ext uri="{FF2B5EF4-FFF2-40B4-BE49-F238E27FC236}">
                <a16:creationId xmlns:a16="http://schemas.microsoft.com/office/drawing/2014/main" id="{C08CD8A9-FF94-68AB-B871-82E2C4510D0B}"/>
              </a:ext>
            </a:extLst>
          </p:cNvPr>
          <p:cNvPicPr>
            <a:picLocks noChangeAspect="1"/>
          </p:cNvPicPr>
          <p:nvPr/>
        </p:nvPicPr>
        <p:blipFill>
          <a:blip r:embed="rId3"/>
          <a:stretch>
            <a:fillRect/>
          </a:stretch>
        </p:blipFill>
        <p:spPr>
          <a:xfrm>
            <a:off x="6253817" y="1489810"/>
            <a:ext cx="5294715" cy="3878379"/>
          </a:xfrm>
          <a:prstGeom prst="rect">
            <a:avLst/>
          </a:prstGeom>
        </p:spPr>
      </p:pic>
    </p:spTree>
    <p:extLst>
      <p:ext uri="{BB962C8B-B14F-4D97-AF65-F5344CB8AC3E}">
        <p14:creationId xmlns:p14="http://schemas.microsoft.com/office/powerpoint/2010/main" val="4214446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DFC7EB5-4CE0-254B-8B02-0353E0B43BFE}"/>
              </a:ext>
            </a:extLst>
          </p:cNvPr>
          <p:cNvSpPr>
            <a:spLocks noGrp="1"/>
          </p:cNvSpPr>
          <p:nvPr>
            <p:ph type="title"/>
          </p:nvPr>
        </p:nvSpPr>
        <p:spPr>
          <a:xfrm>
            <a:off x="645064" y="525982"/>
            <a:ext cx="4282983" cy="1200361"/>
          </a:xfrm>
        </p:spPr>
        <p:txBody>
          <a:bodyPr anchor="b">
            <a:normAutofit/>
          </a:bodyPr>
          <a:lstStyle/>
          <a:p>
            <a:r>
              <a:rPr lang="es-ES" sz="3600"/>
              <a:t>RESULTADO DE PROGRAMA</a:t>
            </a:r>
          </a:p>
        </p:txBody>
      </p:sp>
      <p:sp>
        <p:nvSpPr>
          <p:cNvPr id="11" name="Rectangle 10">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3F7F0E6A-A0B9-933C-6658-18AF04181293}"/>
              </a:ext>
            </a:extLst>
          </p:cNvPr>
          <p:cNvSpPr>
            <a:spLocks noGrp="1"/>
          </p:cNvSpPr>
          <p:nvPr>
            <p:ph idx="1"/>
          </p:nvPr>
        </p:nvSpPr>
        <p:spPr>
          <a:xfrm>
            <a:off x="645066" y="2031101"/>
            <a:ext cx="4282984" cy="3511943"/>
          </a:xfrm>
        </p:spPr>
        <p:txBody>
          <a:bodyPr vert="horz" lIns="91440" tIns="45720" rIns="91440" bIns="45720" rtlCol="0" anchor="ctr">
            <a:normAutofit/>
          </a:bodyPr>
          <a:lstStyle/>
          <a:p>
            <a:pPr marL="0" indent="0">
              <a:buNone/>
            </a:pPr>
            <a:r>
              <a:rPr lang="es-ES" sz="1800" dirty="0"/>
              <a:t>Cuando ejecutamos el programa, busca en internet </a:t>
            </a:r>
            <a:r>
              <a:rPr lang="es-ES" sz="1800"/>
              <a:t>las imágenes</a:t>
            </a:r>
            <a:r>
              <a:rPr lang="es-ES" sz="1800" dirty="0"/>
              <a:t> cuando le decimos sobre que queremos la imagen en este caso le decimos que café y la plantilla sobre una casa donde el programa nos da lo siguiente:</a:t>
            </a:r>
          </a:p>
          <a:p>
            <a:pPr marL="0" indent="0">
              <a:buNone/>
            </a:pPr>
            <a:endParaRPr lang="es-ES" sz="1800"/>
          </a:p>
        </p:txBody>
      </p:sp>
      <p:sp>
        <p:nvSpPr>
          <p:cNvPr id="13" name="Rectangle 12">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descr="Imagen que contiene Escala de tiempo&#10;&#10;El contenido generado por IA puede ser incorrecto.">
            <a:extLst>
              <a:ext uri="{FF2B5EF4-FFF2-40B4-BE49-F238E27FC236}">
                <a16:creationId xmlns:a16="http://schemas.microsoft.com/office/drawing/2014/main" id="{D8B18888-535B-7A1F-F8D9-3E6F9C8015B4}"/>
              </a:ext>
            </a:extLst>
          </p:cNvPr>
          <p:cNvPicPr>
            <a:picLocks noChangeAspect="1"/>
          </p:cNvPicPr>
          <p:nvPr/>
        </p:nvPicPr>
        <p:blipFill>
          <a:blip r:embed="rId2"/>
          <a:stretch>
            <a:fillRect/>
          </a:stretch>
        </p:blipFill>
        <p:spPr>
          <a:xfrm>
            <a:off x="5987738" y="1370899"/>
            <a:ext cx="5628018" cy="3883332"/>
          </a:xfrm>
          <a:prstGeom prst="rect">
            <a:avLst/>
          </a:prstGeom>
        </p:spPr>
      </p:pic>
    </p:spTree>
    <p:extLst>
      <p:ext uri="{BB962C8B-B14F-4D97-AF65-F5344CB8AC3E}">
        <p14:creationId xmlns:p14="http://schemas.microsoft.com/office/powerpoint/2010/main" val="1477532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E59AE08-D252-A8A4-AB03-19B2C86990F6}"/>
              </a:ext>
            </a:extLst>
          </p:cNvPr>
          <p:cNvSpPr>
            <a:spLocks noGrp="1"/>
          </p:cNvSpPr>
          <p:nvPr>
            <p:ph type="title"/>
          </p:nvPr>
        </p:nvSpPr>
        <p:spPr>
          <a:xfrm>
            <a:off x="686834" y="1153572"/>
            <a:ext cx="3200400" cy="4461163"/>
          </a:xfrm>
        </p:spPr>
        <p:txBody>
          <a:bodyPr>
            <a:normAutofit/>
          </a:bodyPr>
          <a:lstStyle/>
          <a:p>
            <a:r>
              <a:rPr lang="es-ES" sz="3700">
                <a:solidFill>
                  <a:srgbClr val="FFFFFF"/>
                </a:solidFill>
              </a:rPr>
              <a:t>CONCLUSIÓN PERSONAL</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83EDB068-9A9F-16D3-2EA1-D5F7982972BD}"/>
              </a:ext>
            </a:extLst>
          </p:cNvPr>
          <p:cNvSpPr>
            <a:spLocks noGrp="1"/>
          </p:cNvSpPr>
          <p:nvPr>
            <p:ph idx="1"/>
          </p:nvPr>
        </p:nvSpPr>
        <p:spPr>
          <a:xfrm>
            <a:off x="4303534" y="591344"/>
            <a:ext cx="6906491" cy="5585619"/>
          </a:xfrm>
        </p:spPr>
        <p:txBody>
          <a:bodyPr vert="horz" lIns="91440" tIns="45720" rIns="91440" bIns="45720" rtlCol="0" anchor="ctr">
            <a:normAutofit/>
          </a:bodyPr>
          <a:lstStyle/>
          <a:p>
            <a:pPr marL="0" indent="0" algn="just">
              <a:buNone/>
            </a:pPr>
            <a:r>
              <a:rPr lang="es-ES" sz="2000"/>
              <a:t>En mi punto de vista </a:t>
            </a:r>
            <a:r>
              <a:rPr lang="es-ES" sz="2000">
                <a:ea typeface="+mn-lt"/>
                <a:cs typeface="+mn-lt"/>
              </a:rPr>
              <a:t>el desarrollo de este proyecto permitió comprender de forma práctica cómo se pueden aplicar conceptos de inteligencia artificial y procesamiento de imágenes para generar resultados visuales interesantes mediante programación. A través del uso de Python y diferentes librerías especializadas, fue posible crear un sistema que descarga imágenes automáticamente y las organiza para formar una figura específica. Esta práctica también permitió reforzar conocimientos sobre programación, manejo de librerías, análisis de imágenes y automatización de procesos. Además, demuestra que la inteligencia artificial no solo se utiliza para resolver problemas complejos, sino también para desarrollar aplicaciones creativas que combinan tecnología y diseño. Este proyecto resultó interesante porque muestra cómo una computadora puede analizar información visual y utilizarla para generar nuevas imágenes de forma automática. Esto demuestra el gran potencial que tiene la inteligencia artificial para seguir desarrollando herramientas innovadoras en el futuro.</a:t>
            </a:r>
            <a:endParaRPr lang="es-ES" sz="2000"/>
          </a:p>
          <a:p>
            <a:pPr marL="0" indent="0">
              <a:buNone/>
            </a:pPr>
            <a:endParaRPr lang="es-ES" sz="2000"/>
          </a:p>
        </p:txBody>
      </p:sp>
    </p:spTree>
    <p:extLst>
      <p:ext uri="{BB962C8B-B14F-4D97-AF65-F5344CB8AC3E}">
        <p14:creationId xmlns:p14="http://schemas.microsoft.com/office/powerpoint/2010/main" val="173721956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Panorámica</PresentationFormat>
  <Paragraphs>0</Paragraphs>
  <Slides>8</Slides>
  <Notes>0</Notes>
  <HiddenSlides>0</HiddenSlides>
  <MMClips>0</MMClips>
  <ScaleCrop>false</ScaleCrop>
  <HeadingPairs>
    <vt:vector size="4" baseType="variant">
      <vt:variant>
        <vt:lpstr>Tema</vt:lpstr>
      </vt:variant>
      <vt:variant>
        <vt:i4>1</vt:i4>
      </vt:variant>
      <vt:variant>
        <vt:lpstr>Títulos de diapositiva</vt:lpstr>
      </vt:variant>
      <vt:variant>
        <vt:i4>8</vt:i4>
      </vt:variant>
    </vt:vector>
  </HeadingPairs>
  <TitlesOfParts>
    <vt:vector size="9" baseType="lpstr">
      <vt:lpstr>Tema de Office</vt:lpstr>
      <vt:lpstr>Presentación de PowerPoint</vt:lpstr>
      <vt:lpstr>INTRODUCCIÓN</vt:lpstr>
      <vt:lpstr>JUSTIFICACIÓN</vt:lpstr>
      <vt:lpstr>ACTIVIDAD: PROYECTO DE RED NEURONAL CONVOLUCIONAL (CNN)</vt:lpstr>
      <vt:lpstr>CODIGO</vt:lpstr>
      <vt:lpstr>Presentación de PowerPoint</vt:lpstr>
      <vt:lpstr>RESULTADO DE PROGRAMA</vt:lpstr>
      <vt:lpstr>CONCLUSIÓN PERSONAL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151</cp:revision>
  <dcterms:created xsi:type="dcterms:W3CDTF">2026-03-26T03:33:28Z</dcterms:created>
  <dcterms:modified xsi:type="dcterms:W3CDTF">2026-03-26T18:44:18Z</dcterms:modified>
</cp:coreProperties>
</file>