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 id="263" r:id="rId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09316B-D82C-0F6C-9570-4A91C3025FB4}" v="536" dt="2026-03-26T16:57:35.5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0" autoAdjust="0"/>
    <p:restoredTop sz="94660"/>
  </p:normalViewPr>
  <p:slideViewPr>
    <p:cSldViewPr snapToGrid="0">
      <p:cViewPr varScale="1">
        <p:scale>
          <a:sx n="73" d="100"/>
          <a:sy n="73" d="100"/>
        </p:scale>
        <p:origin x="72" y="3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26/03/2026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288191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26/03/2026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398174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26/03/2026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339700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40771E8B-6CA5-40B2-8038-0E112F3DAC1C}" type="datetimeFigureOut">
              <a:rPr lang="es-ES" smtClean="0"/>
              <a:t>26/03/2026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979029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40771E8B-6CA5-40B2-8038-0E112F3DAC1C}" type="datetimeFigureOut">
              <a:rPr lang="es-ES" smtClean="0"/>
              <a:t>26/03/2026</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1752394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40771E8B-6CA5-40B2-8038-0E112F3DAC1C}" type="datetimeFigureOut">
              <a:rPr lang="es-ES" smtClean="0"/>
              <a:t>26/03/2026</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630658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40771E8B-6CA5-40B2-8038-0E112F3DAC1C}" type="datetimeFigureOut">
              <a:rPr lang="es-ES" smtClean="0"/>
              <a:t>26/03/2026</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682375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26/03/2026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1360449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26/03/2026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83603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26/03/2026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541863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26/03/2026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21509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771E8B-6CA5-40B2-8038-0E112F3DAC1C}" type="datetimeFigureOut">
              <a:rPr lang="es-ES" smtClean="0"/>
              <a:t>26/03/2026</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1556C4-DFC3-4611-A7CC-780699185E26}" type="slidenum">
              <a:rPr lang="es-ES" smtClean="0"/>
              <a:t>‹Nº›</a:t>
            </a:fld>
            <a:endParaRPr lang="es-ES"/>
          </a:p>
        </p:txBody>
      </p:sp>
    </p:spTree>
    <p:extLst>
      <p:ext uri="{BB962C8B-B14F-4D97-AF65-F5344CB8AC3E}">
        <p14:creationId xmlns:p14="http://schemas.microsoft.com/office/powerpoint/2010/main" val="2933118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1">
            <a:extLst>
              <a:ext uri="{FF2B5EF4-FFF2-40B4-BE49-F238E27FC236}">
                <a16:creationId xmlns:a16="http://schemas.microsoft.com/office/drawing/2014/main" id="{B18B68FC-A42A-0C86-27C1-C97153163AF5}"/>
              </a:ext>
            </a:extLst>
          </p:cNvPr>
          <p:cNvSpPr txBox="1"/>
          <p:nvPr/>
        </p:nvSpPr>
        <p:spPr>
          <a:xfrm>
            <a:off x="4724400" y="2309003"/>
            <a:ext cx="3634596" cy="375487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1400" dirty="0">
                <a:latin typeface="Arial"/>
                <a:cs typeface="Segoe UI"/>
              </a:rPr>
              <a:t>Tecnológico Nacional de México</a:t>
            </a:r>
            <a:r>
              <a:rPr lang="en-US" sz="1400" dirty="0">
                <a:latin typeface="Arial"/>
                <a:cs typeface="Segoe UI"/>
              </a:rPr>
              <a:t>​</a:t>
            </a:r>
            <a:endParaRPr lang="es-ES" sz="1400" dirty="0">
              <a:latin typeface="Arial"/>
              <a:cs typeface="Arial"/>
            </a:endParaRPr>
          </a:p>
          <a:p>
            <a:pPr algn="ctr"/>
            <a:r>
              <a:rPr lang="es-ES" sz="1400" dirty="0">
                <a:latin typeface="Arial"/>
                <a:cs typeface="Segoe UI"/>
              </a:rPr>
              <a:t>Instituto Tecnológico de Frontera Comalapa</a:t>
            </a:r>
            <a:r>
              <a:rPr lang="en-US" sz="1400" dirty="0">
                <a:latin typeface="Arial"/>
                <a:cs typeface="Segoe UI"/>
              </a:rPr>
              <a:t>​</a:t>
            </a:r>
          </a:p>
          <a:p>
            <a:pPr algn="ctr"/>
            <a:r>
              <a:rPr lang="es-ES" sz="1400" dirty="0">
                <a:latin typeface="Arial"/>
                <a:cs typeface="Segoe UI"/>
              </a:rPr>
              <a:t>​</a:t>
            </a:r>
          </a:p>
          <a:p>
            <a:pPr algn="ctr"/>
            <a:r>
              <a:rPr lang="en-US" sz="1400">
                <a:latin typeface="Arial"/>
                <a:cs typeface="Segoe UI"/>
              </a:rPr>
              <a:t>EJERICIOS</a:t>
            </a:r>
            <a:endParaRPr lang="en-US" sz="1400" dirty="0">
              <a:latin typeface="Arial"/>
              <a:cs typeface="Segoe UI"/>
            </a:endParaRPr>
          </a:p>
          <a:p>
            <a:pPr algn="ctr"/>
            <a:endParaRPr lang="en-US" sz="1400">
              <a:latin typeface="Arial"/>
              <a:cs typeface="Segoe UI"/>
            </a:endParaRPr>
          </a:p>
          <a:p>
            <a:pPr algn="ctr"/>
            <a:r>
              <a:rPr lang="es-ES" sz="1400" dirty="0">
                <a:latin typeface="Arial"/>
                <a:cs typeface="Segoe UI"/>
              </a:rPr>
              <a:t>INTELIGENCIA ARTIFICIAL</a:t>
            </a:r>
          </a:p>
          <a:p>
            <a:pPr algn="ctr"/>
            <a:r>
              <a:rPr lang="es-ES" sz="1400" dirty="0">
                <a:latin typeface="Arial"/>
                <a:cs typeface="Segoe UI"/>
              </a:rPr>
              <a:t>​</a:t>
            </a:r>
            <a:endParaRPr lang="es-ES" sz="1400" dirty="0">
              <a:latin typeface="Arial"/>
              <a:cs typeface="Arial"/>
            </a:endParaRPr>
          </a:p>
          <a:p>
            <a:pPr algn="ctr"/>
            <a:r>
              <a:rPr lang="es-ES" sz="1400" dirty="0">
                <a:latin typeface="Arial"/>
                <a:cs typeface="Segoe UI"/>
              </a:rPr>
              <a:t>Integrante: </a:t>
            </a:r>
            <a:r>
              <a:rPr lang="en-US" sz="1400" dirty="0">
                <a:latin typeface="Arial"/>
                <a:cs typeface="Segoe UI"/>
              </a:rPr>
              <a:t>​</a:t>
            </a:r>
          </a:p>
          <a:p>
            <a:pPr algn="ctr"/>
            <a:endParaRPr lang="es-ES" sz="1400" dirty="0">
              <a:latin typeface="Arial"/>
              <a:cs typeface="Segoe UI"/>
            </a:endParaRPr>
          </a:p>
          <a:p>
            <a:pPr algn="ctr"/>
            <a:r>
              <a:rPr lang="es-ES" sz="1400" dirty="0">
                <a:latin typeface="Arial"/>
                <a:cs typeface="Segoe UI"/>
              </a:rPr>
              <a:t>Reynaldo Felipe Morales Silva</a:t>
            </a:r>
            <a:r>
              <a:rPr lang="en-US" sz="1400" dirty="0">
                <a:latin typeface="Arial"/>
                <a:cs typeface="Segoe UI"/>
              </a:rPr>
              <a:t>​</a:t>
            </a:r>
          </a:p>
          <a:p>
            <a:pPr algn="ctr"/>
            <a:endParaRPr lang="es-MX" sz="1400">
              <a:latin typeface="Arial"/>
              <a:cs typeface="Arial"/>
            </a:endParaRPr>
          </a:p>
          <a:p>
            <a:pPr algn="ctr"/>
            <a:r>
              <a:rPr lang="es-ES" sz="1400" dirty="0">
                <a:latin typeface="Arial"/>
                <a:cs typeface="Segoe UI"/>
              </a:rPr>
              <a:t>Carrera: Ingeniería en Sistemas Computacionales</a:t>
            </a:r>
            <a:r>
              <a:rPr lang="en-US" sz="1400" dirty="0">
                <a:latin typeface="Arial"/>
                <a:cs typeface="Segoe UI"/>
              </a:rPr>
              <a:t>​</a:t>
            </a:r>
          </a:p>
          <a:p>
            <a:pPr algn="ctr"/>
            <a:r>
              <a:rPr lang="es-ES" sz="1400" dirty="0">
                <a:latin typeface="Arial"/>
                <a:cs typeface="Segoe UI"/>
              </a:rPr>
              <a:t>​</a:t>
            </a:r>
          </a:p>
          <a:p>
            <a:pPr algn="ctr"/>
            <a:r>
              <a:rPr lang="es-ES" sz="1400" dirty="0">
                <a:latin typeface="Arial"/>
                <a:cs typeface="Segoe UI"/>
              </a:rPr>
              <a:t>Docente: Ing. Francisco Javier Mingo Velázquez</a:t>
            </a:r>
          </a:p>
          <a:p>
            <a:pPr algn="ctr"/>
            <a:r>
              <a:rPr lang="es-ES" sz="1400">
                <a:latin typeface="Arial"/>
                <a:cs typeface="Segoe UI"/>
              </a:rPr>
              <a:t>Fecha:  29 de marzo del 2026</a:t>
            </a:r>
          </a:p>
        </p:txBody>
      </p:sp>
      <p:pic>
        <p:nvPicPr>
          <p:cNvPr id="5" name="Imagen 4" descr="Imagen que contiene Logotipo&#10;&#10;El contenido generado por IA puede ser incorrecto.">
            <a:extLst>
              <a:ext uri="{FF2B5EF4-FFF2-40B4-BE49-F238E27FC236}">
                <a16:creationId xmlns:a16="http://schemas.microsoft.com/office/drawing/2014/main" id="{FB1911C2-9242-8CDD-F6F2-82D69EF08773}"/>
              </a:ext>
            </a:extLst>
          </p:cNvPr>
          <p:cNvPicPr>
            <a:picLocks noChangeAspect="1"/>
          </p:cNvPicPr>
          <p:nvPr/>
        </p:nvPicPr>
        <p:blipFill>
          <a:blip r:embed="rId2"/>
          <a:stretch>
            <a:fillRect/>
          </a:stretch>
        </p:blipFill>
        <p:spPr>
          <a:xfrm>
            <a:off x="694785" y="735222"/>
            <a:ext cx="3700014" cy="1131858"/>
          </a:xfrm>
          <a:prstGeom prst="rect">
            <a:avLst/>
          </a:prstGeom>
        </p:spPr>
      </p:pic>
      <p:pic>
        <p:nvPicPr>
          <p:cNvPr id="6" name="Imagen 5" descr="Logotipo, nombre de la empresa&#10;&#10;El contenido generado por IA puede ser incorrecto.">
            <a:extLst>
              <a:ext uri="{FF2B5EF4-FFF2-40B4-BE49-F238E27FC236}">
                <a16:creationId xmlns:a16="http://schemas.microsoft.com/office/drawing/2014/main" id="{6307CE53-6CEB-8234-F873-7FADA65A592C}"/>
              </a:ext>
            </a:extLst>
          </p:cNvPr>
          <p:cNvPicPr>
            <a:picLocks noChangeAspect="1"/>
          </p:cNvPicPr>
          <p:nvPr/>
        </p:nvPicPr>
        <p:blipFill>
          <a:blip r:embed="rId3"/>
          <a:stretch>
            <a:fillRect/>
          </a:stretch>
        </p:blipFill>
        <p:spPr>
          <a:xfrm>
            <a:off x="5401753" y="821486"/>
            <a:ext cx="2265513" cy="959330"/>
          </a:xfrm>
          <a:prstGeom prst="rect">
            <a:avLst/>
          </a:prstGeom>
        </p:spPr>
      </p:pic>
      <p:pic>
        <p:nvPicPr>
          <p:cNvPr id="7" name="Imagen 6" descr="Diagrama&#10;&#10;El contenido generado por IA puede ser incorrecto.">
            <a:extLst>
              <a:ext uri="{FF2B5EF4-FFF2-40B4-BE49-F238E27FC236}">
                <a16:creationId xmlns:a16="http://schemas.microsoft.com/office/drawing/2014/main" id="{CBA91D2A-2382-43CB-BAF9-49C1F0F3E39D}"/>
              </a:ext>
            </a:extLst>
          </p:cNvPr>
          <p:cNvPicPr>
            <a:picLocks noChangeAspect="1"/>
          </p:cNvPicPr>
          <p:nvPr/>
        </p:nvPicPr>
        <p:blipFill>
          <a:blip r:embed="rId4"/>
          <a:stretch>
            <a:fillRect/>
          </a:stretch>
        </p:blipFill>
        <p:spPr>
          <a:xfrm>
            <a:off x="9308172" y="754002"/>
            <a:ext cx="1396941" cy="950524"/>
          </a:xfrm>
          <a:prstGeom prst="rect">
            <a:avLst/>
          </a:prstGeom>
        </p:spPr>
      </p:pic>
    </p:spTree>
    <p:extLst>
      <p:ext uri="{BB962C8B-B14F-4D97-AF65-F5344CB8AC3E}">
        <p14:creationId xmlns:p14="http://schemas.microsoft.com/office/powerpoint/2010/main" val="2406273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5CFA5DB-F047-F997-C53B-415B50DA535B}"/>
              </a:ext>
            </a:extLst>
          </p:cNvPr>
          <p:cNvSpPr>
            <a:spLocks noGrp="1"/>
          </p:cNvSpPr>
          <p:nvPr>
            <p:ph type="title"/>
          </p:nvPr>
        </p:nvSpPr>
        <p:spPr>
          <a:xfrm>
            <a:off x="1043631" y="809898"/>
            <a:ext cx="9942716" cy="1554480"/>
          </a:xfrm>
        </p:spPr>
        <p:txBody>
          <a:bodyPr anchor="ctr">
            <a:normAutofit/>
          </a:bodyPr>
          <a:lstStyle/>
          <a:p>
            <a:r>
              <a:rPr lang="es-ES" sz="4800"/>
              <a:t>INTRODUCCIÓN</a:t>
            </a:r>
          </a:p>
        </p:txBody>
      </p:sp>
      <p:sp>
        <p:nvSpPr>
          <p:cNvPr id="3" name="Marcador de contenido 2">
            <a:extLst>
              <a:ext uri="{FF2B5EF4-FFF2-40B4-BE49-F238E27FC236}">
                <a16:creationId xmlns:a16="http://schemas.microsoft.com/office/drawing/2014/main" id="{92AA1D2A-194E-BA97-350A-4DD06AC5ACA3}"/>
              </a:ext>
            </a:extLst>
          </p:cNvPr>
          <p:cNvSpPr>
            <a:spLocks noGrp="1"/>
          </p:cNvSpPr>
          <p:nvPr>
            <p:ph idx="1"/>
          </p:nvPr>
        </p:nvSpPr>
        <p:spPr>
          <a:xfrm>
            <a:off x="1045028" y="3017522"/>
            <a:ext cx="9941319" cy="3124658"/>
          </a:xfrm>
        </p:spPr>
        <p:txBody>
          <a:bodyPr vert="horz" lIns="91440" tIns="45720" rIns="91440" bIns="45720" rtlCol="0" anchor="ctr">
            <a:normAutofit/>
          </a:bodyPr>
          <a:lstStyle/>
          <a:p>
            <a:pPr algn="just">
              <a:buNone/>
            </a:pPr>
            <a:r>
              <a:rPr lang="es-ES" sz="1900">
                <a:ea typeface="+mn-lt"/>
                <a:cs typeface="+mn-lt"/>
              </a:rPr>
              <a:t>La práctica de ejercicios de programación relacionados con inteligencia artificial permite comprender de forma más clara cómo funcionan los algoritmos y las herramientas utilizadas para el procesamiento de información. En este caso, se realizaron diversos ejercicios utilizando un mismo código base en Python, el cual permite descargar imágenes de internet y utilizarlas para generar una figura específica mediante la técnica de mosaico digital. A través de la realización de estos ejercicios, se puso en práctica el uso de diferentes librerías como </a:t>
            </a:r>
            <a:r>
              <a:rPr lang="es-ES" sz="1900" err="1">
                <a:ea typeface="+mn-lt"/>
                <a:cs typeface="+mn-lt"/>
              </a:rPr>
              <a:t>OpenCV</a:t>
            </a:r>
            <a:r>
              <a:rPr lang="es-ES" sz="1900">
                <a:ea typeface="+mn-lt"/>
                <a:cs typeface="+mn-lt"/>
              </a:rPr>
              <a:t>, </a:t>
            </a:r>
            <a:r>
              <a:rPr lang="es-ES" sz="1900" err="1">
                <a:ea typeface="+mn-lt"/>
                <a:cs typeface="+mn-lt"/>
              </a:rPr>
              <a:t>NumPy</a:t>
            </a:r>
            <a:r>
              <a:rPr lang="es-ES" sz="1900">
                <a:ea typeface="+mn-lt"/>
                <a:cs typeface="+mn-lt"/>
              </a:rPr>
              <a:t> e </a:t>
            </a:r>
            <a:r>
              <a:rPr lang="es-ES" sz="1900" err="1">
                <a:ea typeface="+mn-lt"/>
                <a:cs typeface="+mn-lt"/>
              </a:rPr>
              <a:t>icrawler</a:t>
            </a:r>
            <a:r>
              <a:rPr lang="es-ES" sz="1900">
                <a:ea typeface="+mn-lt"/>
                <a:cs typeface="+mn-lt"/>
              </a:rPr>
              <a:t>, que facilitan el manejo y análisis de imágenes. Estos ejercicios permiten observar cómo una computadora puede procesar múltiples imágenes, analizarlas y organizarlas automáticamente para formar una figura determinada. De esta manera, se aplican conceptos básicos de inteligencia artificial y procesamiento digital de imágenes dentro de un entorno de programación.</a:t>
            </a:r>
            <a:endParaRPr lang="es-ES" sz="1900"/>
          </a:p>
          <a:p>
            <a:pPr marL="0" indent="0">
              <a:buNone/>
            </a:pPr>
            <a:endParaRPr lang="es-ES" sz="19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5012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93F0758-E8C4-727F-3FFA-29EEF2017450}"/>
              </a:ext>
            </a:extLst>
          </p:cNvPr>
          <p:cNvSpPr>
            <a:spLocks noGrp="1"/>
          </p:cNvSpPr>
          <p:nvPr>
            <p:ph type="title"/>
          </p:nvPr>
        </p:nvSpPr>
        <p:spPr>
          <a:xfrm>
            <a:off x="1043631" y="809898"/>
            <a:ext cx="9942716" cy="1554480"/>
          </a:xfrm>
        </p:spPr>
        <p:txBody>
          <a:bodyPr anchor="ctr">
            <a:normAutofit/>
          </a:bodyPr>
          <a:lstStyle/>
          <a:p>
            <a:r>
              <a:rPr lang="es-ES" sz="4800"/>
              <a:t>JUSTIFICACIÓN</a:t>
            </a:r>
          </a:p>
        </p:txBody>
      </p:sp>
      <p:sp>
        <p:nvSpPr>
          <p:cNvPr id="3" name="Marcador de contenido 2">
            <a:extLst>
              <a:ext uri="{FF2B5EF4-FFF2-40B4-BE49-F238E27FC236}">
                <a16:creationId xmlns:a16="http://schemas.microsoft.com/office/drawing/2014/main" id="{780C503C-A225-54E6-ED60-ECA2FF2277E6}"/>
              </a:ext>
            </a:extLst>
          </p:cNvPr>
          <p:cNvSpPr>
            <a:spLocks noGrp="1"/>
          </p:cNvSpPr>
          <p:nvPr>
            <p:ph idx="1"/>
          </p:nvPr>
        </p:nvSpPr>
        <p:spPr>
          <a:xfrm>
            <a:off x="1045028" y="3017522"/>
            <a:ext cx="9941319" cy="3124658"/>
          </a:xfrm>
        </p:spPr>
        <p:txBody>
          <a:bodyPr vert="horz" lIns="91440" tIns="45720" rIns="91440" bIns="45720" rtlCol="0" anchor="ctr">
            <a:normAutofit/>
          </a:bodyPr>
          <a:lstStyle/>
          <a:p>
            <a:pPr algn="just">
              <a:buNone/>
            </a:pPr>
            <a:r>
              <a:rPr lang="es-ES" sz="2400">
                <a:ea typeface="+mn-lt"/>
                <a:cs typeface="+mn-lt"/>
              </a:rPr>
              <a:t>Estos ejercicios ayudan a desarrollar habilidades en programación, análisis lógico y resolución de problemas, ya que permiten entender cada parte del código y su función dentro del proceso general. También se aprende a trabajar con librerías especializadas y a manejar diferentes tipos de datos, como imágenes digitales. Por otro lado, la práctica constante mediante ejercicios facilita la comprensión de conceptos relacionados con la inteligencia artificial, ya que permite observar de forma práctica cómo un programa puede analizar información visual y generar resultados automáticos a partir de ella.</a:t>
            </a:r>
            <a:endParaRPr lang="es-ES" sz="2400"/>
          </a:p>
          <a:p>
            <a:pPr marL="0" indent="0">
              <a:buNone/>
            </a:pPr>
            <a:endParaRPr lang="es-E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2203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1E7273E-E5A3-4B1D-BE3E-56F045D927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9CF7FE1C-8BC5-4B0C-A2BC-93AB72C90F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cap="flat">
            <a:noFill/>
            <a:prstDash val="solid"/>
            <a:miter/>
          </a:ln>
        </p:spPr>
        <p:txBody>
          <a:bodyPr rtlCol="0" anchor="ctr"/>
          <a:lstStyle/>
          <a:p>
            <a:pPr defTabSz="457200"/>
            <a:endParaRPr lang="en-US"/>
          </a:p>
        </p:txBody>
      </p:sp>
      <p:sp>
        <p:nvSpPr>
          <p:cNvPr id="2" name="Título 1">
            <a:extLst>
              <a:ext uri="{FF2B5EF4-FFF2-40B4-BE49-F238E27FC236}">
                <a16:creationId xmlns:a16="http://schemas.microsoft.com/office/drawing/2014/main" id="{70B09C74-C105-24E5-72E5-C246C1BFCFE2}"/>
              </a:ext>
            </a:extLst>
          </p:cNvPr>
          <p:cNvSpPr>
            <a:spLocks noGrp="1"/>
          </p:cNvSpPr>
          <p:nvPr>
            <p:ph type="title"/>
          </p:nvPr>
        </p:nvSpPr>
        <p:spPr>
          <a:xfrm>
            <a:off x="5526156" y="365125"/>
            <a:ext cx="5827643" cy="1433433"/>
          </a:xfrm>
        </p:spPr>
        <p:txBody>
          <a:bodyPr anchor="b">
            <a:normAutofit/>
          </a:bodyPr>
          <a:lstStyle/>
          <a:p>
            <a:r>
              <a:rPr lang="es-ES"/>
              <a:t>EJERCICIO CARRO</a:t>
            </a:r>
          </a:p>
        </p:txBody>
      </p:sp>
      <p:pic>
        <p:nvPicPr>
          <p:cNvPr id="5" name="Imagen 4" descr="Texto&#10;&#10;El contenido generado por IA puede ser incorrecto.">
            <a:extLst>
              <a:ext uri="{FF2B5EF4-FFF2-40B4-BE49-F238E27FC236}">
                <a16:creationId xmlns:a16="http://schemas.microsoft.com/office/drawing/2014/main" id="{E438B8A8-786B-8CE3-CDE0-193BEB160085}"/>
              </a:ext>
            </a:extLst>
          </p:cNvPr>
          <p:cNvPicPr>
            <a:picLocks noChangeAspect="1"/>
          </p:cNvPicPr>
          <p:nvPr/>
        </p:nvPicPr>
        <p:blipFill>
          <a:blip r:embed="rId2"/>
          <a:stretch>
            <a:fillRect/>
          </a:stretch>
        </p:blipFill>
        <p:spPr>
          <a:xfrm>
            <a:off x="455057" y="2058679"/>
            <a:ext cx="3940444" cy="761818"/>
          </a:xfrm>
          <a:prstGeom prst="rect">
            <a:avLst/>
          </a:prstGeom>
        </p:spPr>
      </p:pic>
      <p:pic>
        <p:nvPicPr>
          <p:cNvPr id="4" name="Imagen 3" descr="Texto&#10;&#10;El contenido generado por IA puede ser incorrecto.">
            <a:extLst>
              <a:ext uri="{FF2B5EF4-FFF2-40B4-BE49-F238E27FC236}">
                <a16:creationId xmlns:a16="http://schemas.microsoft.com/office/drawing/2014/main" id="{891311A9-52D3-9F85-7645-610FEC92E2D8}"/>
              </a:ext>
            </a:extLst>
          </p:cNvPr>
          <p:cNvPicPr>
            <a:picLocks noChangeAspect="1"/>
          </p:cNvPicPr>
          <p:nvPr/>
        </p:nvPicPr>
        <p:blipFill>
          <a:blip r:embed="rId3"/>
          <a:stretch>
            <a:fillRect/>
          </a:stretch>
        </p:blipFill>
        <p:spPr>
          <a:xfrm>
            <a:off x="455055" y="522407"/>
            <a:ext cx="3940445" cy="701343"/>
          </a:xfrm>
          <a:prstGeom prst="rect">
            <a:avLst/>
          </a:prstGeom>
        </p:spPr>
      </p:pic>
      <p:pic>
        <p:nvPicPr>
          <p:cNvPr id="6" name="Imagen 5" descr="Imagen que contiene circuito&#10;&#10;El contenido generado por IA puede ser incorrecto.">
            <a:extLst>
              <a:ext uri="{FF2B5EF4-FFF2-40B4-BE49-F238E27FC236}">
                <a16:creationId xmlns:a16="http://schemas.microsoft.com/office/drawing/2014/main" id="{D48F804F-BC65-DA54-50E2-87DBCB239C37}"/>
              </a:ext>
            </a:extLst>
          </p:cNvPr>
          <p:cNvPicPr>
            <a:picLocks noChangeAspect="1"/>
          </p:cNvPicPr>
          <p:nvPr/>
        </p:nvPicPr>
        <p:blipFill>
          <a:blip r:embed="rId4"/>
          <a:stretch>
            <a:fillRect/>
          </a:stretch>
        </p:blipFill>
        <p:spPr>
          <a:xfrm>
            <a:off x="1008517" y="3810936"/>
            <a:ext cx="2459711" cy="1770992"/>
          </a:xfrm>
          <a:prstGeom prst="rect">
            <a:avLst/>
          </a:prstGeom>
        </p:spPr>
      </p:pic>
      <p:sp>
        <p:nvSpPr>
          <p:cNvPr id="3" name="Marcador de contenido 2">
            <a:extLst>
              <a:ext uri="{FF2B5EF4-FFF2-40B4-BE49-F238E27FC236}">
                <a16:creationId xmlns:a16="http://schemas.microsoft.com/office/drawing/2014/main" id="{FEF22F85-2F7B-6DAB-D75C-D9106CC7ABF2}"/>
              </a:ext>
            </a:extLst>
          </p:cNvPr>
          <p:cNvSpPr>
            <a:spLocks noGrp="1"/>
          </p:cNvSpPr>
          <p:nvPr>
            <p:ph idx="1"/>
          </p:nvPr>
        </p:nvSpPr>
        <p:spPr>
          <a:xfrm>
            <a:off x="5526156" y="2055813"/>
            <a:ext cx="5827644" cy="4121149"/>
          </a:xfrm>
        </p:spPr>
        <p:txBody>
          <a:bodyPr vert="horz" lIns="91440" tIns="45720" rIns="91440" bIns="45720" rtlCol="0" anchor="t">
            <a:normAutofit/>
          </a:bodyPr>
          <a:lstStyle/>
          <a:p>
            <a:pPr marL="0" indent="0">
              <a:buNone/>
            </a:pPr>
            <a:r>
              <a:rPr lang="es-ES" sz="2000" dirty="0"/>
              <a:t>Para este ejercicio se </a:t>
            </a:r>
            <a:r>
              <a:rPr lang="es-ES" sz="2000"/>
              <a:t>realizó</a:t>
            </a:r>
            <a:r>
              <a:rPr lang="es-ES" sz="2000" dirty="0"/>
              <a:t> lo mismo que en el reporte de practica quedando de la siguiente manera donde le damos lo que vamos a usar para q lo descargué de Google y la figura que va a formar el programa y cuando se termina me aparece lo siguiente que el proceso ya finalizo y me muestra la figura del carro de la siguiente manera:</a:t>
            </a:r>
          </a:p>
          <a:p>
            <a:pPr marL="0" indent="0">
              <a:buNone/>
            </a:pPr>
            <a:endParaRPr lang="es-ES" sz="2000"/>
          </a:p>
        </p:txBody>
      </p:sp>
    </p:spTree>
    <p:extLst>
      <p:ext uri="{BB962C8B-B14F-4D97-AF65-F5344CB8AC3E}">
        <p14:creationId xmlns:p14="http://schemas.microsoft.com/office/powerpoint/2010/main" val="2392926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3CC2E5-5789-2F4D-DF8B-52187DB0211B}"/>
              </a:ext>
            </a:extLst>
          </p:cNvPr>
          <p:cNvSpPr>
            <a:spLocks noGrp="1"/>
          </p:cNvSpPr>
          <p:nvPr>
            <p:ph type="title"/>
          </p:nvPr>
        </p:nvSpPr>
        <p:spPr/>
        <p:txBody>
          <a:bodyPr/>
          <a:lstStyle/>
          <a:p>
            <a:r>
              <a:rPr lang="es-ES"/>
              <a:t>EJERCICIO PAJARO</a:t>
            </a:r>
          </a:p>
        </p:txBody>
      </p:sp>
      <p:sp>
        <p:nvSpPr>
          <p:cNvPr id="3" name="Marcador de contenido 2">
            <a:extLst>
              <a:ext uri="{FF2B5EF4-FFF2-40B4-BE49-F238E27FC236}">
                <a16:creationId xmlns:a16="http://schemas.microsoft.com/office/drawing/2014/main" id="{B330F8C4-CB5C-4DE7-E40D-E321A75E1A94}"/>
              </a:ext>
            </a:extLst>
          </p:cNvPr>
          <p:cNvSpPr>
            <a:spLocks noGrp="1"/>
          </p:cNvSpPr>
          <p:nvPr>
            <p:ph idx="1"/>
          </p:nvPr>
        </p:nvSpPr>
        <p:spPr/>
        <p:txBody>
          <a:bodyPr vert="horz" lIns="91440" tIns="45720" rIns="91440" bIns="45720" rtlCol="0" anchor="t">
            <a:normAutofit/>
          </a:bodyPr>
          <a:lstStyle/>
          <a:p>
            <a:pPr marL="0" indent="0">
              <a:buNone/>
            </a:pPr>
            <a:r>
              <a:rPr lang="es-ES" dirty="0"/>
              <a:t>De la misma manera que el primer ejercicio se realizara este  quedando de la si</a:t>
            </a:r>
            <a:r>
              <a:rPr lang="es-ES"/>
              <a:t>guiente manera:</a:t>
            </a:r>
          </a:p>
          <a:p>
            <a:pPr marL="0" indent="0">
              <a:buNone/>
            </a:pPr>
            <a:endParaRPr lang="es-ES" dirty="0"/>
          </a:p>
        </p:txBody>
      </p:sp>
      <p:pic>
        <p:nvPicPr>
          <p:cNvPr id="5" name="Imagen 4">
            <a:extLst>
              <a:ext uri="{FF2B5EF4-FFF2-40B4-BE49-F238E27FC236}">
                <a16:creationId xmlns:a16="http://schemas.microsoft.com/office/drawing/2014/main" id="{A5428CBD-38C6-53AA-0115-F99F53C81E6E}"/>
              </a:ext>
            </a:extLst>
          </p:cNvPr>
          <p:cNvPicPr>
            <a:picLocks noChangeAspect="1"/>
          </p:cNvPicPr>
          <p:nvPr/>
        </p:nvPicPr>
        <p:blipFill>
          <a:blip r:embed="rId2"/>
          <a:stretch>
            <a:fillRect/>
          </a:stretch>
        </p:blipFill>
        <p:spPr>
          <a:xfrm>
            <a:off x="404902" y="2859927"/>
            <a:ext cx="3790950" cy="390525"/>
          </a:xfrm>
          <a:prstGeom prst="rect">
            <a:avLst/>
          </a:prstGeom>
        </p:spPr>
      </p:pic>
      <p:pic>
        <p:nvPicPr>
          <p:cNvPr id="6" name="Imagen 5" descr="Texto&#10;&#10;El contenido generado por IA puede ser incorrecto.">
            <a:extLst>
              <a:ext uri="{FF2B5EF4-FFF2-40B4-BE49-F238E27FC236}">
                <a16:creationId xmlns:a16="http://schemas.microsoft.com/office/drawing/2014/main" id="{011C3917-ACE1-275D-878D-3C08964313BF}"/>
              </a:ext>
            </a:extLst>
          </p:cNvPr>
          <p:cNvPicPr>
            <a:picLocks noChangeAspect="1"/>
          </p:cNvPicPr>
          <p:nvPr/>
        </p:nvPicPr>
        <p:blipFill>
          <a:blip r:embed="rId3"/>
          <a:stretch>
            <a:fillRect/>
          </a:stretch>
        </p:blipFill>
        <p:spPr>
          <a:xfrm>
            <a:off x="399961" y="3819345"/>
            <a:ext cx="3743325" cy="685800"/>
          </a:xfrm>
          <a:prstGeom prst="rect">
            <a:avLst/>
          </a:prstGeom>
        </p:spPr>
      </p:pic>
      <p:pic>
        <p:nvPicPr>
          <p:cNvPr id="7" name="Imagen 6" descr="Gráfico, Gráfico de dispersión&#10;&#10;El contenido generado por IA puede ser incorrecto.">
            <a:extLst>
              <a:ext uri="{FF2B5EF4-FFF2-40B4-BE49-F238E27FC236}">
                <a16:creationId xmlns:a16="http://schemas.microsoft.com/office/drawing/2014/main" id="{C3CD7F1D-DFD8-D186-89CA-9F0890C104AA}"/>
              </a:ext>
            </a:extLst>
          </p:cNvPr>
          <p:cNvPicPr>
            <a:picLocks noChangeAspect="1"/>
          </p:cNvPicPr>
          <p:nvPr/>
        </p:nvPicPr>
        <p:blipFill>
          <a:blip r:embed="rId4"/>
          <a:stretch>
            <a:fillRect/>
          </a:stretch>
        </p:blipFill>
        <p:spPr>
          <a:xfrm>
            <a:off x="5169198" y="3050695"/>
            <a:ext cx="5649225" cy="3114495"/>
          </a:xfrm>
          <a:prstGeom prst="rect">
            <a:avLst/>
          </a:prstGeom>
        </p:spPr>
      </p:pic>
    </p:spTree>
    <p:extLst>
      <p:ext uri="{BB962C8B-B14F-4D97-AF65-F5344CB8AC3E}">
        <p14:creationId xmlns:p14="http://schemas.microsoft.com/office/powerpoint/2010/main" val="3025607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686EE0-C0D0-6B4B-2C5F-E52D209A0BF2}"/>
              </a:ext>
            </a:extLst>
          </p:cNvPr>
          <p:cNvSpPr>
            <a:spLocks noGrp="1"/>
          </p:cNvSpPr>
          <p:nvPr>
            <p:ph type="title"/>
          </p:nvPr>
        </p:nvSpPr>
        <p:spPr/>
        <p:txBody>
          <a:bodyPr/>
          <a:lstStyle/>
          <a:p>
            <a:r>
              <a:rPr lang="es-ES"/>
              <a:t>EJERCICIO PERRO</a:t>
            </a:r>
          </a:p>
        </p:txBody>
      </p:sp>
      <p:sp>
        <p:nvSpPr>
          <p:cNvPr id="3" name="Marcador de contenido 2">
            <a:extLst>
              <a:ext uri="{FF2B5EF4-FFF2-40B4-BE49-F238E27FC236}">
                <a16:creationId xmlns:a16="http://schemas.microsoft.com/office/drawing/2014/main" id="{483E2377-79A6-D502-7A73-6F27A0580F52}"/>
              </a:ext>
            </a:extLst>
          </p:cNvPr>
          <p:cNvSpPr>
            <a:spLocks noGrp="1"/>
          </p:cNvSpPr>
          <p:nvPr>
            <p:ph idx="1"/>
          </p:nvPr>
        </p:nvSpPr>
        <p:spPr/>
        <p:txBody>
          <a:bodyPr vert="horz" lIns="91440" tIns="45720" rIns="91440" bIns="45720" rtlCol="0" anchor="t">
            <a:normAutofit/>
          </a:bodyPr>
          <a:lstStyle/>
          <a:p>
            <a:pPr marL="0" indent="0">
              <a:buNone/>
            </a:pPr>
            <a:r>
              <a:rPr lang="es-ES" dirty="0"/>
              <a:t>De la misma manera que las anteriores quedara este </a:t>
            </a:r>
            <a:r>
              <a:rPr lang="es-ES"/>
              <a:t>ejercicio:</a:t>
            </a:r>
          </a:p>
          <a:p>
            <a:pPr marL="0" indent="0">
              <a:buNone/>
            </a:pPr>
            <a:endParaRPr lang="es-ES" dirty="0"/>
          </a:p>
        </p:txBody>
      </p:sp>
      <p:pic>
        <p:nvPicPr>
          <p:cNvPr id="4" name="Imagen 3">
            <a:extLst>
              <a:ext uri="{FF2B5EF4-FFF2-40B4-BE49-F238E27FC236}">
                <a16:creationId xmlns:a16="http://schemas.microsoft.com/office/drawing/2014/main" id="{64B34BC5-92BD-3B49-E9AD-0340F94B640A}"/>
              </a:ext>
            </a:extLst>
          </p:cNvPr>
          <p:cNvPicPr>
            <a:picLocks noChangeAspect="1"/>
          </p:cNvPicPr>
          <p:nvPr/>
        </p:nvPicPr>
        <p:blipFill>
          <a:blip r:embed="rId2"/>
          <a:stretch>
            <a:fillRect/>
          </a:stretch>
        </p:blipFill>
        <p:spPr>
          <a:xfrm>
            <a:off x="840626" y="2471738"/>
            <a:ext cx="3667125" cy="390525"/>
          </a:xfrm>
          <a:prstGeom prst="rect">
            <a:avLst/>
          </a:prstGeom>
        </p:spPr>
      </p:pic>
      <p:pic>
        <p:nvPicPr>
          <p:cNvPr id="5" name="Imagen 4" descr="Texto&#10;&#10;El contenido generado por IA puede ser incorrecto.">
            <a:extLst>
              <a:ext uri="{FF2B5EF4-FFF2-40B4-BE49-F238E27FC236}">
                <a16:creationId xmlns:a16="http://schemas.microsoft.com/office/drawing/2014/main" id="{31A55FE7-1996-856D-0C12-A92B2348E8CD}"/>
              </a:ext>
            </a:extLst>
          </p:cNvPr>
          <p:cNvPicPr>
            <a:picLocks noChangeAspect="1"/>
          </p:cNvPicPr>
          <p:nvPr/>
        </p:nvPicPr>
        <p:blipFill>
          <a:blip r:embed="rId3"/>
          <a:stretch>
            <a:fillRect/>
          </a:stretch>
        </p:blipFill>
        <p:spPr>
          <a:xfrm>
            <a:off x="5623704" y="2506243"/>
            <a:ext cx="3733800" cy="695325"/>
          </a:xfrm>
          <a:prstGeom prst="rect">
            <a:avLst/>
          </a:prstGeom>
        </p:spPr>
      </p:pic>
      <p:pic>
        <p:nvPicPr>
          <p:cNvPr id="6" name="Imagen 5" descr="Imagen que contiene Forma&#10;&#10;El contenido generado por IA puede ser incorrecto.">
            <a:extLst>
              <a:ext uri="{FF2B5EF4-FFF2-40B4-BE49-F238E27FC236}">
                <a16:creationId xmlns:a16="http://schemas.microsoft.com/office/drawing/2014/main" id="{CD3684F9-2A07-CF73-C9E0-585630E28F0C}"/>
              </a:ext>
            </a:extLst>
          </p:cNvPr>
          <p:cNvPicPr>
            <a:picLocks noChangeAspect="1"/>
          </p:cNvPicPr>
          <p:nvPr/>
        </p:nvPicPr>
        <p:blipFill>
          <a:blip r:embed="rId4"/>
          <a:stretch>
            <a:fillRect/>
          </a:stretch>
        </p:blipFill>
        <p:spPr>
          <a:xfrm>
            <a:off x="397804" y="3427383"/>
            <a:ext cx="5372280" cy="1786028"/>
          </a:xfrm>
          <a:prstGeom prst="rect">
            <a:avLst/>
          </a:prstGeom>
        </p:spPr>
      </p:pic>
      <p:pic>
        <p:nvPicPr>
          <p:cNvPr id="7" name="Imagen 6" descr="Imagen que contiene foto, tabla, alimentos, cuarto&#10;&#10;El contenido generado por IA puede ser incorrecto.">
            <a:extLst>
              <a:ext uri="{FF2B5EF4-FFF2-40B4-BE49-F238E27FC236}">
                <a16:creationId xmlns:a16="http://schemas.microsoft.com/office/drawing/2014/main" id="{BEDD9C15-2978-B886-947C-BB040BF033DE}"/>
              </a:ext>
            </a:extLst>
          </p:cNvPr>
          <p:cNvPicPr>
            <a:picLocks noChangeAspect="1"/>
          </p:cNvPicPr>
          <p:nvPr/>
        </p:nvPicPr>
        <p:blipFill>
          <a:blip r:embed="rId5"/>
          <a:stretch>
            <a:fillRect/>
          </a:stretch>
        </p:blipFill>
        <p:spPr>
          <a:xfrm>
            <a:off x="6214254" y="3422440"/>
            <a:ext cx="4939342" cy="1795912"/>
          </a:xfrm>
          <a:prstGeom prst="rect">
            <a:avLst/>
          </a:prstGeom>
        </p:spPr>
      </p:pic>
    </p:spTree>
    <p:extLst>
      <p:ext uri="{BB962C8B-B14F-4D97-AF65-F5344CB8AC3E}">
        <p14:creationId xmlns:p14="http://schemas.microsoft.com/office/powerpoint/2010/main" val="851333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40723E-FF68-AE73-1C89-7608D4E7D1F9}"/>
              </a:ext>
            </a:extLst>
          </p:cNvPr>
          <p:cNvSpPr>
            <a:spLocks noGrp="1"/>
          </p:cNvSpPr>
          <p:nvPr>
            <p:ph type="title"/>
          </p:nvPr>
        </p:nvSpPr>
        <p:spPr/>
        <p:txBody>
          <a:bodyPr/>
          <a:lstStyle/>
          <a:p>
            <a:r>
              <a:rPr lang="es-ES"/>
              <a:t>EJERCICIO GATO</a:t>
            </a:r>
          </a:p>
        </p:txBody>
      </p:sp>
      <p:sp>
        <p:nvSpPr>
          <p:cNvPr id="3" name="Marcador de contenido 2">
            <a:extLst>
              <a:ext uri="{FF2B5EF4-FFF2-40B4-BE49-F238E27FC236}">
                <a16:creationId xmlns:a16="http://schemas.microsoft.com/office/drawing/2014/main" id="{EFFF76D6-F3E1-AD8B-869B-9F4257B3426A}"/>
              </a:ext>
            </a:extLst>
          </p:cNvPr>
          <p:cNvSpPr>
            <a:spLocks noGrp="1"/>
          </p:cNvSpPr>
          <p:nvPr>
            <p:ph idx="1"/>
          </p:nvPr>
        </p:nvSpPr>
        <p:spPr/>
        <p:txBody>
          <a:bodyPr vert="horz" lIns="91440" tIns="45720" rIns="91440" bIns="45720" rtlCol="0" anchor="t">
            <a:normAutofit/>
          </a:bodyPr>
          <a:lstStyle/>
          <a:p>
            <a:pPr marL="0" indent="0">
              <a:buNone/>
            </a:pPr>
            <a:r>
              <a:rPr lang="es-ES" dirty="0"/>
              <a:t>De igual manera este ejercicio quedara de la siguiente manera dentro de visual </a:t>
            </a:r>
            <a:r>
              <a:rPr lang="es-ES" dirty="0" err="1"/>
              <a:t>studio</a:t>
            </a:r>
            <a:r>
              <a:rPr lang="es-ES" dirty="0"/>
              <a:t> </a:t>
            </a:r>
            <a:r>
              <a:rPr lang="es-ES" dirty="0" err="1"/>
              <a:t>code</a:t>
            </a:r>
            <a:r>
              <a:rPr lang="es-ES" dirty="0"/>
              <a:t>:</a:t>
            </a:r>
          </a:p>
          <a:p>
            <a:pPr marL="0" indent="0">
              <a:buNone/>
            </a:pPr>
            <a:endParaRPr lang="es-ES" dirty="0"/>
          </a:p>
        </p:txBody>
      </p:sp>
      <p:pic>
        <p:nvPicPr>
          <p:cNvPr id="4" name="Imagen 3">
            <a:extLst>
              <a:ext uri="{FF2B5EF4-FFF2-40B4-BE49-F238E27FC236}">
                <a16:creationId xmlns:a16="http://schemas.microsoft.com/office/drawing/2014/main" id="{B610F170-FDA3-51EC-A1F4-C08F35CAA09D}"/>
              </a:ext>
            </a:extLst>
          </p:cNvPr>
          <p:cNvPicPr>
            <a:picLocks noChangeAspect="1"/>
          </p:cNvPicPr>
          <p:nvPr/>
        </p:nvPicPr>
        <p:blipFill>
          <a:blip r:embed="rId2"/>
          <a:stretch>
            <a:fillRect/>
          </a:stretch>
        </p:blipFill>
        <p:spPr>
          <a:xfrm>
            <a:off x="840536" y="3008552"/>
            <a:ext cx="3638550" cy="409575"/>
          </a:xfrm>
          <a:prstGeom prst="rect">
            <a:avLst/>
          </a:prstGeom>
        </p:spPr>
      </p:pic>
      <p:pic>
        <p:nvPicPr>
          <p:cNvPr id="5" name="Imagen 4" descr="Texto&#10;&#10;El contenido generado por IA puede ser incorrecto.">
            <a:extLst>
              <a:ext uri="{FF2B5EF4-FFF2-40B4-BE49-F238E27FC236}">
                <a16:creationId xmlns:a16="http://schemas.microsoft.com/office/drawing/2014/main" id="{B4D4CD10-C6A0-3B1B-5123-49C9C09D373E}"/>
              </a:ext>
            </a:extLst>
          </p:cNvPr>
          <p:cNvPicPr>
            <a:picLocks noChangeAspect="1"/>
          </p:cNvPicPr>
          <p:nvPr/>
        </p:nvPicPr>
        <p:blipFill>
          <a:blip r:embed="rId3"/>
          <a:stretch>
            <a:fillRect/>
          </a:stretch>
        </p:blipFill>
        <p:spPr>
          <a:xfrm>
            <a:off x="6102560" y="2832340"/>
            <a:ext cx="3609975" cy="762000"/>
          </a:xfrm>
          <a:prstGeom prst="rect">
            <a:avLst/>
          </a:prstGeom>
        </p:spPr>
      </p:pic>
      <p:pic>
        <p:nvPicPr>
          <p:cNvPr id="6" name="Imagen 5" descr="Imagen que contiene interior, panal, computadora, tabla&#10;&#10;El contenido generado por IA puede ser incorrecto.">
            <a:extLst>
              <a:ext uri="{FF2B5EF4-FFF2-40B4-BE49-F238E27FC236}">
                <a16:creationId xmlns:a16="http://schemas.microsoft.com/office/drawing/2014/main" id="{BB8B8592-6B39-1581-CB08-5A3A501367BE}"/>
              </a:ext>
            </a:extLst>
          </p:cNvPr>
          <p:cNvPicPr>
            <a:picLocks noChangeAspect="1"/>
          </p:cNvPicPr>
          <p:nvPr/>
        </p:nvPicPr>
        <p:blipFill>
          <a:blip r:embed="rId4"/>
          <a:stretch>
            <a:fillRect/>
          </a:stretch>
        </p:blipFill>
        <p:spPr>
          <a:xfrm>
            <a:off x="5955012" y="4003555"/>
            <a:ext cx="5630354" cy="2301456"/>
          </a:xfrm>
          <a:prstGeom prst="rect">
            <a:avLst/>
          </a:prstGeom>
        </p:spPr>
      </p:pic>
      <p:pic>
        <p:nvPicPr>
          <p:cNvPr id="7" name="Imagen 6" descr="Icono&#10;&#10;El contenido generado por IA puede ser incorrecto.">
            <a:extLst>
              <a:ext uri="{FF2B5EF4-FFF2-40B4-BE49-F238E27FC236}">
                <a16:creationId xmlns:a16="http://schemas.microsoft.com/office/drawing/2014/main" id="{770FD58B-BA92-C531-41D5-602C0F97C22E}"/>
              </a:ext>
            </a:extLst>
          </p:cNvPr>
          <p:cNvPicPr>
            <a:picLocks noChangeAspect="1"/>
          </p:cNvPicPr>
          <p:nvPr/>
        </p:nvPicPr>
        <p:blipFill>
          <a:blip r:embed="rId5"/>
          <a:stretch>
            <a:fillRect/>
          </a:stretch>
        </p:blipFill>
        <p:spPr>
          <a:xfrm>
            <a:off x="543734" y="4003196"/>
            <a:ext cx="5008533" cy="1985873"/>
          </a:xfrm>
          <a:prstGeom prst="rect">
            <a:avLst/>
          </a:prstGeom>
        </p:spPr>
      </p:pic>
    </p:spTree>
    <p:extLst>
      <p:ext uri="{BB962C8B-B14F-4D97-AF65-F5344CB8AC3E}">
        <p14:creationId xmlns:p14="http://schemas.microsoft.com/office/powerpoint/2010/main" val="112441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9211077-D7EA-76AC-0528-22F39B264C88}"/>
              </a:ext>
            </a:extLst>
          </p:cNvPr>
          <p:cNvSpPr>
            <a:spLocks noGrp="1"/>
          </p:cNvSpPr>
          <p:nvPr>
            <p:ph type="title"/>
          </p:nvPr>
        </p:nvSpPr>
        <p:spPr>
          <a:xfrm>
            <a:off x="1043631" y="809898"/>
            <a:ext cx="9942716" cy="1554480"/>
          </a:xfrm>
        </p:spPr>
        <p:txBody>
          <a:bodyPr anchor="ctr">
            <a:normAutofit/>
          </a:bodyPr>
          <a:lstStyle/>
          <a:p>
            <a:r>
              <a:rPr lang="es-ES" sz="4800"/>
              <a:t>CONCLUSIÓN PERSONAL</a:t>
            </a:r>
          </a:p>
        </p:txBody>
      </p:sp>
      <p:sp>
        <p:nvSpPr>
          <p:cNvPr id="3" name="Marcador de contenido 2">
            <a:extLst>
              <a:ext uri="{FF2B5EF4-FFF2-40B4-BE49-F238E27FC236}">
                <a16:creationId xmlns:a16="http://schemas.microsoft.com/office/drawing/2014/main" id="{06AD6C54-4FCF-2C72-A8D8-C008088B7C3F}"/>
              </a:ext>
            </a:extLst>
          </p:cNvPr>
          <p:cNvSpPr>
            <a:spLocks noGrp="1"/>
          </p:cNvSpPr>
          <p:nvPr>
            <p:ph idx="1"/>
          </p:nvPr>
        </p:nvSpPr>
        <p:spPr>
          <a:xfrm>
            <a:off x="1045028" y="3017522"/>
            <a:ext cx="9941319" cy="3124658"/>
          </a:xfrm>
        </p:spPr>
        <p:txBody>
          <a:bodyPr vert="horz" lIns="91440" tIns="45720" rIns="91440" bIns="45720" rtlCol="0" anchor="ctr">
            <a:normAutofit/>
          </a:bodyPr>
          <a:lstStyle/>
          <a:p>
            <a:pPr marL="0" indent="0" algn="just">
              <a:buNone/>
            </a:pPr>
            <a:r>
              <a:rPr lang="es-ES" sz="2200"/>
              <a:t>En mi punto de vista </a:t>
            </a:r>
            <a:r>
              <a:rPr lang="es-ES" sz="2200">
                <a:ea typeface="+mn-lt"/>
                <a:cs typeface="+mn-lt"/>
              </a:rPr>
              <a:t>la realización de ejercicios utilizando el mismo código permitió comprender mejor el funcionamiento de los programas que utilizan inteligencia artificial y procesamiento de imágenes. A través de la práctica y la repetición de pruebas, fue posible identificar cómo cada parte del código contribuye al funcionamiento del programa y cómo se pueden obtener diferentes resultados al modificar ciertos elementos. Estos ejercicios fueron útiles para fortalecer los conocimientos en programación con Python y en el uso de librerías que permiten trabajar con imágenes. Además, ayudaron a desarrollar una mejor comprensión de cómo las computadoras pueden analizar y organizar información visual para generar nuevas representaciones gráficas.</a:t>
            </a:r>
            <a:endParaRPr lang="es-ES" sz="2200"/>
          </a:p>
          <a:p>
            <a:pPr marL="0" indent="0">
              <a:buNone/>
            </a:pPr>
            <a:endParaRPr lang="es-ES" sz="22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010359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Panorámica</PresentationFormat>
  <Paragraphs>0</Paragraphs>
  <Slides>8</Slides>
  <Notes>0</Notes>
  <HiddenSlides>0</HiddenSlides>
  <MMClips>0</MMClips>
  <ScaleCrop>false</ScaleCrop>
  <HeadingPairs>
    <vt:vector size="4" baseType="variant">
      <vt:variant>
        <vt:lpstr>Tema</vt:lpstr>
      </vt:variant>
      <vt:variant>
        <vt:i4>1</vt:i4>
      </vt:variant>
      <vt:variant>
        <vt:lpstr>Títulos de diapositiva</vt:lpstr>
      </vt:variant>
      <vt:variant>
        <vt:i4>8</vt:i4>
      </vt:variant>
    </vt:vector>
  </HeadingPairs>
  <TitlesOfParts>
    <vt:vector size="9" baseType="lpstr">
      <vt:lpstr>Tema de Office</vt:lpstr>
      <vt:lpstr>Presentación de PowerPoint</vt:lpstr>
      <vt:lpstr>INTRODUCCIÓN</vt:lpstr>
      <vt:lpstr>JUSTIFICACIÓN</vt:lpstr>
      <vt:lpstr>EJERCICIO CARRO</vt:lpstr>
      <vt:lpstr>EJERCICIO PAJARO</vt:lpstr>
      <vt:lpstr>EJERCICIO PERRO</vt:lpstr>
      <vt:lpstr>EJERCICIO GATO</vt:lpstr>
      <vt:lpstr>CONCLUSIÓN PERSONAL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117</cp:revision>
  <dcterms:created xsi:type="dcterms:W3CDTF">2026-03-26T04:49:11Z</dcterms:created>
  <dcterms:modified xsi:type="dcterms:W3CDTF">2026-03-26T18:45:14Z</dcterms:modified>
</cp:coreProperties>
</file>