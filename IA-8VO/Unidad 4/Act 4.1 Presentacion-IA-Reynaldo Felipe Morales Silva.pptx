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7"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8" r:id="rId24"/>
    <p:sldId id="279" r:id="rId25"/>
    <p:sldId id="280" r:id="rId26"/>
    <p:sldId id="281"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21418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s-ES"/>
              <a:t>Haga clic para modificar el estilo de título del patrón</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5BCAD085-E8A6-8845-BD4E-CB4CCA059FC4}" type="datetimeFigureOut">
              <a:rPr lang="en-US" smtClean="0"/>
              <a:t>3/25/2026</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22269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49456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154131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56058" y="3073398"/>
            <a:ext cx="3658793"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3073398"/>
            <a:ext cx="3656408"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29278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24699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274322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553387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99060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551066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901163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3055140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576511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5BCAD085-E8A6-8845-BD4E-CB4CCA059FC4}"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532351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5BCAD085-E8A6-8845-BD4E-CB4CCA059FC4}" type="datetimeFigureOut">
              <a:rPr lang="en-US" smtClean="0"/>
              <a:t>3/25/2026</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036015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80472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183934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3/25/2026</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4741866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B84F7B7-4089-50C0-4540-B78D4BC929FE}"/>
              </a:ext>
            </a:extLst>
          </p:cNvPr>
          <p:cNvSpPr>
            <a:spLocks noGrp="1"/>
          </p:cNvSpPr>
          <p:nvPr>
            <p:ph idx="1"/>
          </p:nvPr>
        </p:nvSpPr>
        <p:spPr>
          <a:xfrm>
            <a:off x="856060" y="1745455"/>
            <a:ext cx="7429499" cy="3541714"/>
          </a:xfrm>
        </p:spPr>
        <p:txBody>
          <a:bodyPr>
            <a:normAutofit fontScale="25000" lnSpcReduction="20000"/>
          </a:bodyPr>
          <a:lstStyle/>
          <a:p>
            <a:pPr marL="0" indent="0" algn="ctr" fontAlgn="base">
              <a:buNone/>
            </a:pPr>
            <a:r>
              <a:rPr lang="es-ES" sz="6400" dirty="0">
                <a:latin typeface="Arial" panose="020B0604020202020204" pitchFamily="34" charset="0"/>
                <a:cs typeface="Arial" panose="020B0604020202020204" pitchFamily="34" charset="0"/>
              </a:rPr>
              <a:t>Tecnológico Nacional de México</a:t>
            </a:r>
            <a:r>
              <a:rPr lang="en-US" sz="6400" dirty="0">
                <a:latin typeface="Arial" panose="020B0604020202020204" pitchFamily="34" charset="0"/>
                <a:cs typeface="Arial" panose="020B0604020202020204" pitchFamily="34" charset="0"/>
              </a:rPr>
              <a:t>​</a:t>
            </a:r>
            <a:r>
              <a:rPr lang="es-ES" sz="6400" dirty="0">
                <a:latin typeface="Arial" panose="020B0604020202020204" pitchFamily="34" charset="0"/>
                <a:cs typeface="Arial" panose="020B0604020202020204" pitchFamily="34" charset="0"/>
              </a:rPr>
              <a:t>​</a:t>
            </a:r>
          </a:p>
          <a:p>
            <a:pPr marL="0" indent="0" algn="ctr" fontAlgn="base">
              <a:buNone/>
            </a:pPr>
            <a:r>
              <a:rPr lang="es-ES" sz="6400" dirty="0">
                <a:latin typeface="Arial" panose="020B0604020202020204" pitchFamily="34" charset="0"/>
                <a:cs typeface="Arial" panose="020B0604020202020204" pitchFamily="34" charset="0"/>
              </a:rPr>
              <a:t>Instituto Tecnológico de Frontera Comalapa</a:t>
            </a:r>
            <a:r>
              <a:rPr lang="en-US" sz="6400" dirty="0">
                <a:latin typeface="Arial" panose="020B0604020202020204" pitchFamily="34" charset="0"/>
                <a:cs typeface="Arial" panose="020B0604020202020204" pitchFamily="34" charset="0"/>
              </a:rPr>
              <a:t>​​</a:t>
            </a:r>
          </a:p>
          <a:p>
            <a:pPr marL="0" indent="0" algn="ctr" fontAlgn="base">
              <a:buNone/>
            </a:pPr>
            <a:r>
              <a:rPr lang="es-ES" sz="6400" dirty="0">
                <a:latin typeface="Arial" panose="020B0604020202020204" pitchFamily="34" charset="0"/>
                <a:cs typeface="Arial" panose="020B0604020202020204" pitchFamily="34" charset="0"/>
              </a:rPr>
              <a:t>​</a:t>
            </a:r>
            <a:r>
              <a:rPr lang="en-US" sz="6400" dirty="0">
                <a:latin typeface="Arial" panose="020B0604020202020204" pitchFamily="34" charset="0"/>
                <a:cs typeface="Arial" panose="020B0604020202020204" pitchFamily="34" charset="0"/>
              </a:rPr>
              <a:t>​</a:t>
            </a:r>
          </a:p>
          <a:p>
            <a:pPr marL="0" indent="0" algn="ctr" fontAlgn="base">
              <a:buNone/>
            </a:pPr>
            <a:r>
              <a:rPr lang="en-US" sz="6400" dirty="0">
                <a:latin typeface="Arial" panose="020B0604020202020204" pitchFamily="34" charset="0"/>
                <a:cs typeface="Arial" panose="020B0604020202020204" pitchFamily="34" charset="0"/>
              </a:rPr>
              <a:t>PRESENTACIÓN</a:t>
            </a:r>
          </a:p>
          <a:p>
            <a:pPr marL="0" indent="0" algn="ctr" fontAlgn="base">
              <a:buNone/>
            </a:pPr>
            <a:r>
              <a:rPr lang="es-ES" sz="6400" dirty="0">
                <a:latin typeface="Arial" panose="020B0604020202020204" pitchFamily="34" charset="0"/>
                <a:cs typeface="Arial" panose="020B0604020202020204" pitchFamily="34" charset="0"/>
              </a:rPr>
              <a:t>INTELIGENCIA ARTIFICIAL</a:t>
            </a:r>
            <a:r>
              <a:rPr lang="en-US" sz="6400" dirty="0">
                <a:latin typeface="Arial" panose="020B0604020202020204" pitchFamily="34" charset="0"/>
                <a:cs typeface="Arial" panose="020B0604020202020204" pitchFamily="34" charset="0"/>
              </a:rPr>
              <a:t>​</a:t>
            </a:r>
            <a:endParaRPr lang="es-ES" sz="6400" dirty="0">
              <a:latin typeface="Arial" panose="020B0604020202020204" pitchFamily="34" charset="0"/>
              <a:cs typeface="Arial" panose="020B0604020202020204" pitchFamily="34" charset="0"/>
            </a:endParaRPr>
          </a:p>
          <a:p>
            <a:pPr marL="0" indent="0" algn="ctr" fontAlgn="base">
              <a:buNone/>
            </a:pPr>
            <a:r>
              <a:rPr lang="es-ES" sz="6400" dirty="0">
                <a:latin typeface="Arial" panose="020B0604020202020204" pitchFamily="34" charset="0"/>
                <a:cs typeface="Arial" panose="020B0604020202020204" pitchFamily="34" charset="0"/>
              </a:rPr>
              <a:t>Integrante: </a:t>
            </a:r>
            <a:r>
              <a:rPr lang="en-US" sz="6400" dirty="0">
                <a:latin typeface="Arial" panose="020B0604020202020204" pitchFamily="34" charset="0"/>
                <a:cs typeface="Arial" panose="020B0604020202020204" pitchFamily="34" charset="0"/>
              </a:rPr>
              <a:t>​​</a:t>
            </a:r>
            <a:r>
              <a:rPr lang="es-ES" sz="6400" dirty="0">
                <a:latin typeface="Arial" panose="020B0604020202020204" pitchFamily="34" charset="0"/>
                <a:cs typeface="Arial" panose="020B0604020202020204" pitchFamily="34" charset="0"/>
              </a:rPr>
              <a:t>​</a:t>
            </a:r>
          </a:p>
          <a:p>
            <a:pPr marL="0" indent="0" algn="ctr" fontAlgn="base">
              <a:buNone/>
            </a:pPr>
            <a:r>
              <a:rPr lang="es-ES" sz="6400" dirty="0">
                <a:latin typeface="Arial" panose="020B0604020202020204" pitchFamily="34" charset="0"/>
                <a:cs typeface="Arial" panose="020B0604020202020204" pitchFamily="34" charset="0"/>
              </a:rPr>
              <a:t>Reynaldo Felipe Morales Silva</a:t>
            </a:r>
            <a:r>
              <a:rPr lang="en-US" sz="6400" dirty="0">
                <a:latin typeface="Arial" panose="020B0604020202020204" pitchFamily="34" charset="0"/>
                <a:cs typeface="Arial" panose="020B0604020202020204" pitchFamily="34" charset="0"/>
              </a:rPr>
              <a:t>​​</a:t>
            </a:r>
            <a:r>
              <a:rPr lang="es-MX" sz="6400" dirty="0">
                <a:latin typeface="Arial" panose="020B0604020202020204" pitchFamily="34" charset="0"/>
                <a:cs typeface="Arial" panose="020B0604020202020204" pitchFamily="34" charset="0"/>
              </a:rPr>
              <a:t>​</a:t>
            </a:r>
          </a:p>
          <a:p>
            <a:pPr marL="0" indent="0" algn="ctr" fontAlgn="base">
              <a:buNone/>
            </a:pPr>
            <a:r>
              <a:rPr lang="es-ES" sz="6400" dirty="0">
                <a:latin typeface="Arial" panose="020B0604020202020204" pitchFamily="34" charset="0"/>
                <a:cs typeface="Arial" panose="020B0604020202020204" pitchFamily="34" charset="0"/>
              </a:rPr>
              <a:t>Carrera: Ingeniería en Sistemas Computacionales</a:t>
            </a:r>
            <a:r>
              <a:rPr lang="en-US" sz="6400" dirty="0">
                <a:latin typeface="Arial" panose="020B0604020202020204" pitchFamily="34" charset="0"/>
                <a:cs typeface="Arial" panose="020B0604020202020204" pitchFamily="34" charset="0"/>
              </a:rPr>
              <a:t>​​</a:t>
            </a:r>
            <a:r>
              <a:rPr lang="es-ES" sz="6400" dirty="0">
                <a:latin typeface="Arial" panose="020B0604020202020204" pitchFamily="34" charset="0"/>
                <a:cs typeface="Arial" panose="020B0604020202020204" pitchFamily="34" charset="0"/>
              </a:rPr>
              <a:t>​</a:t>
            </a:r>
            <a:r>
              <a:rPr lang="en-US" sz="6400" dirty="0">
                <a:latin typeface="Arial" panose="020B0604020202020204" pitchFamily="34" charset="0"/>
                <a:cs typeface="Arial" panose="020B0604020202020204" pitchFamily="34" charset="0"/>
              </a:rPr>
              <a:t>​</a:t>
            </a:r>
          </a:p>
          <a:p>
            <a:pPr marL="0" indent="0" algn="ctr" fontAlgn="base">
              <a:buNone/>
            </a:pPr>
            <a:r>
              <a:rPr lang="es-ES" sz="6400" dirty="0">
                <a:latin typeface="Arial" panose="020B0604020202020204" pitchFamily="34" charset="0"/>
                <a:cs typeface="Arial" panose="020B0604020202020204" pitchFamily="34" charset="0"/>
              </a:rPr>
              <a:t>Docente: Ing. Francisco Javier Mingo Velázquez</a:t>
            </a:r>
            <a:r>
              <a:rPr lang="en-US" sz="6400" dirty="0">
                <a:latin typeface="Arial" panose="020B0604020202020204" pitchFamily="34" charset="0"/>
                <a:cs typeface="Arial" panose="020B0604020202020204" pitchFamily="34" charset="0"/>
              </a:rPr>
              <a:t>​</a:t>
            </a:r>
          </a:p>
          <a:p>
            <a:pPr marL="0" indent="0" algn="ctr" fontAlgn="base">
              <a:buNone/>
            </a:pPr>
            <a:r>
              <a:rPr lang="es-ES" sz="6400" dirty="0">
                <a:latin typeface="Arial" panose="020B0604020202020204" pitchFamily="34" charset="0"/>
                <a:cs typeface="Arial" panose="020B0604020202020204" pitchFamily="34" charset="0"/>
              </a:rPr>
              <a:t>Fecha:  23 de marzo del 2026</a:t>
            </a:r>
            <a:endParaRPr lang="en-US" sz="6400" dirty="0">
              <a:latin typeface="Arial" panose="020B0604020202020204" pitchFamily="34" charset="0"/>
              <a:cs typeface="Arial" panose="020B0604020202020204" pitchFamily="34" charset="0"/>
            </a:endParaRPr>
          </a:p>
          <a:p>
            <a:pPr marL="0" indent="0">
              <a:buNone/>
            </a:pPr>
            <a:endParaRPr lang="es-MX" dirty="0"/>
          </a:p>
        </p:txBody>
      </p:sp>
      <p:pic>
        <p:nvPicPr>
          <p:cNvPr id="1026" name="Picture 2" descr="Logotipo, nombre de la empresa&#10;&#10;El contenido generado por IA puede ser incorrecto.">
            <a:extLst>
              <a:ext uri="{FF2B5EF4-FFF2-40B4-BE49-F238E27FC236}">
                <a16:creationId xmlns:a16="http://schemas.microsoft.com/office/drawing/2014/main" id="{79EF894D-11F3-60D9-05D8-60741D91C8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38" y="100428"/>
            <a:ext cx="3257550" cy="139065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Diagrama&#10;&#10;El contenido generado por IA puede ser incorrecto.">
            <a:extLst>
              <a:ext uri="{FF2B5EF4-FFF2-40B4-BE49-F238E27FC236}">
                <a16:creationId xmlns:a16="http://schemas.microsoft.com/office/drawing/2014/main" id="{454FC4C3-8AE1-D9A3-E2CA-D6C5DC569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4466" y="93662"/>
            <a:ext cx="1914525" cy="12668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n que contiene Logotipo&#10;&#10;El contenido generado por IA puede ser incorrecto.">
            <a:extLst>
              <a:ext uri="{FF2B5EF4-FFF2-40B4-BE49-F238E27FC236}">
                <a16:creationId xmlns:a16="http://schemas.microsoft.com/office/drawing/2014/main" id="{A9CA90A2-CBE4-C4FF-7B21-67428AE6AE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3669" y="100428"/>
            <a:ext cx="3571063" cy="1095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9187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Aplicaciones con Técnicas de Inteligencia Artificial</a:t>
            </a:r>
          </a:p>
        </p:txBody>
      </p:sp>
      <p:sp>
        <p:nvSpPr>
          <p:cNvPr id="3" name="Content Placeholder 2"/>
          <p:cNvSpPr>
            <a:spLocks noGrp="1"/>
          </p:cNvSpPr>
          <p:nvPr>
            <p:ph idx="1"/>
          </p:nvPr>
        </p:nvSpPr>
        <p:spPr/>
        <p:txBody>
          <a:bodyPr>
            <a:normAutofit fontScale="92500" lnSpcReduction="10000"/>
          </a:bodyPr>
          <a:lstStyle/>
          <a:p>
            <a:r>
              <a:t>Temas:</a:t>
            </a:r>
          </a:p>
          <a:p>
            <a:r>
              <a:t>• Robótica</a:t>
            </a:r>
          </a:p>
          <a:p>
            <a:r>
              <a:t>• Redes Neuronales</a:t>
            </a:r>
          </a:p>
          <a:p>
            <a:r>
              <a:t>• Visión Artificial</a:t>
            </a:r>
          </a:p>
          <a:p>
            <a:r>
              <a:t>• Lógica Difusa</a:t>
            </a:r>
          </a:p>
          <a:p>
            <a:r>
              <a:t>• Procesamiento de Lenguaje Natural</a:t>
            </a:r>
          </a:p>
          <a:p>
            <a:r>
              <a:t>• Sistemas Expertos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Introducción</a:t>
            </a:r>
          </a:p>
        </p:txBody>
      </p:sp>
      <p:sp>
        <p:nvSpPr>
          <p:cNvPr id="3" name="Content Placeholder 2"/>
          <p:cNvSpPr>
            <a:spLocks noGrp="1"/>
          </p:cNvSpPr>
          <p:nvPr>
            <p:ph idx="1"/>
          </p:nvPr>
        </p:nvSpPr>
        <p:spPr>
          <a:xfrm>
            <a:off x="856059" y="1855591"/>
            <a:ext cx="7429499" cy="3541714"/>
          </a:xfrm>
        </p:spPr>
        <p:txBody>
          <a:bodyPr>
            <a:noAutofit/>
          </a:bodyPr>
          <a:lstStyle/>
          <a:p>
            <a:pPr marL="0" indent="0" algn="just">
              <a:buNone/>
            </a:pPr>
            <a:r>
              <a:rPr sz="2000" dirty="0"/>
              <a:t>La </a:t>
            </a:r>
            <a:r>
              <a:rPr sz="2000" dirty="0" err="1"/>
              <a:t>Inteligencia</a:t>
            </a:r>
            <a:r>
              <a:rPr sz="2000" dirty="0"/>
              <a:t> Artificial </a:t>
            </a:r>
            <a:r>
              <a:rPr sz="2000" dirty="0" err="1"/>
              <a:t>permite</a:t>
            </a:r>
            <a:r>
              <a:rPr sz="2000" dirty="0"/>
              <a:t> </a:t>
            </a:r>
            <a:r>
              <a:rPr sz="2000" dirty="0" err="1"/>
              <a:t>que</a:t>
            </a:r>
            <a:r>
              <a:rPr sz="2000" dirty="0"/>
              <a:t> las </a:t>
            </a:r>
            <a:r>
              <a:rPr sz="2000" dirty="0" err="1"/>
              <a:t>computadoras</a:t>
            </a:r>
            <a:r>
              <a:rPr sz="2000" dirty="0"/>
              <a:t> </a:t>
            </a:r>
            <a:r>
              <a:rPr sz="2000" dirty="0" err="1"/>
              <a:t>realicen</a:t>
            </a:r>
            <a:r>
              <a:rPr sz="2000" dirty="0"/>
              <a:t> </a:t>
            </a:r>
            <a:r>
              <a:rPr sz="2000" dirty="0" err="1"/>
              <a:t>tareas</a:t>
            </a:r>
            <a:r>
              <a:rPr sz="2000" dirty="0"/>
              <a:t> </a:t>
            </a:r>
            <a:r>
              <a:rPr sz="2000" dirty="0" err="1"/>
              <a:t>que</a:t>
            </a:r>
            <a:r>
              <a:rPr sz="2000" dirty="0"/>
              <a:t> </a:t>
            </a:r>
            <a:r>
              <a:rPr sz="2000" dirty="0" err="1"/>
              <a:t>normalmente</a:t>
            </a:r>
            <a:r>
              <a:rPr sz="2000" dirty="0"/>
              <a:t> </a:t>
            </a:r>
            <a:r>
              <a:rPr sz="2000" dirty="0" err="1"/>
              <a:t>requieren</a:t>
            </a:r>
            <a:r>
              <a:rPr sz="2000" dirty="0"/>
              <a:t> </a:t>
            </a:r>
            <a:r>
              <a:rPr sz="2000" dirty="0" err="1"/>
              <a:t>inteligencia</a:t>
            </a:r>
            <a:r>
              <a:rPr sz="2000" dirty="0"/>
              <a:t> humana.</a:t>
            </a:r>
            <a:r>
              <a:rPr lang="es-MX" sz="2000" dirty="0"/>
              <a:t> </a:t>
            </a:r>
            <a:r>
              <a:rPr sz="2000" dirty="0" err="1"/>
              <a:t>Estas</a:t>
            </a:r>
            <a:r>
              <a:rPr sz="2000" dirty="0"/>
              <a:t> </a:t>
            </a:r>
            <a:r>
              <a:rPr sz="2000" dirty="0" err="1"/>
              <a:t>incluyen</a:t>
            </a:r>
            <a:r>
              <a:rPr sz="2000" dirty="0"/>
              <a:t> </a:t>
            </a:r>
            <a:r>
              <a:rPr sz="2000" dirty="0" err="1"/>
              <a:t>aprender</a:t>
            </a:r>
            <a:r>
              <a:rPr sz="2000" dirty="0"/>
              <a:t>, </a:t>
            </a:r>
            <a:r>
              <a:rPr sz="2000" dirty="0" err="1"/>
              <a:t>analizar</a:t>
            </a:r>
            <a:r>
              <a:rPr sz="2000" dirty="0"/>
              <a:t> </a:t>
            </a:r>
            <a:r>
              <a:rPr sz="2000" dirty="0" err="1"/>
              <a:t>información</a:t>
            </a:r>
            <a:r>
              <a:rPr sz="2000" dirty="0"/>
              <a:t> y </a:t>
            </a:r>
            <a:r>
              <a:rPr sz="2000" dirty="0" err="1"/>
              <a:t>tomar</a:t>
            </a:r>
            <a:r>
              <a:rPr sz="2000" dirty="0"/>
              <a:t> </a:t>
            </a:r>
            <a:r>
              <a:rPr sz="2000" dirty="0" err="1"/>
              <a:t>decisiones</a:t>
            </a:r>
            <a:r>
              <a:rPr sz="2000" dirty="0"/>
              <a:t>.</a:t>
            </a:r>
            <a:r>
              <a:rPr lang="es-MX" sz="2000" dirty="0"/>
              <a:t> Gracias a los avances tecnológicos, la IA se ha integrado en diversos campos como la industria, la medicina, la educación, la seguridad y el comercio. Por ello, el estudio de estas aplicaciones resulta fundamental para comprender el impacto que tiene la IA en el desarrollo tecnológico y en la vida cotidiana.</a:t>
            </a:r>
            <a:endParaRPr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Justificación</a:t>
            </a:r>
          </a:p>
        </p:txBody>
      </p:sp>
      <p:sp>
        <p:nvSpPr>
          <p:cNvPr id="3" name="Content Placeholder 2"/>
          <p:cNvSpPr>
            <a:spLocks noGrp="1"/>
          </p:cNvSpPr>
          <p:nvPr>
            <p:ph idx="1"/>
          </p:nvPr>
        </p:nvSpPr>
        <p:spPr/>
        <p:txBody>
          <a:bodyPr>
            <a:normAutofit/>
          </a:bodyPr>
          <a:lstStyle/>
          <a:p>
            <a:pPr marL="0" indent="0" algn="just">
              <a:buNone/>
            </a:pPr>
            <a:r>
              <a:rPr lang="es-MX" dirty="0"/>
              <a:t>El estudio de las aplicaciones de la Inteligencia Artificial es importante porque permite comprender cómo las tecnologías inteligentes están transformando diferentes sectores de la sociedad. Actualmente, muchas empresas e instituciones utilizan sistemas basados en IA para mejorar procesos, automatizar tareas y analizar grandes cantidades de información de manera eficiente.</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4.1 Robótica</a:t>
            </a:r>
          </a:p>
        </p:txBody>
      </p:sp>
      <p:sp>
        <p:nvSpPr>
          <p:cNvPr id="3" name="Content Placeholder 2"/>
          <p:cNvSpPr>
            <a:spLocks noGrp="1"/>
          </p:cNvSpPr>
          <p:nvPr>
            <p:ph idx="1"/>
          </p:nvPr>
        </p:nvSpPr>
        <p:spPr/>
        <p:txBody>
          <a:bodyPr>
            <a:normAutofit fontScale="92500" lnSpcReduction="10000"/>
          </a:bodyPr>
          <a:lstStyle/>
          <a:p>
            <a:pPr marL="0" indent="0">
              <a:buNone/>
            </a:pPr>
            <a:r>
              <a:rPr lang="es-MX" dirty="0"/>
              <a:t>La robótica es una rama de la tecnología y de la Inteligencia Artificial que se encarga del diseño, construcción, programación y uso de robots capaces de realizar tareas de forma automática o semiautomática.</a:t>
            </a:r>
            <a:endParaRPr dirty="0"/>
          </a:p>
          <a:p>
            <a:r>
              <a:rPr dirty="0"/>
              <a:t>Los robots </a:t>
            </a:r>
            <a:r>
              <a:rPr dirty="0" err="1"/>
              <a:t>pueden</a:t>
            </a:r>
            <a:r>
              <a:rPr dirty="0"/>
              <a:t>:</a:t>
            </a:r>
          </a:p>
          <a:p>
            <a:r>
              <a:rPr dirty="0"/>
              <a:t>• </a:t>
            </a:r>
            <a:r>
              <a:rPr dirty="0" err="1"/>
              <a:t>Percibir</a:t>
            </a:r>
            <a:r>
              <a:rPr dirty="0"/>
              <a:t> </a:t>
            </a:r>
            <a:r>
              <a:rPr dirty="0" err="1"/>
              <a:t>su</a:t>
            </a:r>
            <a:r>
              <a:rPr dirty="0"/>
              <a:t> </a:t>
            </a:r>
            <a:r>
              <a:rPr dirty="0" err="1"/>
              <a:t>entorno</a:t>
            </a:r>
            <a:endParaRPr dirty="0"/>
          </a:p>
          <a:p>
            <a:r>
              <a:rPr dirty="0"/>
              <a:t>• </a:t>
            </a:r>
            <a:r>
              <a:rPr dirty="0" err="1"/>
              <a:t>Procesar</a:t>
            </a:r>
            <a:r>
              <a:rPr dirty="0"/>
              <a:t> </a:t>
            </a:r>
            <a:r>
              <a:rPr dirty="0" err="1"/>
              <a:t>información</a:t>
            </a:r>
            <a:endParaRPr dirty="0"/>
          </a:p>
          <a:p>
            <a:r>
              <a:rPr dirty="0"/>
              <a:t>• </a:t>
            </a:r>
            <a:r>
              <a:rPr dirty="0" err="1"/>
              <a:t>Ejecutar</a:t>
            </a:r>
            <a:r>
              <a:rPr dirty="0"/>
              <a:t> </a:t>
            </a:r>
            <a:r>
              <a:rPr dirty="0" err="1"/>
              <a:t>acciones</a:t>
            </a:r>
            <a:r>
              <a:rPr dirty="0"/>
              <a:t> </a:t>
            </a:r>
            <a:r>
              <a:rPr dirty="0" err="1"/>
              <a:t>automáticamente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4.1.1 Conceptos básicos de Robótica</a:t>
            </a:r>
          </a:p>
        </p:txBody>
      </p:sp>
      <p:sp>
        <p:nvSpPr>
          <p:cNvPr id="3" name="Content Placeholder 2"/>
          <p:cNvSpPr>
            <a:spLocks noGrp="1"/>
          </p:cNvSpPr>
          <p:nvPr>
            <p:ph idx="1"/>
          </p:nvPr>
        </p:nvSpPr>
        <p:spPr>
          <a:xfrm>
            <a:off x="717452" y="2097088"/>
            <a:ext cx="7568108" cy="3952020"/>
          </a:xfrm>
        </p:spPr>
        <p:txBody>
          <a:bodyPr>
            <a:normAutofit fontScale="25000" lnSpcReduction="20000"/>
          </a:bodyPr>
          <a:lstStyle/>
          <a:p>
            <a:r>
              <a:rPr lang="es-MX" sz="4300" dirty="0"/>
              <a:t>Los </a:t>
            </a:r>
            <a:r>
              <a:rPr lang="es-MX" sz="4300" b="1" dirty="0"/>
              <a:t>conceptos básicos de la robótica</a:t>
            </a:r>
            <a:r>
              <a:rPr lang="es-MX" sz="4300" dirty="0"/>
              <a:t> son los elementos fundamentales que permiten entender cómo funcionan los robots y cómo interactúan con su entorno.</a:t>
            </a:r>
          </a:p>
          <a:p>
            <a:r>
              <a:rPr lang="es-MX" sz="4300" b="1" dirty="0"/>
              <a:t>1. Robot</a:t>
            </a:r>
          </a:p>
          <a:p>
            <a:r>
              <a:rPr lang="es-MX" sz="4300" dirty="0"/>
              <a:t>Es una máquina programable diseñada para realizar tareas automáticamente o con poca intervención humana. Los robots pueden seguir instrucciones específicas y adaptarse a diferentes situaciones.</a:t>
            </a:r>
          </a:p>
          <a:p>
            <a:r>
              <a:rPr lang="es-MX" sz="4300" b="1" dirty="0"/>
              <a:t>2. Sensor</a:t>
            </a:r>
          </a:p>
          <a:p>
            <a:r>
              <a:rPr lang="es-MX" sz="4300" dirty="0"/>
              <a:t>Es un dispositivo que permite al robot </a:t>
            </a:r>
            <a:r>
              <a:rPr lang="es-MX" sz="4300" b="1" dirty="0"/>
              <a:t>percibir información del entorno</a:t>
            </a:r>
            <a:r>
              <a:rPr lang="es-MX" sz="4300" dirty="0"/>
              <a:t>, como luz, temperatura, distancia, sonido o movimiento. Los sensores ayudan al robot a detectar lo que sucede a su alrededor.</a:t>
            </a:r>
          </a:p>
          <a:p>
            <a:r>
              <a:rPr lang="es-MX" sz="4300" b="1" dirty="0"/>
              <a:t>3. Actuador</a:t>
            </a:r>
          </a:p>
          <a:p>
            <a:r>
              <a:rPr lang="es-MX" sz="4300" dirty="0"/>
              <a:t>Es el mecanismo que permite al robot </a:t>
            </a:r>
            <a:r>
              <a:rPr lang="es-MX" sz="4300" b="1" dirty="0"/>
              <a:t>realizar movimientos o acciones físicas</a:t>
            </a:r>
            <a:r>
              <a:rPr lang="es-MX" sz="4300" dirty="0"/>
              <a:t>, como mover brazos, ruedas o herramientas. Los motores eléctricos son un ejemplo común de actuadores.</a:t>
            </a:r>
          </a:p>
          <a:p>
            <a:r>
              <a:rPr lang="es-MX" sz="4300" b="1" dirty="0"/>
              <a:t>4. Controlador</a:t>
            </a:r>
          </a:p>
          <a:p>
            <a:r>
              <a:rPr lang="es-MX" sz="4300" dirty="0"/>
              <a:t>Es el </a:t>
            </a:r>
            <a:r>
              <a:rPr lang="es-MX" sz="4300" b="1" dirty="0"/>
              <a:t>sistema que procesa la información</a:t>
            </a:r>
            <a:r>
              <a:rPr lang="es-MX" sz="4300" dirty="0"/>
              <a:t> recibida por los sensores y toma decisiones sobre las acciones que debe realizar el robot. Generalmente está formado por un microcontrolador o computadora.</a:t>
            </a:r>
          </a:p>
          <a:p>
            <a:pPr marL="0" indent="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4.1.2 Clasificación de Robots</a:t>
            </a:r>
          </a:p>
        </p:txBody>
      </p:sp>
      <p:sp>
        <p:nvSpPr>
          <p:cNvPr id="3" name="Content Placeholder 2"/>
          <p:cNvSpPr>
            <a:spLocks noGrp="1"/>
          </p:cNvSpPr>
          <p:nvPr>
            <p:ph idx="1"/>
          </p:nvPr>
        </p:nvSpPr>
        <p:spPr/>
        <p:txBody>
          <a:bodyPr/>
          <a:lstStyle/>
          <a:p>
            <a:r>
              <a:t>Tipos de robots:</a:t>
            </a:r>
          </a:p>
          <a:p>
            <a:r>
              <a:t>• Robots industriales</a:t>
            </a:r>
          </a:p>
          <a:p>
            <a:r>
              <a:t>• Robots de servicio</a:t>
            </a:r>
          </a:p>
          <a:p>
            <a:r>
              <a:t>• Robots móviles</a:t>
            </a:r>
          </a:p>
          <a:p>
            <a:r>
              <a:t>• Robots humanoides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4.1.3 Aplicaciones de la Robótica</a:t>
            </a:r>
          </a:p>
        </p:txBody>
      </p:sp>
      <p:sp>
        <p:nvSpPr>
          <p:cNvPr id="3" name="Content Placeholder 2"/>
          <p:cNvSpPr>
            <a:spLocks noGrp="1"/>
          </p:cNvSpPr>
          <p:nvPr>
            <p:ph idx="1"/>
          </p:nvPr>
        </p:nvSpPr>
        <p:spPr/>
        <p:txBody>
          <a:bodyPr/>
          <a:lstStyle/>
          <a:p>
            <a:r>
              <a:t>Aplicaciones actuales:</a:t>
            </a:r>
          </a:p>
          <a:p>
            <a:r>
              <a:t>• Industria automotriz</a:t>
            </a:r>
          </a:p>
          <a:p>
            <a:r>
              <a:t>• Cirugía robótica</a:t>
            </a:r>
          </a:p>
          <a:p>
            <a:r>
              <a:t>• Exploración espacial</a:t>
            </a:r>
          </a:p>
          <a:p>
            <a:r>
              <a:t>• Robots de rescate</a:t>
            </a:r>
          </a:p>
          <a:p>
            <a:r>
              <a:t>• Asistencia médica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 Redes Neuronales</a:t>
            </a:r>
          </a:p>
        </p:txBody>
      </p:sp>
      <p:sp>
        <p:nvSpPr>
          <p:cNvPr id="3" name="Content Placeholder 2"/>
          <p:cNvSpPr>
            <a:spLocks noGrp="1"/>
          </p:cNvSpPr>
          <p:nvPr>
            <p:ph idx="1"/>
          </p:nvPr>
        </p:nvSpPr>
        <p:spPr/>
        <p:txBody>
          <a:bodyPr>
            <a:normAutofit fontScale="92500" lnSpcReduction="20000"/>
          </a:bodyPr>
          <a:lstStyle/>
          <a:p>
            <a:r>
              <a:t>Las redes neuronales artificiales son modelos inspirados en el cerebro humano.</a:t>
            </a:r>
          </a:p>
          <a:p>
            <a:endParaRPr/>
          </a:p>
          <a:p>
            <a:r>
              <a:t>Están formadas por neuronas artificiales conectadas que permiten:</a:t>
            </a:r>
          </a:p>
          <a:p>
            <a:r>
              <a:t>• Aprender patrones</a:t>
            </a:r>
          </a:p>
          <a:p>
            <a:r>
              <a:t>• Analizar datos</a:t>
            </a:r>
          </a:p>
          <a:p>
            <a:r>
              <a:t>• Realizar predicciones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4.2.1 Conceptos básicos RN</a:t>
            </a:r>
          </a:p>
        </p:txBody>
      </p:sp>
      <p:sp>
        <p:nvSpPr>
          <p:cNvPr id="3" name="Content Placeholder 2"/>
          <p:cNvSpPr>
            <a:spLocks noGrp="1"/>
          </p:cNvSpPr>
          <p:nvPr>
            <p:ph idx="1"/>
          </p:nvPr>
        </p:nvSpPr>
        <p:spPr/>
        <p:txBody>
          <a:bodyPr/>
          <a:lstStyle/>
          <a:p>
            <a:r>
              <a:t>Conceptos importantes:</a:t>
            </a:r>
          </a:p>
          <a:p>
            <a:r>
              <a:t>• Neuronas artificiales</a:t>
            </a:r>
          </a:p>
          <a:p>
            <a:r>
              <a:t>• Capas de entrada, ocultas y salida</a:t>
            </a:r>
          </a:p>
          <a:p>
            <a:r>
              <a:t>• Pesos sinápticos</a:t>
            </a:r>
          </a:p>
          <a:p>
            <a:r>
              <a:t>• Proceso de entrenamiento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4.2.2 Clasificación de RN</a:t>
            </a:r>
          </a:p>
        </p:txBody>
      </p:sp>
      <p:sp>
        <p:nvSpPr>
          <p:cNvPr id="3" name="Content Placeholder 2"/>
          <p:cNvSpPr>
            <a:spLocks noGrp="1"/>
          </p:cNvSpPr>
          <p:nvPr>
            <p:ph idx="1"/>
          </p:nvPr>
        </p:nvSpPr>
        <p:spPr/>
        <p:txBody>
          <a:bodyPr/>
          <a:lstStyle/>
          <a:p>
            <a:r>
              <a:t>Tipos de redes neuronales:</a:t>
            </a:r>
          </a:p>
          <a:p>
            <a:r>
              <a:t>• Feedforward</a:t>
            </a:r>
          </a:p>
          <a:p>
            <a:r>
              <a:t>• Recurrentes</a:t>
            </a:r>
          </a:p>
          <a:p>
            <a:r>
              <a:t>• Convolucionales (CNN)</a:t>
            </a:r>
          </a:p>
          <a:p>
            <a:r>
              <a:t>• Deep Learning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4.2.3 Aplicaciones RN</a:t>
            </a:r>
          </a:p>
        </p:txBody>
      </p:sp>
      <p:sp>
        <p:nvSpPr>
          <p:cNvPr id="3" name="Content Placeholder 2"/>
          <p:cNvSpPr>
            <a:spLocks noGrp="1"/>
          </p:cNvSpPr>
          <p:nvPr>
            <p:ph idx="1"/>
          </p:nvPr>
        </p:nvSpPr>
        <p:spPr/>
        <p:txBody>
          <a:bodyPr/>
          <a:lstStyle/>
          <a:p>
            <a:r>
              <a:t>Usos actuales:</a:t>
            </a:r>
          </a:p>
          <a:p>
            <a:r>
              <a:t>• Reconocimiento facial</a:t>
            </a:r>
          </a:p>
          <a:p>
            <a:r>
              <a:t>• Diagnóstico médico</a:t>
            </a:r>
          </a:p>
          <a:p>
            <a:r>
              <a:t>• Vehículos autónomos</a:t>
            </a:r>
          </a:p>
          <a:p>
            <a:r>
              <a:t>• Sistemas de recomendación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4.3 Visión Artificial</a:t>
            </a:r>
          </a:p>
        </p:txBody>
      </p:sp>
      <p:sp>
        <p:nvSpPr>
          <p:cNvPr id="3" name="Content Placeholder 2"/>
          <p:cNvSpPr>
            <a:spLocks noGrp="1"/>
          </p:cNvSpPr>
          <p:nvPr>
            <p:ph idx="1"/>
          </p:nvPr>
        </p:nvSpPr>
        <p:spPr/>
        <p:txBody>
          <a:bodyPr>
            <a:normAutofit fontScale="92500" lnSpcReduction="10000"/>
          </a:bodyPr>
          <a:lstStyle/>
          <a:p>
            <a:r>
              <a:t>Permite a las computadoras interpretar imágenes y videos.</a:t>
            </a:r>
          </a:p>
          <a:p>
            <a:endParaRPr/>
          </a:p>
          <a:p>
            <a:r>
              <a:t>Utiliza:</a:t>
            </a:r>
          </a:p>
          <a:p>
            <a:r>
              <a:t>• Cámaras</a:t>
            </a:r>
          </a:p>
          <a:p>
            <a:r>
              <a:t>• Procesamiento de imágenes</a:t>
            </a:r>
          </a:p>
          <a:p>
            <a:r>
              <a:t>• Inteligencia Artificial</a:t>
            </a:r>
          </a:p>
          <a:p>
            <a:r>
              <a:t>• Reconocimiento de patrones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4.3.2 Aplicaciones Visión Artificial</a:t>
            </a:r>
          </a:p>
        </p:txBody>
      </p:sp>
      <p:sp>
        <p:nvSpPr>
          <p:cNvPr id="3" name="Content Placeholder 2"/>
          <p:cNvSpPr>
            <a:spLocks noGrp="1"/>
          </p:cNvSpPr>
          <p:nvPr>
            <p:ph idx="1"/>
          </p:nvPr>
        </p:nvSpPr>
        <p:spPr/>
        <p:txBody>
          <a:bodyPr/>
          <a:lstStyle/>
          <a:p>
            <a:r>
              <a:t>Aplicaciones:</a:t>
            </a:r>
          </a:p>
          <a:p>
            <a:r>
              <a:t>• Reconocimiento facial</a:t>
            </a:r>
          </a:p>
          <a:p>
            <a:r>
              <a:t>• Diagnóstico médico</a:t>
            </a:r>
          </a:p>
          <a:p>
            <a:r>
              <a:t>• Vehículos autónomos</a:t>
            </a:r>
          </a:p>
          <a:p>
            <a:r>
              <a:t>• Seguridad y vigilancia</a:t>
            </a:r>
          </a:p>
          <a:p>
            <a:r>
              <a:t>• Control de calidad industrial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4.4 Lógica Difusa</a:t>
            </a:r>
          </a:p>
        </p:txBody>
      </p:sp>
      <p:sp>
        <p:nvSpPr>
          <p:cNvPr id="3" name="Content Placeholder 2"/>
          <p:cNvSpPr>
            <a:spLocks noGrp="1"/>
          </p:cNvSpPr>
          <p:nvPr>
            <p:ph idx="1"/>
          </p:nvPr>
        </p:nvSpPr>
        <p:spPr/>
        <p:txBody>
          <a:bodyPr>
            <a:normAutofit lnSpcReduction="10000"/>
          </a:bodyPr>
          <a:lstStyle/>
          <a:p>
            <a:r>
              <a:t>La lógica difusa permite trabajar con información imprecisa.</a:t>
            </a:r>
          </a:p>
          <a:p>
            <a:endParaRPr/>
          </a:p>
          <a:p>
            <a:r>
              <a:t>Características:</a:t>
            </a:r>
          </a:p>
          <a:p>
            <a:r>
              <a:t>• Valores entre 0 y 1</a:t>
            </a:r>
          </a:p>
          <a:p>
            <a:r>
              <a:t>• Uso de reglas SI – ENTONCES</a:t>
            </a:r>
          </a:p>
          <a:p>
            <a:r>
              <a:t>• Simula razonamiento humano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4.4.2 Aplicaciones Lógica Difusa</a:t>
            </a:r>
          </a:p>
        </p:txBody>
      </p:sp>
      <p:sp>
        <p:nvSpPr>
          <p:cNvPr id="3" name="Content Placeholder 2"/>
          <p:cNvSpPr>
            <a:spLocks noGrp="1"/>
          </p:cNvSpPr>
          <p:nvPr>
            <p:ph idx="1"/>
          </p:nvPr>
        </p:nvSpPr>
        <p:spPr/>
        <p:txBody>
          <a:bodyPr/>
          <a:lstStyle/>
          <a:p>
            <a:r>
              <a:t>Se utiliza en:</a:t>
            </a:r>
          </a:p>
          <a:p>
            <a:r>
              <a:t>• Electrodomésticos inteligentes</a:t>
            </a:r>
          </a:p>
          <a:p>
            <a:r>
              <a:t>• Sistemas de control</a:t>
            </a:r>
          </a:p>
          <a:p>
            <a:r>
              <a:t>• Automóviles</a:t>
            </a:r>
          </a:p>
          <a:p>
            <a:r>
              <a:t>• Control de tráfico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4.5 Procesamiento de Lenguaje Natural</a:t>
            </a:r>
          </a:p>
        </p:txBody>
      </p:sp>
      <p:sp>
        <p:nvSpPr>
          <p:cNvPr id="3" name="Content Placeholder 2"/>
          <p:cNvSpPr>
            <a:spLocks noGrp="1"/>
          </p:cNvSpPr>
          <p:nvPr>
            <p:ph idx="1"/>
          </p:nvPr>
        </p:nvSpPr>
        <p:spPr/>
        <p:txBody>
          <a:bodyPr>
            <a:normAutofit lnSpcReduction="10000"/>
          </a:bodyPr>
          <a:lstStyle/>
          <a:p>
            <a:r>
              <a:t>Permite que las computadoras comprendan el lenguaje humano.</a:t>
            </a:r>
          </a:p>
          <a:p>
            <a:endParaRPr/>
          </a:p>
          <a:p>
            <a:r>
              <a:t>Combina:</a:t>
            </a:r>
          </a:p>
          <a:p>
            <a:r>
              <a:t>• Lingüística computacional</a:t>
            </a:r>
          </a:p>
          <a:p>
            <a:r>
              <a:t>• Inteligencia Artificial</a:t>
            </a:r>
          </a:p>
          <a:p>
            <a:r>
              <a:t>• Aprendizaje automático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4.5.2 Aplicaciones PLN</a:t>
            </a:r>
          </a:p>
        </p:txBody>
      </p:sp>
      <p:sp>
        <p:nvSpPr>
          <p:cNvPr id="3" name="Content Placeholder 2"/>
          <p:cNvSpPr>
            <a:spLocks noGrp="1"/>
          </p:cNvSpPr>
          <p:nvPr>
            <p:ph idx="1"/>
          </p:nvPr>
        </p:nvSpPr>
        <p:spPr/>
        <p:txBody>
          <a:bodyPr/>
          <a:lstStyle/>
          <a:p>
            <a:r>
              <a:t>Aplicaciones principales:</a:t>
            </a:r>
          </a:p>
          <a:p>
            <a:r>
              <a:t>• Chatbots</a:t>
            </a:r>
          </a:p>
          <a:p>
            <a:r>
              <a:t>• Traducción automática</a:t>
            </a:r>
          </a:p>
          <a:p>
            <a:r>
              <a:t>• Asistentes virtuales</a:t>
            </a:r>
          </a:p>
          <a:p>
            <a:r>
              <a:t>• Reconocimiento de voz</a:t>
            </a:r>
          </a:p>
          <a:p>
            <a:r>
              <a:t>• Motores de búsqueda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4.6 Sistemas Expertos</a:t>
            </a:r>
          </a:p>
        </p:txBody>
      </p:sp>
      <p:sp>
        <p:nvSpPr>
          <p:cNvPr id="3" name="Content Placeholder 2"/>
          <p:cNvSpPr>
            <a:spLocks noGrp="1"/>
          </p:cNvSpPr>
          <p:nvPr>
            <p:ph idx="1"/>
          </p:nvPr>
        </p:nvSpPr>
        <p:spPr/>
        <p:txBody>
          <a:bodyPr>
            <a:normAutofit lnSpcReduction="10000"/>
          </a:bodyPr>
          <a:lstStyle/>
          <a:p>
            <a:r>
              <a:t>Los sistemas expertos imitan el conocimiento de un especialista humano.</a:t>
            </a:r>
          </a:p>
          <a:p>
            <a:endParaRPr/>
          </a:p>
          <a:p>
            <a:r>
              <a:t>Componentes:</a:t>
            </a:r>
          </a:p>
          <a:p>
            <a:r>
              <a:t>• Base de conocimiento</a:t>
            </a:r>
          </a:p>
          <a:p>
            <a:r>
              <a:t>• Motor de inferencia</a:t>
            </a:r>
          </a:p>
          <a:p>
            <a:r>
              <a:t>• Interfaz de usuario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4.6.2 Clasificación SE</a:t>
            </a:r>
          </a:p>
        </p:txBody>
      </p:sp>
      <p:sp>
        <p:nvSpPr>
          <p:cNvPr id="3" name="Content Placeholder 2"/>
          <p:cNvSpPr>
            <a:spLocks noGrp="1"/>
          </p:cNvSpPr>
          <p:nvPr>
            <p:ph idx="1"/>
          </p:nvPr>
        </p:nvSpPr>
        <p:spPr/>
        <p:txBody>
          <a:bodyPr/>
          <a:lstStyle/>
          <a:p>
            <a:r>
              <a:t>Tipos:</a:t>
            </a:r>
          </a:p>
          <a:p>
            <a:r>
              <a:t>• Sistemas basados en reglas</a:t>
            </a:r>
          </a:p>
          <a:p>
            <a:r>
              <a:t>• Basados en conocimiento</a:t>
            </a:r>
          </a:p>
          <a:p>
            <a:r>
              <a:t>• Basados en casos</a:t>
            </a:r>
          </a:p>
          <a:p>
            <a:r>
              <a:t>• Sistemas híbridos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4.6.3 Aplicaciones SE</a:t>
            </a:r>
          </a:p>
        </p:txBody>
      </p:sp>
      <p:sp>
        <p:nvSpPr>
          <p:cNvPr id="3" name="Content Placeholder 2"/>
          <p:cNvSpPr>
            <a:spLocks noGrp="1"/>
          </p:cNvSpPr>
          <p:nvPr>
            <p:ph idx="1"/>
          </p:nvPr>
        </p:nvSpPr>
        <p:spPr/>
        <p:txBody>
          <a:bodyPr/>
          <a:lstStyle/>
          <a:p>
            <a:r>
              <a:t>Aplicaciones:</a:t>
            </a:r>
          </a:p>
          <a:p>
            <a:r>
              <a:t>• Diagnóstico médico</a:t>
            </a:r>
          </a:p>
          <a:p>
            <a:r>
              <a:t>• Sistemas financieros</a:t>
            </a:r>
          </a:p>
          <a:p>
            <a:r>
              <a:t>• Soporte técnico</a:t>
            </a:r>
          </a:p>
          <a:p>
            <a:r>
              <a:t>• Diagnóstico industrial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Conclusión</a:t>
            </a:r>
          </a:p>
        </p:txBody>
      </p:sp>
      <p:sp>
        <p:nvSpPr>
          <p:cNvPr id="3" name="Content Placeholder 2"/>
          <p:cNvSpPr>
            <a:spLocks noGrp="1"/>
          </p:cNvSpPr>
          <p:nvPr>
            <p:ph idx="1"/>
          </p:nvPr>
        </p:nvSpPr>
        <p:spPr/>
        <p:txBody>
          <a:bodyPr>
            <a:normAutofit/>
          </a:bodyPr>
          <a:lstStyle/>
          <a:p>
            <a:pPr algn="just"/>
            <a:r>
              <a:rPr dirty="0"/>
              <a:t>Las </a:t>
            </a:r>
            <a:r>
              <a:rPr dirty="0" err="1"/>
              <a:t>técnicas</a:t>
            </a:r>
            <a:r>
              <a:rPr dirty="0"/>
              <a:t> de </a:t>
            </a:r>
            <a:r>
              <a:rPr dirty="0" err="1"/>
              <a:t>Inteligencia</a:t>
            </a:r>
            <a:r>
              <a:rPr dirty="0"/>
              <a:t> Artificial </a:t>
            </a:r>
            <a:r>
              <a:rPr dirty="0" err="1"/>
              <a:t>están</a:t>
            </a:r>
            <a:r>
              <a:rPr dirty="0"/>
              <a:t> </a:t>
            </a:r>
            <a:r>
              <a:rPr dirty="0" err="1"/>
              <a:t>transformando</a:t>
            </a:r>
            <a:r>
              <a:rPr dirty="0"/>
              <a:t> </a:t>
            </a:r>
            <a:r>
              <a:rPr dirty="0" err="1"/>
              <a:t>diferentes</a:t>
            </a:r>
            <a:r>
              <a:rPr dirty="0"/>
              <a:t> </a:t>
            </a:r>
            <a:r>
              <a:rPr dirty="0" err="1"/>
              <a:t>áreas</a:t>
            </a:r>
            <a:r>
              <a:rPr dirty="0"/>
              <a:t> de la </a:t>
            </a:r>
            <a:r>
              <a:rPr dirty="0" err="1"/>
              <a:t>sociedad</a:t>
            </a:r>
            <a:r>
              <a:rPr dirty="0"/>
              <a:t>.</a:t>
            </a:r>
            <a:r>
              <a:rPr lang="es-MX" dirty="0"/>
              <a:t> </a:t>
            </a:r>
            <a:r>
              <a:rPr dirty="0" err="1"/>
              <a:t>Tecnologías</a:t>
            </a:r>
            <a:r>
              <a:rPr dirty="0"/>
              <a:t> </a:t>
            </a:r>
            <a:r>
              <a:rPr dirty="0" err="1"/>
              <a:t>como</a:t>
            </a:r>
            <a:r>
              <a:rPr dirty="0"/>
              <a:t> la </a:t>
            </a:r>
            <a:r>
              <a:rPr dirty="0" err="1"/>
              <a:t>robótica</a:t>
            </a:r>
            <a:r>
              <a:rPr dirty="0"/>
              <a:t>, redes </a:t>
            </a:r>
            <a:r>
              <a:rPr dirty="0" err="1"/>
              <a:t>neuronales</a:t>
            </a:r>
            <a:r>
              <a:rPr dirty="0"/>
              <a:t>, </a:t>
            </a:r>
            <a:r>
              <a:rPr dirty="0" err="1"/>
              <a:t>visión</a:t>
            </a:r>
            <a:r>
              <a:rPr dirty="0"/>
              <a:t> artificial y </a:t>
            </a:r>
            <a:r>
              <a:rPr dirty="0" err="1"/>
              <a:t>procesamiento</a:t>
            </a:r>
            <a:r>
              <a:rPr dirty="0"/>
              <a:t> de </a:t>
            </a:r>
            <a:r>
              <a:rPr dirty="0" err="1"/>
              <a:t>lenguaje</a:t>
            </a:r>
            <a:r>
              <a:rPr dirty="0"/>
              <a:t> natural </a:t>
            </a:r>
            <a:r>
              <a:rPr dirty="0" err="1"/>
              <a:t>permiten</a:t>
            </a:r>
            <a:r>
              <a:rPr dirty="0"/>
              <a:t> </a:t>
            </a:r>
            <a:r>
              <a:rPr dirty="0" err="1"/>
              <a:t>desarrollar</a:t>
            </a:r>
            <a:r>
              <a:rPr dirty="0"/>
              <a:t> </a:t>
            </a:r>
            <a:r>
              <a:rPr dirty="0" err="1"/>
              <a:t>sistemas</a:t>
            </a:r>
            <a:r>
              <a:rPr dirty="0"/>
              <a:t> </a:t>
            </a:r>
            <a:r>
              <a:rPr dirty="0" err="1"/>
              <a:t>inteligentes</a:t>
            </a:r>
            <a:r>
              <a:rPr dirty="0"/>
              <a:t> </a:t>
            </a:r>
            <a:r>
              <a:rPr dirty="0" err="1"/>
              <a:t>capaces</a:t>
            </a:r>
            <a:r>
              <a:rPr dirty="0"/>
              <a:t> de </a:t>
            </a:r>
            <a:r>
              <a:rPr dirty="0" err="1"/>
              <a:t>aprender</a:t>
            </a:r>
            <a:r>
              <a:rPr dirty="0"/>
              <a:t>, </a:t>
            </a:r>
            <a:r>
              <a:rPr dirty="0" err="1"/>
              <a:t>analizar</a:t>
            </a:r>
            <a:r>
              <a:rPr dirty="0"/>
              <a:t> y </a:t>
            </a:r>
            <a:r>
              <a:rPr dirty="0" err="1"/>
              <a:t>tomar</a:t>
            </a:r>
            <a:r>
              <a:rPr dirty="0"/>
              <a:t> </a:t>
            </a:r>
            <a:r>
              <a:rPr dirty="0" err="1"/>
              <a:t>decisiones</a:t>
            </a:r>
            <a:r>
              <a:rPr dirty="0"/>
              <a:t>.</a:t>
            </a:r>
            <a:r>
              <a:rPr lang="es-MX" dirty="0"/>
              <a:t> </a:t>
            </a:r>
            <a:r>
              <a:rPr dirty="0"/>
              <a:t>La IA </a:t>
            </a:r>
            <a:r>
              <a:rPr dirty="0" err="1"/>
              <a:t>seguirá</a:t>
            </a:r>
            <a:r>
              <a:rPr dirty="0"/>
              <a:t> </a:t>
            </a:r>
            <a:r>
              <a:rPr dirty="0" err="1"/>
              <a:t>impulsando</a:t>
            </a:r>
            <a:r>
              <a:rPr dirty="0"/>
              <a:t> </a:t>
            </a:r>
            <a:r>
              <a:rPr dirty="0" err="1"/>
              <a:t>el</a:t>
            </a:r>
            <a:r>
              <a:rPr dirty="0"/>
              <a:t> </a:t>
            </a:r>
            <a:r>
              <a:rPr dirty="0" err="1"/>
              <a:t>avance</a:t>
            </a:r>
            <a:r>
              <a:rPr dirty="0"/>
              <a:t> </a:t>
            </a:r>
            <a:r>
              <a:rPr dirty="0" err="1"/>
              <a:t>tecnológico</a:t>
            </a:r>
            <a:r>
              <a:rPr dirty="0"/>
              <a:t> </a:t>
            </a:r>
            <a:r>
              <a:rPr dirty="0" err="1"/>
              <a:t>en</a:t>
            </a:r>
            <a:r>
              <a:rPr dirty="0"/>
              <a:t> </a:t>
            </a:r>
            <a:r>
              <a:rPr dirty="0" err="1"/>
              <a:t>el</a:t>
            </a:r>
            <a:r>
              <a:rPr dirty="0"/>
              <a:t> </a:t>
            </a:r>
            <a:r>
              <a:rPr dirty="0" err="1"/>
              <a:t>futuro</a:t>
            </a:r>
            <a:r>
              <a:rPr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AB7EBE-3731-D0FE-2C05-3627AC9227AC}"/>
              </a:ext>
            </a:extLst>
          </p:cNvPr>
          <p:cNvSpPr>
            <a:spLocks noGrp="1"/>
          </p:cNvSpPr>
          <p:nvPr>
            <p:ph type="title"/>
          </p:nvPr>
        </p:nvSpPr>
        <p:spPr/>
        <p:txBody>
          <a:bodyPr/>
          <a:lstStyle/>
          <a:p>
            <a:r>
              <a:rPr lang="es-MX" dirty="0"/>
              <a:t>METODO DONDE SE INVESTIGO LA INFORMACIÓN</a:t>
            </a:r>
          </a:p>
        </p:txBody>
      </p:sp>
      <p:sp>
        <p:nvSpPr>
          <p:cNvPr id="3" name="Marcador de contenido 2">
            <a:extLst>
              <a:ext uri="{FF2B5EF4-FFF2-40B4-BE49-F238E27FC236}">
                <a16:creationId xmlns:a16="http://schemas.microsoft.com/office/drawing/2014/main" id="{6104CB0F-DF91-F452-C50A-B1CC48A47B66}"/>
              </a:ext>
            </a:extLst>
          </p:cNvPr>
          <p:cNvSpPr>
            <a:spLocks noGrp="1"/>
          </p:cNvSpPr>
          <p:nvPr>
            <p:ph idx="1"/>
          </p:nvPr>
        </p:nvSpPr>
        <p:spPr>
          <a:xfrm>
            <a:off x="856059" y="2030913"/>
            <a:ext cx="7429499" cy="3541714"/>
          </a:xfrm>
        </p:spPr>
        <p:txBody>
          <a:bodyPr/>
          <a:lstStyle/>
          <a:p>
            <a:pPr marL="0" indent="0">
              <a:buNone/>
            </a:pPr>
            <a:r>
              <a:rPr lang="es-MX" dirty="0"/>
              <a:t>Para obtener la información de la diapositiva </a:t>
            </a:r>
            <a:r>
              <a:rPr lang="es-MX" dirty="0" err="1"/>
              <a:t>utilize</a:t>
            </a:r>
            <a:r>
              <a:rPr lang="es-MX" dirty="0"/>
              <a:t> lo que es Gemini una IA de Google en donde le </a:t>
            </a:r>
            <a:r>
              <a:rPr lang="es-MX" dirty="0" err="1"/>
              <a:t>pedi</a:t>
            </a:r>
            <a:r>
              <a:rPr lang="es-MX" dirty="0"/>
              <a:t> que me generara la diapositiva con lo que en el buscador le puse lo siguiente: en el lado derecho se muestra el espacio para descargar la diapositiva la generada.</a:t>
            </a:r>
          </a:p>
          <a:p>
            <a:pPr marL="0" indent="0">
              <a:buNone/>
            </a:pPr>
            <a:endParaRPr lang="es-MX" dirty="0"/>
          </a:p>
        </p:txBody>
      </p:sp>
      <p:pic>
        <p:nvPicPr>
          <p:cNvPr id="5" name="Imagen 4">
            <a:extLst>
              <a:ext uri="{FF2B5EF4-FFF2-40B4-BE49-F238E27FC236}">
                <a16:creationId xmlns:a16="http://schemas.microsoft.com/office/drawing/2014/main" id="{647E905F-A8B8-A051-F944-9BD75650A5CB}"/>
              </a:ext>
            </a:extLst>
          </p:cNvPr>
          <p:cNvPicPr>
            <a:picLocks noChangeAspect="1"/>
          </p:cNvPicPr>
          <p:nvPr/>
        </p:nvPicPr>
        <p:blipFill>
          <a:blip r:embed="rId2"/>
          <a:stretch>
            <a:fillRect/>
          </a:stretch>
        </p:blipFill>
        <p:spPr>
          <a:xfrm>
            <a:off x="2078876" y="4318781"/>
            <a:ext cx="4772090" cy="2200891"/>
          </a:xfrm>
          <a:prstGeom prst="rect">
            <a:avLst/>
          </a:prstGeom>
        </p:spPr>
      </p:pic>
    </p:spTree>
    <p:extLst>
      <p:ext uri="{BB962C8B-B14F-4D97-AF65-F5344CB8AC3E}">
        <p14:creationId xmlns:p14="http://schemas.microsoft.com/office/powerpoint/2010/main" val="14350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E733FB-03D7-696B-3339-58582BB6F836}"/>
              </a:ext>
            </a:extLst>
          </p:cNvPr>
          <p:cNvSpPr>
            <a:spLocks noGrp="1"/>
          </p:cNvSpPr>
          <p:nvPr>
            <p:ph type="title"/>
          </p:nvPr>
        </p:nvSpPr>
        <p:spPr/>
        <p:txBody>
          <a:bodyPr/>
          <a:lstStyle/>
          <a:p>
            <a:r>
              <a:rPr lang="es-MX" dirty="0"/>
              <a:t>Semejanzas entre diapositivas de compañeros de clases.</a:t>
            </a:r>
          </a:p>
        </p:txBody>
      </p:sp>
      <p:sp>
        <p:nvSpPr>
          <p:cNvPr id="3" name="Marcador de contenido 2">
            <a:extLst>
              <a:ext uri="{FF2B5EF4-FFF2-40B4-BE49-F238E27FC236}">
                <a16:creationId xmlns:a16="http://schemas.microsoft.com/office/drawing/2014/main" id="{2E3B4E73-F3FD-4E75-AA05-D7B4506931FD}"/>
              </a:ext>
            </a:extLst>
          </p:cNvPr>
          <p:cNvSpPr>
            <a:spLocks noGrp="1"/>
          </p:cNvSpPr>
          <p:nvPr>
            <p:ph idx="1"/>
          </p:nvPr>
        </p:nvSpPr>
        <p:spPr/>
        <p:txBody>
          <a:bodyPr>
            <a:normAutofit fontScale="92500" lnSpcReduction="10000"/>
          </a:bodyPr>
          <a:lstStyle/>
          <a:p>
            <a:pPr marL="0" indent="0">
              <a:buNone/>
            </a:pPr>
            <a:r>
              <a:rPr lang="es-MX" dirty="0"/>
              <a:t>En la exposición de mi compañera Sandi me di cuenta que se hace muy parecido a mi diapositiva en el lado de la robótica ya que ella hablo sobre que la robótica hoy en día es algo importante para la humanidad y que a avanzado demasiado mucho la IA dentro de la tecnología.</a:t>
            </a:r>
          </a:p>
          <a:p>
            <a:pPr marL="0" indent="0">
              <a:buNone/>
            </a:pPr>
            <a:r>
              <a:rPr lang="es-MX" dirty="0"/>
              <a:t>También en la diapositiva de mi compañera </a:t>
            </a:r>
            <a:r>
              <a:rPr lang="es-MX" dirty="0" err="1"/>
              <a:t>dixie</a:t>
            </a:r>
            <a:r>
              <a:rPr lang="es-MX" dirty="0"/>
              <a:t> en el mismo punto se me hacen parecidas ya que ambas diapositivas hablan o bueno tienen ese punto sobre lo que es la robótica y sus impacto que van generando día tras día.</a:t>
            </a:r>
          </a:p>
        </p:txBody>
      </p:sp>
    </p:spTree>
    <p:extLst>
      <p:ext uri="{BB962C8B-B14F-4D97-AF65-F5344CB8AC3E}">
        <p14:creationId xmlns:p14="http://schemas.microsoft.com/office/powerpoint/2010/main" val="3570568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DF79AF1-444D-814D-C4F6-C9F52B3B30A3}"/>
              </a:ext>
            </a:extLst>
          </p:cNvPr>
          <p:cNvSpPr>
            <a:spLocks noGrp="1"/>
          </p:cNvSpPr>
          <p:nvPr>
            <p:ph idx="1"/>
          </p:nvPr>
        </p:nvSpPr>
        <p:spPr>
          <a:xfrm>
            <a:off x="856060" y="323557"/>
            <a:ext cx="7429499" cy="6105378"/>
          </a:xfrm>
        </p:spPr>
        <p:txBody>
          <a:bodyPr>
            <a:normAutofit fontScale="92500"/>
          </a:bodyPr>
          <a:lstStyle/>
          <a:p>
            <a:pPr marL="0" indent="0">
              <a:buNone/>
            </a:pPr>
            <a:r>
              <a:rPr lang="es-MX" dirty="0"/>
              <a:t>Con la diapositiva de mi compañero </a:t>
            </a:r>
            <a:r>
              <a:rPr lang="es-MX" dirty="0" err="1"/>
              <a:t>eliaquin</a:t>
            </a:r>
            <a:r>
              <a:rPr lang="es-MX" dirty="0"/>
              <a:t> concuerdo en el lado de las redes neuronales ya que como pude observar en su diapositiva tanto como la mía me di cuenta que son igualitas en ese lado ya que tenemos ambas diapositivas lo que es sobre como se clasifican y por como son los conceptos de las redes neuronales, a su vez la diapositiva de mi compañera </a:t>
            </a:r>
            <a:r>
              <a:rPr lang="es-MX" dirty="0" err="1"/>
              <a:t>yoselin</a:t>
            </a:r>
            <a:r>
              <a:rPr lang="es-MX" dirty="0"/>
              <a:t> tiene un parecido en este lado de las redes neuronales ya que para tener en cuenta a como aprender a analizar los datos y a aprender los patrones entre si eso es donde se </a:t>
            </a:r>
            <a:r>
              <a:rPr lang="es-MX" dirty="0" err="1"/>
              <a:t>iso</a:t>
            </a:r>
            <a:r>
              <a:rPr lang="es-MX" dirty="0"/>
              <a:t> semejante entre mis diapositivas. En su diapositiva de </a:t>
            </a:r>
            <a:r>
              <a:rPr lang="es-MX" dirty="0" err="1"/>
              <a:t>madeni</a:t>
            </a:r>
            <a:r>
              <a:rPr lang="es-MX" dirty="0"/>
              <a:t> habla sobre lo que es visión artificial en donde tenemos en cuenta que permite a las computadoras a pasar imágenes y videos habla también sobre en donde se aplica y eso es igual a mis diapositivas en ese lado concuerdo con mi compañera </a:t>
            </a:r>
            <a:r>
              <a:rPr lang="es-MX" dirty="0" err="1"/>
              <a:t>madeni</a:t>
            </a:r>
            <a:r>
              <a:rPr lang="es-MX" dirty="0"/>
              <a:t>.</a:t>
            </a:r>
          </a:p>
        </p:txBody>
      </p:sp>
    </p:spTree>
    <p:extLst>
      <p:ext uri="{BB962C8B-B14F-4D97-AF65-F5344CB8AC3E}">
        <p14:creationId xmlns:p14="http://schemas.microsoft.com/office/powerpoint/2010/main" val="3345256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AF8CC98-EDFA-D1F8-A2CF-A62ED8ECECEF}"/>
              </a:ext>
            </a:extLst>
          </p:cNvPr>
          <p:cNvSpPr>
            <a:spLocks noGrp="1"/>
          </p:cNvSpPr>
          <p:nvPr>
            <p:ph idx="1"/>
          </p:nvPr>
        </p:nvSpPr>
        <p:spPr>
          <a:xfrm>
            <a:off x="856060" y="309489"/>
            <a:ext cx="7429499" cy="5481712"/>
          </a:xfrm>
        </p:spPr>
        <p:txBody>
          <a:bodyPr/>
          <a:lstStyle/>
          <a:p>
            <a:pPr marL="0" indent="0">
              <a:buNone/>
            </a:pPr>
            <a:r>
              <a:rPr lang="es-MX" dirty="0"/>
              <a:t>En la diapositiva de mi compañero Alan me di cuenta que se nos hace parecidos en el tema de procesamiento de lenguaje natural ya que tanto como su diapositiva como la mía van directo a lo que transmite este tema lo que es que permite a las maquinas saber el lenguaje humano, también en este punto se hace parecido a la diapositiva de mi compañero </a:t>
            </a:r>
            <a:r>
              <a:rPr lang="es-MX" dirty="0" err="1"/>
              <a:t>aldrich</a:t>
            </a:r>
            <a:r>
              <a:rPr lang="es-MX" dirty="0"/>
              <a:t> ya que ambas se tratan del mismo punto y sobre todo que llegan a darse a entender de que habla el tema por lo tanto es importante tener en cuenta estos temas de la unidad ya que nos permite interactuar como esta conformada la inteligencia artificial (IA).</a:t>
            </a:r>
          </a:p>
        </p:txBody>
      </p:sp>
    </p:spTree>
    <p:extLst>
      <p:ext uri="{BB962C8B-B14F-4D97-AF65-F5344CB8AC3E}">
        <p14:creationId xmlns:p14="http://schemas.microsoft.com/office/powerpoint/2010/main" val="755499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Circuito</Template>
  <TotalTime>312</TotalTime>
  <Words>1286</Words>
  <Application>Microsoft Office PowerPoint</Application>
  <PresentationFormat>Presentación en pantalla (4:3)</PresentationFormat>
  <Paragraphs>146</Paragraphs>
  <Slides>26</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26</vt:i4>
      </vt:variant>
    </vt:vector>
  </HeadingPairs>
  <TitlesOfParts>
    <vt:vector size="29" baseType="lpstr">
      <vt:lpstr>Arial</vt:lpstr>
      <vt:lpstr>Tw Cen MT</vt:lpstr>
      <vt:lpstr>Circuito</vt:lpstr>
      <vt:lpstr>Presentación de PowerPoint</vt:lpstr>
      <vt:lpstr>Aplicaciones con Técnicas de Inteligencia Artificial</vt:lpstr>
      <vt:lpstr>Introducción</vt:lpstr>
      <vt:lpstr>Justificación</vt:lpstr>
      <vt:lpstr>4.1 Robótica</vt:lpstr>
      <vt:lpstr>4.1.1 Conceptos básicos de Robótica</vt:lpstr>
      <vt:lpstr>4.1.2 Clasificación de Robots</vt:lpstr>
      <vt:lpstr>4.1.3 Aplicaciones de la Robótica</vt:lpstr>
      <vt:lpstr>4.2 Redes Neuronales</vt:lpstr>
      <vt:lpstr>4.2.1 Conceptos básicos RN</vt:lpstr>
      <vt:lpstr>4.2.2 Clasificación de RN</vt:lpstr>
      <vt:lpstr>4.2.3 Aplicaciones RN</vt:lpstr>
      <vt:lpstr>4.3 Visión Artificial</vt:lpstr>
      <vt:lpstr>4.3.2 Aplicaciones Visión Artificial</vt:lpstr>
      <vt:lpstr>4.4 Lógica Difusa</vt:lpstr>
      <vt:lpstr>4.4.2 Aplicaciones Lógica Difusa</vt:lpstr>
      <vt:lpstr>4.5 Procesamiento de Lenguaje Natural</vt:lpstr>
      <vt:lpstr>4.5.2 Aplicaciones PLN</vt:lpstr>
      <vt:lpstr>4.6 Sistemas Expertos</vt:lpstr>
      <vt:lpstr>4.6.2 Clasificación SE</vt:lpstr>
      <vt:lpstr>4.6.3 Aplicaciones SE</vt:lpstr>
      <vt:lpstr>Conclusión</vt:lpstr>
      <vt:lpstr>METODO DONDE SE INVESTIGO LA INFORMACIÓN</vt:lpstr>
      <vt:lpstr>Semejanzas entre diapositivas de compañeros de clases.</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keywords/>
  <dc:description>generated using python-pptx</dc:description>
  <cp:lastModifiedBy>LENOVO</cp:lastModifiedBy>
  <cp:revision>4</cp:revision>
  <dcterms:created xsi:type="dcterms:W3CDTF">2013-01-27T09:14:16Z</dcterms:created>
  <dcterms:modified xsi:type="dcterms:W3CDTF">2026-03-26T01:26:41Z</dcterms:modified>
  <cp:category/>
</cp:coreProperties>
</file>